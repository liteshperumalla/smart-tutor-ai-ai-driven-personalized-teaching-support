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5pPr>
    <a:lvl6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6pPr>
    <a:lvl7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7pPr>
    <a:lvl8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8pPr>
    <a:lvl9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0DEEF"/>
          </a:solidFill>
        </a:fill>
      </a:tcStyle>
    </a:wholeTbl>
    <a:band2H>
      <a:tcTxStyle b="def" i="def"/>
      <a:tcStyle>
        <a:tcBdr/>
        <a:fill>
          <a:solidFill>
            <a:srgbClr val="E9EFF7"/>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EE7D0"/>
          </a:solidFill>
        </a:fill>
      </a:tcStyle>
    </a:wholeTbl>
    <a:band2H>
      <a:tcTxStyle b="def" i="def"/>
      <a:tcStyle>
        <a:tcBdr/>
        <a:fill>
          <a:solidFill>
            <a:srgbClr val="EFF3E9"/>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FCDCCE"/>
          </a:solidFill>
        </a:fill>
      </a:tcStyle>
    </a:wholeTbl>
    <a:band2H>
      <a:tcTxStyle b="def" i="def"/>
      <a:tcStyle>
        <a:tcBdr/>
        <a:fill>
          <a:solidFill>
            <a:srgbClr val="FDEEE8"/>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
          <a:latin typeface="Calibri"/>
          <a:ea typeface="Calibri"/>
          <a:cs typeface="Calibri"/>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
          <a:latin typeface="Calibri"/>
          <a:ea typeface="Calibri"/>
          <a:cs typeface="Calibri"/>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
          <a:latin typeface="Calibri"/>
          <a:ea typeface="Calibri"/>
          <a:cs typeface="Calibri"/>
        </a:font>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
          <a:latin typeface="Calibri"/>
          <a:ea typeface="Calibri"/>
          <a:cs typeface="Calibri"/>
        </a:font>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
          <a:latin typeface="Calibri"/>
          <a:ea typeface="Calibri"/>
          <a:cs typeface="Calibri"/>
        </a:font>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
          <a:latin typeface="Calibri"/>
          <a:ea typeface="Calibri"/>
          <a:cs typeface="Calibri"/>
        </a:font>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
          <a:latin typeface="Calibri"/>
          <a:ea typeface="Calibri"/>
          <a:cs typeface="Calibri"/>
        </a:font>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spcBef>
        <a:spcPts val="400"/>
      </a:spcBef>
      <a:defRPr sz="1200">
        <a:latin typeface="+mn-lt"/>
        <a:ea typeface="+mn-ea"/>
        <a:cs typeface="+mn-cs"/>
        <a:sym typeface="DengXian"/>
      </a:defRPr>
    </a:lvl1pPr>
    <a:lvl2pPr indent="228600" latinLnBrk="0">
      <a:spcBef>
        <a:spcPts val="400"/>
      </a:spcBef>
      <a:defRPr sz="1200">
        <a:latin typeface="+mn-lt"/>
        <a:ea typeface="+mn-ea"/>
        <a:cs typeface="+mn-cs"/>
        <a:sym typeface="DengXian"/>
      </a:defRPr>
    </a:lvl2pPr>
    <a:lvl3pPr indent="457200" latinLnBrk="0">
      <a:spcBef>
        <a:spcPts val="400"/>
      </a:spcBef>
      <a:defRPr sz="1200">
        <a:latin typeface="+mn-lt"/>
        <a:ea typeface="+mn-ea"/>
        <a:cs typeface="+mn-cs"/>
        <a:sym typeface="DengXian"/>
      </a:defRPr>
    </a:lvl3pPr>
    <a:lvl4pPr indent="685800" latinLnBrk="0">
      <a:spcBef>
        <a:spcPts val="400"/>
      </a:spcBef>
      <a:defRPr sz="1200">
        <a:latin typeface="+mn-lt"/>
        <a:ea typeface="+mn-ea"/>
        <a:cs typeface="+mn-cs"/>
        <a:sym typeface="DengXian"/>
      </a:defRPr>
    </a:lvl4pPr>
    <a:lvl5pPr indent="914400" latinLnBrk="0">
      <a:spcBef>
        <a:spcPts val="400"/>
      </a:spcBef>
      <a:defRPr sz="1200">
        <a:latin typeface="+mn-lt"/>
        <a:ea typeface="+mn-ea"/>
        <a:cs typeface="+mn-cs"/>
        <a:sym typeface="DengXian"/>
      </a:defRPr>
    </a:lvl5pPr>
    <a:lvl6pPr indent="1143000" latinLnBrk="0">
      <a:spcBef>
        <a:spcPts val="400"/>
      </a:spcBef>
      <a:defRPr sz="1200">
        <a:latin typeface="+mn-lt"/>
        <a:ea typeface="+mn-ea"/>
        <a:cs typeface="+mn-cs"/>
        <a:sym typeface="DengXian"/>
      </a:defRPr>
    </a:lvl6pPr>
    <a:lvl7pPr indent="1371600" latinLnBrk="0">
      <a:spcBef>
        <a:spcPts val="400"/>
      </a:spcBef>
      <a:defRPr sz="1200">
        <a:latin typeface="+mn-lt"/>
        <a:ea typeface="+mn-ea"/>
        <a:cs typeface="+mn-cs"/>
        <a:sym typeface="DengXian"/>
      </a:defRPr>
    </a:lvl7pPr>
    <a:lvl8pPr indent="1600200" latinLnBrk="0">
      <a:spcBef>
        <a:spcPts val="400"/>
      </a:spcBef>
      <a:defRPr sz="1200">
        <a:latin typeface="+mn-lt"/>
        <a:ea typeface="+mn-ea"/>
        <a:cs typeface="+mn-cs"/>
        <a:sym typeface="DengXian"/>
      </a:defRPr>
    </a:lvl8pPr>
    <a:lvl9pPr indent="1828800" latinLnBrk="0">
      <a:spcBef>
        <a:spcPts val="400"/>
      </a:spcBef>
      <a:defRPr sz="1200">
        <a:latin typeface="+mn-lt"/>
        <a:ea typeface="+mn-ea"/>
        <a:cs typeface="+mn-cs"/>
        <a:sym typeface="DengXian"/>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41.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46.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7.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49.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5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6" name="Shape 136"/>
          <p:cNvSpPr/>
          <p:nvPr>
            <p:ph type="sldImg"/>
          </p:nvPr>
        </p:nvSpPr>
        <p:spPr>
          <a:prstGeom prst="rect">
            <a:avLst/>
          </a:prstGeom>
        </p:spPr>
        <p:txBody>
          <a:bodyPr/>
          <a:lstStyle/>
          <a:p>
            <a:pPr/>
          </a:p>
        </p:txBody>
      </p:sp>
      <p:sp>
        <p:nvSpPr>
          <p:cNvPr id="137" name="Shape 137"/>
          <p:cNvSpPr/>
          <p:nvPr>
            <p:ph type="body" sz="quarter" idx="1"/>
          </p:nvPr>
        </p:nvSpPr>
        <p:spPr>
          <a:prstGeom prst="rect">
            <a:avLst/>
          </a:prstGeom>
        </p:spPr>
        <p:txBody>
          <a:bodyPr/>
          <a:lstStyle/>
          <a:p>
            <a:pPr>
              <a:defRPr>
                <a:solidFill>
                  <a:srgbClr val="333333"/>
                </a:solidFill>
                <a:latin typeface="Proxima Nova"/>
                <a:ea typeface="Proxima Nova"/>
                <a:cs typeface="Proxima Nova"/>
                <a:sym typeface="Proxima Nova"/>
              </a:defRPr>
            </a:pPr>
            <a:r>
              <a:t>- </a:t>
            </a:r>
            <a:r>
              <a:rPr b="1">
                <a:solidFill>
                  <a:srgbClr val="FFFFFF"/>
                </a:solidFill>
                <a:latin typeface="Arial"/>
                <a:ea typeface="Arial"/>
                <a:cs typeface="Arial"/>
                <a:sym typeface="Arial"/>
              </a:rPr>
              <a:t>AI researchers and practitioners overwhelmingly concentrate on models/algorithms, while undervalue </a:t>
            </a:r>
          </a:p>
          <a:p>
            <a:pPr>
              <a:defRPr>
                <a:solidFill>
                  <a:srgbClr val="333333"/>
                </a:solidFill>
                <a:latin typeface="Proxima Nova"/>
                <a:ea typeface="Proxima Nova"/>
                <a:cs typeface="Proxima Nova"/>
                <a:sym typeface="Proxima Nova"/>
              </a:defRPr>
            </a:pPr>
            <a:r>
              <a:t>Since the algorithm was too broad and the big data often over fitted the case (for instance, mistakenly identifying seasonal search terms like “high school basketball” as flu predictions) Google Flu Trends missed 2013's peak flu season by 140 percent. Subsequent revisions encountered similar problems. </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5" name="Shape 455"/>
          <p:cNvSpPr/>
          <p:nvPr>
            <p:ph type="sldImg"/>
          </p:nvPr>
        </p:nvSpPr>
        <p:spPr>
          <a:prstGeom prst="rect">
            <a:avLst/>
          </a:prstGeom>
        </p:spPr>
        <p:txBody>
          <a:bodyPr/>
          <a:lstStyle/>
          <a:p>
            <a:pPr/>
          </a:p>
        </p:txBody>
      </p:sp>
      <p:sp>
        <p:nvSpPr>
          <p:cNvPr id="456" name="Shape 456"/>
          <p:cNvSpPr/>
          <p:nvPr>
            <p:ph type="body" sz="quarter" idx="1"/>
          </p:nvPr>
        </p:nvSpPr>
        <p:spPr>
          <a:prstGeom prst="rect">
            <a:avLst/>
          </a:prstGeom>
        </p:spPr>
        <p:txBody>
          <a:bodyPr/>
          <a:lstStyle/>
          <a:p>
            <a:pPr/>
            <a:r>
              <a:t>Even sentence.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3" name="Shape 503"/>
          <p:cNvSpPr/>
          <p:nvPr>
            <p:ph type="sldImg"/>
          </p:nvPr>
        </p:nvSpPr>
        <p:spPr>
          <a:prstGeom prst="rect">
            <a:avLst/>
          </a:prstGeom>
        </p:spPr>
        <p:txBody>
          <a:bodyPr/>
          <a:lstStyle/>
          <a:p>
            <a:pPr/>
          </a:p>
        </p:txBody>
      </p:sp>
      <p:sp>
        <p:nvSpPr>
          <p:cNvPr id="504" name="Shape 504"/>
          <p:cNvSpPr/>
          <p:nvPr>
            <p:ph type="body" sz="quarter" idx="1"/>
          </p:nvPr>
        </p:nvSpPr>
        <p:spPr>
          <a:prstGeom prst="rect">
            <a:avLst/>
          </a:prstGeom>
        </p:spPr>
        <p:txBody>
          <a:bodyPr/>
          <a:lstStyle/>
          <a:p>
            <a:pPr marL="228600" indent="-228600">
              <a:buSzPct val="100000"/>
              <a:buAutoNum type="arabicPeriod" startAt="1"/>
            </a:pPr>
            <a:r>
              <a:t>https://www.analyticsvidhya.com/blog/2015/04/information-retrieval-system-explained/ </a:t>
            </a:r>
          </a:p>
          <a:p>
            <a:pPr marL="228600" indent="-228600">
              <a:buSzPct val="100000"/>
              <a:buAutoNum type="arabicPeriod" startAt="1"/>
            </a:pPr>
            <a:r>
              <a:t>https://www.analyticsvidhya.com/blog/2017/06/word-embeddings-count-word2veec/ </a:t>
            </a:r>
          </a:p>
          <a:p>
            <a:pPr marL="228600" indent="-228600">
              <a:buSzPct val="100000"/>
              <a:buAutoNum type="arabicPeriod" startAt="1"/>
            </a:pPr>
            <a:r>
              <a:t>https://monkeylearn.com/blog/what-is-tf-idf/#:~:text=TF%2DIDF%20is%20a%20statistical,across%20a%20set%20of%20documents.</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4" name="Shape 514"/>
          <p:cNvSpPr/>
          <p:nvPr>
            <p:ph type="sldImg"/>
          </p:nvPr>
        </p:nvSpPr>
        <p:spPr>
          <a:prstGeom prst="rect">
            <a:avLst/>
          </a:prstGeom>
        </p:spPr>
        <p:txBody>
          <a:bodyPr/>
          <a:lstStyle/>
          <a:p>
            <a:pPr/>
          </a:p>
        </p:txBody>
      </p:sp>
      <p:sp>
        <p:nvSpPr>
          <p:cNvPr id="515" name="Shape 515"/>
          <p:cNvSpPr/>
          <p:nvPr>
            <p:ph type="body" sz="quarter" idx="1"/>
          </p:nvPr>
        </p:nvSpPr>
        <p:spPr>
          <a:prstGeom prst="rect">
            <a:avLst/>
          </a:prstGeom>
        </p:spPr>
        <p:txBody>
          <a:bodyPr/>
          <a:lstStyle>
            <a:lvl1pPr>
              <a:defRPr b="1">
                <a:solidFill>
                  <a:srgbClr val="FFFFFF"/>
                </a:solidFill>
                <a:latin typeface="Arial"/>
                <a:ea typeface="Arial"/>
                <a:cs typeface="Arial"/>
                <a:sym typeface="Arial"/>
              </a:defRPr>
            </a:lvl1pPr>
          </a:lstStyle>
          <a:p>
            <a:pPr/>
            <a:r>
              <a:t>IDF = the total number of documents, divided by the number of documents that contain a word, and calculating the logarithm.</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5" name="Shape 535"/>
          <p:cNvSpPr/>
          <p:nvPr>
            <p:ph type="sldImg"/>
          </p:nvPr>
        </p:nvSpPr>
        <p:spPr>
          <a:prstGeom prst="rect">
            <a:avLst/>
          </a:prstGeom>
        </p:spPr>
        <p:txBody>
          <a:bodyPr/>
          <a:lstStyle/>
          <a:p>
            <a:pPr/>
          </a:p>
        </p:txBody>
      </p:sp>
      <p:sp>
        <p:nvSpPr>
          <p:cNvPr id="536" name="Shape 536"/>
          <p:cNvSpPr/>
          <p:nvPr>
            <p:ph type="body" sz="quarter" idx="1"/>
          </p:nvPr>
        </p:nvSpPr>
        <p:spPr>
          <a:prstGeom prst="rect">
            <a:avLst/>
          </a:prstGeom>
        </p:spPr>
        <p:txBody>
          <a:bodyPr/>
          <a:lstStyle>
            <a:lvl1pPr>
              <a:defRPr b="1">
                <a:solidFill>
                  <a:srgbClr val="FFFFFF"/>
                </a:solidFill>
                <a:latin typeface="Arial"/>
                <a:ea typeface="Arial"/>
                <a:cs typeface="Arial"/>
                <a:sym typeface="Arial"/>
              </a:defRPr>
            </a:lvl1pPr>
          </a:lstStyle>
          <a:p>
            <a:pPr/>
            <a:r>
              <a:t>We don’t have to calculate TF and IDF every time beforehand and then multiply it to obtain TF-IDF. Instead, sklearn has a separate function to directly obtain it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46" name="Shape 546"/>
          <p:cNvSpPr/>
          <p:nvPr>
            <p:ph type="sldImg"/>
          </p:nvPr>
        </p:nvSpPr>
        <p:spPr>
          <a:prstGeom prst="rect">
            <a:avLst/>
          </a:prstGeom>
        </p:spPr>
        <p:txBody>
          <a:bodyPr/>
          <a:lstStyle/>
          <a:p>
            <a:pPr/>
          </a:p>
        </p:txBody>
      </p:sp>
      <p:sp>
        <p:nvSpPr>
          <p:cNvPr id="547" name="Shape 547"/>
          <p:cNvSpPr/>
          <p:nvPr>
            <p:ph type="body" sz="quarter" idx="1"/>
          </p:nvPr>
        </p:nvSpPr>
        <p:spPr>
          <a:prstGeom prst="rect">
            <a:avLst/>
          </a:prstGeom>
        </p:spPr>
        <p:txBody>
          <a:bodyPr/>
          <a:lstStyle>
            <a:lvl1pPr>
              <a:defRPr b="1">
                <a:solidFill>
                  <a:srgbClr val="FFFFFF"/>
                </a:solidFill>
                <a:latin typeface="Arial"/>
                <a:ea typeface="Arial"/>
                <a:cs typeface="Arial"/>
                <a:sym typeface="Arial"/>
              </a:defRPr>
            </a:lvl1pPr>
          </a:lstStyle>
          <a:p>
            <a:pPr/>
            <a:r>
              <a:t>The intuition behind this is that two similar text fields will contain similar kinds of words and will therefore have a similar bag of words. Further, that from the text alone, we can learn something about the meaning of the document.</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E7E6E6"/>
        </a:solidFill>
      </p:bgPr>
    </p:bg>
    <p:spTree>
      <p:nvGrpSpPr>
        <p:cNvPr id="1" name=""/>
        <p:cNvGrpSpPr/>
        <p:nvPr/>
      </p:nvGrpSpPr>
      <p:grpSpPr>
        <a:xfrm>
          <a:off x="0" y="0"/>
          <a:ext cx="0" cy="0"/>
          <a:chOff x="0" y="0"/>
          <a:chExt cx="0" cy="0"/>
        </a:xfrm>
      </p:grpSpPr>
      <p:sp>
        <p:nvSpPr>
          <p:cNvPr id="2" name="Slide Number"/>
          <p:cNvSpPr txBox="1"/>
          <p:nvPr>
            <p:ph type="sldNum" sz="quarter" idx="2"/>
          </p:nvPr>
        </p:nvSpPr>
        <p:spPr>
          <a:xfrm>
            <a:off x="11095176" y="6414760"/>
            <a:ext cx="258624" cy="248305"/>
          </a:xfrm>
          <a:prstGeom prst="rect">
            <a:avLst/>
          </a:prstGeom>
          <a:ln w="12700">
            <a:miter lim="400000"/>
          </a:ln>
        </p:spPr>
        <p:txBody>
          <a:bodyPr wrap="none" lIns="45719" rIns="45719" anchor="ctr">
            <a:spAutoFit/>
          </a:bodyPr>
          <a:lstStyle>
            <a:lvl1pPr algn="r">
              <a:defRPr sz="1200">
                <a:solidFill>
                  <a:srgbClr val="898989"/>
                </a:solidFill>
              </a:defRPr>
            </a:lvl1pPr>
          </a:lstStyle>
          <a:p>
            <a:pPr/>
            <a:fld id="{86CB4B4D-7CA3-9044-876B-883B54F8677D}" type="slidenum"/>
          </a:p>
        </p:txBody>
      </p:sp>
      <p:sp>
        <p:nvSpPr>
          <p:cNvPr id="3" name="Title Text"/>
          <p:cNvSpPr txBox="1"/>
          <p:nvPr>
            <p:ph type="title"/>
          </p:nvPr>
        </p:nvSpPr>
        <p:spPr>
          <a:xfrm>
            <a:off x="609600" y="92074"/>
            <a:ext cx="1097280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4" name="Body Level One…"/>
          <p:cNvSpPr txBox="1"/>
          <p:nvPr>
            <p:ph type="body" idx="1"/>
          </p:nvPr>
        </p:nvSpPr>
        <p:spPr>
          <a:xfrm>
            <a:off x="609600" y="1600200"/>
            <a:ext cx="1097280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45720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91440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137160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182880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1.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 Id="rId4" Type="http://schemas.openxmlformats.org/officeDocument/2006/relationships/image" Target="../media/image7.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2.png"/></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3.png"/></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4.png"/></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5.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16.png"/><Relationship Id="rId5" Type="http://schemas.openxmlformats.org/officeDocument/2006/relationships/image" Target="../media/image17.png"/><Relationship Id="rId6" Type="http://schemas.openxmlformats.org/officeDocument/2006/relationships/image" Target="../media/image18.png"/><Relationship Id="rId7" Type="http://schemas.openxmlformats.org/officeDocument/2006/relationships/image" Target="../media/image19.png"/></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png"/><Relationship Id="rId3" Type="http://schemas.openxmlformats.org/officeDocument/2006/relationships/image" Target="../media/image1.png"/></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20.png"/></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21.png"/></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22.png"/></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23.png"/></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24.png"/></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25.png"/></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26.png"/></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27.png"/></Relationships>

</file>

<file path=ppt/slides/_rels/slide3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3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28.png"/></Relationships>

</file>

<file path=ppt/slides/_rels/slide3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29.png"/></Relationships>

</file>

<file path=ppt/slides/_rels/slide3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30.png"/><Relationship Id="rId5" Type="http://schemas.openxmlformats.org/officeDocument/2006/relationships/image" Target="../media/image31.png"/></Relationships>

</file>

<file path=ppt/slides/_rels/slide3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32.png"/><Relationship Id="rId5" Type="http://schemas.openxmlformats.org/officeDocument/2006/relationships/image" Target="../media/image33.png"/></Relationships>

</file>

<file path=ppt/slides/_rels/slide4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33.png"/><Relationship Id="rId5" Type="http://schemas.openxmlformats.org/officeDocument/2006/relationships/image" Target="../media/image34.png"/></Relationships>

</file>

<file path=ppt/slides/_rels/slide4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35.png"/></Relationships>

</file>

<file path=ppt/slides/_rels/slide4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36.png"/></Relationships>

</file>

<file path=ppt/slides/_rels/slide4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37.png"/></Relationships>

</file>

<file path=ppt/slides/_rels/slide4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s>

</file>

<file path=ppt/slides/_rels/slide4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37.png"/><Relationship Id="rId5" Type="http://schemas.openxmlformats.org/officeDocument/2006/relationships/image" Target="../media/image38.png"/></Relationships>

</file>

<file path=ppt/slides/_rels/slide4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39.png"/><Relationship Id="rId6" Type="http://schemas.openxmlformats.org/officeDocument/2006/relationships/image" Target="../media/image40.png"/></Relationships>

</file>

<file path=ppt/slides/_rels/slide4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41.png"/></Relationships>

</file>

<file path=ppt/slides/_rels/slide4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42.png"/></Relationships>

</file>

<file path=ppt/slides/_rels/slide4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43.png"/></Relationships>

</file>

<file path=ppt/slides/_rels/slide5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7.png"/><Relationship Id="rId5" Type="http://schemas.openxmlformats.org/officeDocument/2006/relationships/image" Target="../media/image44.png"/></Relationships>

</file>

<file path=ppt/slides/_rels/slide5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_rels/slide5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45.png"/></Relationships>

</file>

<file path=ppt/slides/_rels/slide5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46.png"/><Relationship Id="rId5" Type="http://schemas.openxmlformats.org/officeDocument/2006/relationships/image" Target="../media/image47.png"/><Relationship Id="rId6" Type="http://schemas.openxmlformats.org/officeDocument/2006/relationships/image" Target="../media/image48.png"/><Relationship Id="rId7" Type="http://schemas.openxmlformats.org/officeDocument/2006/relationships/image" Target="../media/image49.png"/><Relationship Id="rId8" Type="http://schemas.openxmlformats.org/officeDocument/2006/relationships/image" Target="../media/image50.png"/></Relationships>

</file>

<file path=ppt/slides/_rels/slide5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51.png"/></Relationships>

</file>

<file path=ppt/slides/_rels/slide5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52.png"/></Relationships>

</file>

<file path=ppt/slides/_rels/slide5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53.png"/></Relationships>

</file>

<file path=ppt/slides/_rels/slide5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54.png"/></Relationships>

</file>

<file path=ppt/slides/_rels/slide5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55.png"/></Relationships>

</file>

<file path=ppt/slides/_rels/slide5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56.png"/></Relationships>

</file>

<file path=ppt/slides/_rels/slide6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57.png"/></Relationships>

</file>

<file path=ppt/slides/_rels/slide6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image" Target="../media/image58.png"/></Relationships>

</file>

<file path=ppt/slides/_rels/slide6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hyperlink" Target="https://regex101.com/" TargetMode="External"/><Relationship Id="rId5" Type="http://schemas.openxmlformats.org/officeDocument/2006/relationships/image" Target="../media/image59.png"/><Relationship Id="rId6" Type="http://schemas.openxmlformats.org/officeDocument/2006/relationships/image" Target="../media/image60.png"/><Relationship Id="rId7" Type="http://schemas.openxmlformats.org/officeDocument/2006/relationships/image" Target="../media/image61.png"/><Relationship Id="rId8" Type="http://schemas.openxmlformats.org/officeDocument/2006/relationships/image" Target="../media/image62.png"/><Relationship Id="rId9" Type="http://schemas.openxmlformats.org/officeDocument/2006/relationships/image" Target="../media/image63.png"/></Relationships>

</file>

<file path=ppt/slides/_rels/slide6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png"/><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 name="image.png" descr="image.png"/>
          <p:cNvPicPr>
            <a:picLocks noChangeAspect="1"/>
          </p:cNvPicPr>
          <p:nvPr/>
        </p:nvPicPr>
        <p:blipFill>
          <a:blip r:embed="rId2">
            <a:extLst/>
          </a:blip>
          <a:stretch>
            <a:fillRect/>
          </a:stretch>
        </p:blipFill>
        <p:spPr>
          <a:xfrm>
            <a:off x="2095500" y="504825"/>
            <a:ext cx="7480300" cy="3743325"/>
          </a:xfrm>
          <a:prstGeom prst="rect">
            <a:avLst/>
          </a:prstGeom>
          <a:ln w="12700">
            <a:miter lim="400000"/>
          </a:ln>
        </p:spPr>
      </p:pic>
      <p:sp>
        <p:nvSpPr>
          <p:cNvPr id="21" name="Rectangle"/>
          <p:cNvSpPr/>
          <p:nvPr/>
        </p:nvSpPr>
        <p:spPr>
          <a:xfrm>
            <a:off x="0" y="4902200"/>
            <a:ext cx="12192000" cy="1955800"/>
          </a:xfrm>
          <a:prstGeom prst="rect">
            <a:avLst/>
          </a:prstGeom>
          <a:solidFill>
            <a:srgbClr val="1C4885"/>
          </a:solidFill>
          <a:ln w="12700">
            <a:miter lim="400000"/>
          </a:ln>
        </p:spPr>
        <p:txBody>
          <a:bodyPr lIns="45719" rIns="45719" anchor="ctr"/>
          <a:lstStyle/>
          <a:p>
            <a:pPr algn="ctr">
              <a:defRPr>
                <a:solidFill>
                  <a:srgbClr val="FFFFFF"/>
                </a:solidFill>
              </a:defRPr>
            </a:pPr>
          </a:p>
        </p:txBody>
      </p:sp>
      <p:grpSp>
        <p:nvGrpSpPr>
          <p:cNvPr id="24" name="Group"/>
          <p:cNvGrpSpPr/>
          <p:nvPr/>
        </p:nvGrpSpPr>
        <p:grpSpPr>
          <a:xfrm>
            <a:off x="5605462" y="2808287"/>
            <a:ext cx="6777038" cy="4229101"/>
            <a:chOff x="0" y="0"/>
            <a:chExt cx="6777037" cy="4229100"/>
          </a:xfrm>
        </p:grpSpPr>
        <p:pic>
          <p:nvPicPr>
            <p:cNvPr id="22" name="image.png" descr="image.png"/>
            <p:cNvPicPr>
              <a:picLocks noChangeAspect="1"/>
            </p:cNvPicPr>
            <p:nvPr/>
          </p:nvPicPr>
          <p:blipFill>
            <a:blip r:embed="rId3">
              <a:extLst/>
            </a:blip>
            <a:srcRect l="0" t="0" r="0" b="52040"/>
            <a:stretch>
              <a:fillRect/>
            </a:stretch>
          </p:blipFill>
          <p:spPr>
            <a:xfrm>
              <a:off x="8074" y="-1"/>
              <a:ext cx="6768964" cy="2090272"/>
            </a:xfrm>
            <a:prstGeom prst="rect">
              <a:avLst/>
            </a:prstGeom>
            <a:ln w="12700" cap="flat">
              <a:noFill/>
              <a:miter lim="400000"/>
            </a:ln>
            <a:effectLst/>
          </p:spPr>
        </p:pic>
        <p:pic>
          <p:nvPicPr>
            <p:cNvPr id="23" name="image.png" descr="image.png"/>
            <p:cNvPicPr>
              <a:picLocks noChangeAspect="1"/>
            </p:cNvPicPr>
            <p:nvPr/>
          </p:nvPicPr>
          <p:blipFill>
            <a:blip r:embed="rId3">
              <a:extLst/>
            </a:blip>
            <a:srcRect l="0" t="50633" r="2627" b="0"/>
            <a:stretch>
              <a:fillRect/>
            </a:stretch>
          </p:blipFill>
          <p:spPr>
            <a:xfrm>
              <a:off x="0" y="2077570"/>
              <a:ext cx="6591149" cy="2151530"/>
            </a:xfrm>
            <a:prstGeom prst="rect">
              <a:avLst/>
            </a:prstGeom>
            <a:ln w="12700" cap="flat">
              <a:noFill/>
              <a:miter lim="400000"/>
            </a:ln>
            <a:effectLst/>
          </p:spPr>
        </p:pic>
      </p:grpSp>
      <p:grpSp>
        <p:nvGrpSpPr>
          <p:cNvPr id="27" name="Group"/>
          <p:cNvGrpSpPr/>
          <p:nvPr/>
        </p:nvGrpSpPr>
        <p:grpSpPr>
          <a:xfrm>
            <a:off x="573087" y="6332537"/>
            <a:ext cx="2412352" cy="317675"/>
            <a:chOff x="0" y="0"/>
            <a:chExt cx="2412350" cy="317673"/>
          </a:xfrm>
        </p:grpSpPr>
        <p:sp>
          <p:nvSpPr>
            <p:cNvPr id="25" name="Haihua.chen@unt.edu"/>
            <p:cNvSpPr txBox="1"/>
            <p:nvPr/>
          </p:nvSpPr>
          <p:spPr>
            <a:xfrm>
              <a:off x="447660" y="0"/>
              <a:ext cx="1964691" cy="30059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600">
                  <a:solidFill>
                    <a:srgbClr val="FFFFFF"/>
                  </a:solidFill>
                </a:defRPr>
              </a:lvl1pPr>
            </a:lstStyle>
            <a:p>
              <a:pPr/>
              <a:r>
                <a:t>Haihua.chen@unt.edu</a:t>
              </a:r>
            </a:p>
          </p:txBody>
        </p:sp>
        <p:pic>
          <p:nvPicPr>
            <p:cNvPr id="26" name="image.png" descr="image.png"/>
            <p:cNvPicPr>
              <a:picLocks noChangeAspect="1"/>
            </p:cNvPicPr>
            <p:nvPr/>
          </p:nvPicPr>
          <p:blipFill>
            <a:blip r:embed="rId4">
              <a:extLst/>
            </a:blip>
            <a:stretch>
              <a:fillRect/>
            </a:stretch>
          </p:blipFill>
          <p:spPr>
            <a:xfrm>
              <a:off x="0" y="21537"/>
              <a:ext cx="299098" cy="296137"/>
            </a:xfrm>
            <a:prstGeom prst="rect">
              <a:avLst/>
            </a:prstGeom>
            <a:ln w="12700" cap="flat">
              <a:noFill/>
              <a:miter lim="400000"/>
            </a:ln>
            <a:effectLst/>
          </p:spPr>
        </p:pic>
      </p:grpSp>
      <p:grpSp>
        <p:nvGrpSpPr>
          <p:cNvPr id="30" name="Group"/>
          <p:cNvGrpSpPr/>
          <p:nvPr/>
        </p:nvGrpSpPr>
        <p:grpSpPr>
          <a:xfrm>
            <a:off x="573087" y="5910262"/>
            <a:ext cx="1580761" cy="316390"/>
            <a:chOff x="0" y="0"/>
            <a:chExt cx="1580759" cy="316388"/>
          </a:xfrm>
        </p:grpSpPr>
        <p:sp>
          <p:nvSpPr>
            <p:cNvPr id="28" name="9402200057"/>
            <p:cNvSpPr txBox="1"/>
            <p:nvPr/>
          </p:nvSpPr>
          <p:spPr>
            <a:xfrm>
              <a:off x="446729" y="0"/>
              <a:ext cx="1134031" cy="30059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45719" tIns="45719" rIns="45719" bIns="45719" numCol="1" anchor="t">
              <a:spAutoFit/>
            </a:bodyPr>
            <a:lstStyle>
              <a:lvl1pPr>
                <a:defRPr sz="1600">
                  <a:solidFill>
                    <a:srgbClr val="FFFFFF"/>
                  </a:solidFill>
                </a:defRPr>
              </a:lvl1pPr>
            </a:lstStyle>
            <a:p>
              <a:pPr/>
              <a:r>
                <a:t>9402200057</a:t>
              </a:r>
            </a:p>
          </p:txBody>
        </p:sp>
        <p:pic>
          <p:nvPicPr>
            <p:cNvPr id="29" name="image.png" descr="image.png"/>
            <p:cNvPicPr>
              <a:picLocks noChangeAspect="1"/>
            </p:cNvPicPr>
            <p:nvPr/>
          </p:nvPicPr>
          <p:blipFill>
            <a:blip r:embed="rId5">
              <a:extLst/>
            </a:blip>
            <a:stretch>
              <a:fillRect/>
            </a:stretch>
          </p:blipFill>
          <p:spPr>
            <a:xfrm>
              <a:off x="0" y="19152"/>
              <a:ext cx="298405" cy="297237"/>
            </a:xfrm>
            <a:prstGeom prst="rect">
              <a:avLst/>
            </a:prstGeom>
            <a:ln w="12700" cap="flat">
              <a:noFill/>
              <a:miter lim="400000"/>
            </a:ln>
            <a:effectLst/>
          </p:spPr>
        </p:pic>
      </p:grpSp>
      <p:sp>
        <p:nvSpPr>
          <p:cNvPr id="31" name="Lesson 5: Data Preprocessing"/>
          <p:cNvSpPr txBox="1"/>
          <p:nvPr/>
        </p:nvSpPr>
        <p:spPr>
          <a:xfrm>
            <a:off x="202882" y="1073150"/>
            <a:ext cx="11265536" cy="8280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b="1" sz="4800">
                <a:solidFill>
                  <a:srgbClr val="1C4885"/>
                </a:solidFill>
                <a:latin typeface="Microsoft YaHei"/>
                <a:ea typeface="Microsoft YaHei"/>
                <a:cs typeface="Microsoft YaHei"/>
                <a:sym typeface="Microsoft YaHei"/>
              </a:defRPr>
            </a:pPr>
            <a:r>
              <a:t>Lesson</a:t>
            </a:r>
            <a:r>
              <a:t> </a:t>
            </a:r>
            <a:r>
              <a:t>5:</a:t>
            </a:r>
            <a:r>
              <a:t> </a:t>
            </a:r>
            <a:r>
              <a:t>Data Preprocessing</a:t>
            </a:r>
          </a:p>
        </p:txBody>
      </p:sp>
      <p:sp>
        <p:nvSpPr>
          <p:cNvPr id="32" name="Haihua Chen, Ph.D.…"/>
          <p:cNvSpPr txBox="1"/>
          <p:nvPr/>
        </p:nvSpPr>
        <p:spPr>
          <a:xfrm>
            <a:off x="541019" y="5049837"/>
            <a:ext cx="2161566" cy="644982"/>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defRPr b="1" sz="2000">
                <a:solidFill>
                  <a:srgbClr val="FFFFFF"/>
                </a:solidFill>
              </a:defRPr>
            </a:pPr>
            <a:r>
              <a:t>Haihua Chen, Ph.D.</a:t>
            </a:r>
          </a:p>
          <a:p>
            <a:pPr>
              <a:defRPr b="1" sz="2000">
                <a:solidFill>
                  <a:srgbClr val="FFFFFF"/>
                </a:solidFill>
              </a:defRPr>
            </a:pPr>
            <a:r>
              <a:t>Assistant Professor </a:t>
            </a:r>
          </a:p>
        </p:txBody>
      </p:sp>
      <p:sp>
        <p:nvSpPr>
          <p:cNvPr id="33"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34" name="Slide Number"/>
          <p:cNvSpPr txBox="1"/>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 name="Shape"/>
          <p:cNvSpPr/>
          <p:nvPr/>
        </p:nvSpPr>
        <p:spPr>
          <a:xfrm>
            <a:off x="5614987" y="0"/>
            <a:ext cx="6423026" cy="6858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052" y="30"/>
                </a:moveTo>
                <a:lnTo>
                  <a:pt x="21600" y="0"/>
                </a:lnTo>
                <a:lnTo>
                  <a:pt x="21600" y="21600"/>
                </a:lnTo>
                <a:lnTo>
                  <a:pt x="0" y="21600"/>
                </a:lnTo>
                <a:lnTo>
                  <a:pt x="7052" y="30"/>
                </a:lnTo>
                <a:close/>
              </a:path>
            </a:pathLst>
          </a:custGeom>
          <a:solidFill>
            <a:srgbClr val="FFFFFF"/>
          </a:solidFill>
          <a:ln w="12700">
            <a:miter lim="400000"/>
          </a:ln>
        </p:spPr>
        <p:txBody>
          <a:bodyPr lIns="45719" rIns="45719" anchor="ctr"/>
          <a:lstStyle/>
          <a:p>
            <a:pPr/>
          </a:p>
        </p:txBody>
      </p:sp>
      <p:sp>
        <p:nvSpPr>
          <p:cNvPr id="37" name="Shape"/>
          <p:cNvSpPr/>
          <p:nvPr/>
        </p:nvSpPr>
        <p:spPr>
          <a:xfrm>
            <a:off x="5768975" y="0"/>
            <a:ext cx="6423026" cy="68580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052" y="30"/>
                </a:moveTo>
                <a:lnTo>
                  <a:pt x="21600" y="0"/>
                </a:lnTo>
                <a:lnTo>
                  <a:pt x="21600" y="21600"/>
                </a:lnTo>
                <a:lnTo>
                  <a:pt x="0" y="21600"/>
                </a:lnTo>
                <a:lnTo>
                  <a:pt x="7052" y="30"/>
                </a:lnTo>
                <a:close/>
              </a:path>
            </a:pathLst>
          </a:custGeom>
          <a:solidFill>
            <a:srgbClr val="1C4885"/>
          </a:solidFill>
          <a:ln w="12700">
            <a:miter lim="400000"/>
          </a:ln>
        </p:spPr>
        <p:txBody>
          <a:bodyPr lIns="45719" rIns="45719" anchor="ctr"/>
          <a:lstStyle/>
          <a:p>
            <a:pPr/>
          </a:p>
        </p:txBody>
      </p:sp>
      <p:sp>
        <p:nvSpPr>
          <p:cNvPr id="38" name="Triangle"/>
          <p:cNvSpPr/>
          <p:nvPr/>
        </p:nvSpPr>
        <p:spPr>
          <a:xfrm rot="21255612">
            <a:off x="9923462" y="-147638"/>
            <a:ext cx="2436813" cy="3543301"/>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1522"/>
                </a:lnTo>
                <a:lnTo>
                  <a:pt x="18557" y="21600"/>
                </a:lnTo>
                <a:lnTo>
                  <a:pt x="0" y="0"/>
                </a:lnTo>
                <a:close/>
              </a:path>
            </a:pathLst>
          </a:custGeom>
          <a:solidFill>
            <a:srgbClr val="FFFFFF"/>
          </a:solidFill>
          <a:ln w="12700">
            <a:miter lim="400000"/>
          </a:ln>
        </p:spPr>
        <p:txBody>
          <a:bodyPr lIns="45719" rIns="45719" anchor="ctr"/>
          <a:lstStyle/>
          <a:p>
            <a:pPr/>
          </a:p>
        </p:txBody>
      </p:sp>
      <p:sp>
        <p:nvSpPr>
          <p:cNvPr id="39" name="Triangle"/>
          <p:cNvSpPr/>
          <p:nvPr/>
        </p:nvSpPr>
        <p:spPr>
          <a:xfrm rot="10452885">
            <a:off x="9837737" y="146050"/>
            <a:ext cx="1068388" cy="1552575"/>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1522"/>
                </a:lnTo>
                <a:lnTo>
                  <a:pt x="18557" y="21600"/>
                </a:lnTo>
                <a:lnTo>
                  <a:pt x="0" y="0"/>
                </a:lnTo>
                <a:close/>
              </a:path>
            </a:pathLst>
          </a:custGeom>
          <a:solidFill>
            <a:srgbClr val="D9D9D9"/>
          </a:solidFill>
          <a:ln w="12700">
            <a:miter lim="400000"/>
          </a:ln>
        </p:spPr>
        <p:txBody>
          <a:bodyPr lIns="45719" rIns="45719" anchor="ctr"/>
          <a:lstStyle/>
          <a:p>
            <a:pPr/>
          </a:p>
        </p:txBody>
      </p:sp>
      <p:sp>
        <p:nvSpPr>
          <p:cNvPr id="40" name="Rectangle"/>
          <p:cNvSpPr/>
          <p:nvPr/>
        </p:nvSpPr>
        <p:spPr>
          <a:xfrm>
            <a:off x="1743075" y="1752600"/>
            <a:ext cx="3013075" cy="488950"/>
          </a:xfrm>
          <a:prstGeom prst="rect">
            <a:avLst/>
          </a:prstGeom>
          <a:ln>
            <a:solidFill>
              <a:srgbClr val="404040"/>
            </a:solidFill>
          </a:ln>
        </p:spPr>
        <p:txBody>
          <a:bodyPr lIns="45719" rIns="45719"/>
          <a:lstStyle/>
          <a:p>
            <a:pPr algn="ctr">
              <a:spcBef>
                <a:spcPts val="1600"/>
              </a:spcBef>
              <a:defRPr b="1" sz="1600">
                <a:latin typeface="Arial"/>
                <a:ea typeface="Arial"/>
                <a:cs typeface="Arial"/>
                <a:sym typeface="Arial"/>
              </a:defRPr>
            </a:pPr>
          </a:p>
        </p:txBody>
      </p:sp>
      <p:sp>
        <p:nvSpPr>
          <p:cNvPr id="41" name="Rectangle"/>
          <p:cNvSpPr/>
          <p:nvPr/>
        </p:nvSpPr>
        <p:spPr>
          <a:xfrm>
            <a:off x="695325" y="1752600"/>
            <a:ext cx="814388" cy="488950"/>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42" name="1"/>
          <p:cNvSpPr txBox="1"/>
          <p:nvPr/>
        </p:nvSpPr>
        <p:spPr>
          <a:xfrm>
            <a:off x="968057" y="1789112"/>
            <a:ext cx="419736" cy="396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000">
                <a:solidFill>
                  <a:srgbClr val="FFFFFF"/>
                </a:solidFill>
                <a:latin typeface="Microsoft YaHei"/>
                <a:ea typeface="Microsoft YaHei"/>
                <a:cs typeface="Microsoft YaHei"/>
                <a:sym typeface="Microsoft YaHei"/>
              </a:defRPr>
            </a:lvl1pPr>
          </a:lstStyle>
          <a:p>
            <a:pPr/>
            <a:r>
              <a:t>1</a:t>
            </a:r>
          </a:p>
        </p:txBody>
      </p:sp>
      <p:sp>
        <p:nvSpPr>
          <p:cNvPr id="43" name="Rectangle"/>
          <p:cNvSpPr/>
          <p:nvPr/>
        </p:nvSpPr>
        <p:spPr>
          <a:xfrm>
            <a:off x="1743075" y="2413000"/>
            <a:ext cx="3013075" cy="488950"/>
          </a:xfrm>
          <a:prstGeom prst="rect">
            <a:avLst/>
          </a:prstGeom>
          <a:ln>
            <a:solidFill>
              <a:srgbClr val="404040"/>
            </a:solidFill>
          </a:ln>
        </p:spPr>
        <p:txBody>
          <a:bodyPr lIns="45719" rIns="45719"/>
          <a:lstStyle/>
          <a:p>
            <a:pPr algn="ctr">
              <a:spcBef>
                <a:spcPts val="1600"/>
              </a:spcBef>
              <a:defRPr b="1" sz="1600">
                <a:latin typeface="Arial"/>
                <a:ea typeface="Arial"/>
                <a:cs typeface="Arial"/>
                <a:sym typeface="Arial"/>
              </a:defRPr>
            </a:pPr>
          </a:p>
        </p:txBody>
      </p:sp>
      <p:sp>
        <p:nvSpPr>
          <p:cNvPr id="44" name="Rectangle"/>
          <p:cNvSpPr/>
          <p:nvPr/>
        </p:nvSpPr>
        <p:spPr>
          <a:xfrm>
            <a:off x="695325" y="2413000"/>
            <a:ext cx="814388" cy="488950"/>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45" name="2"/>
          <p:cNvSpPr txBox="1"/>
          <p:nvPr/>
        </p:nvSpPr>
        <p:spPr>
          <a:xfrm>
            <a:off x="968057" y="2449512"/>
            <a:ext cx="870586" cy="396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000">
                <a:solidFill>
                  <a:srgbClr val="FFFFFF"/>
                </a:solidFill>
                <a:latin typeface="Microsoft YaHei"/>
                <a:ea typeface="Microsoft YaHei"/>
                <a:cs typeface="Microsoft YaHei"/>
                <a:sym typeface="Microsoft YaHei"/>
              </a:defRPr>
            </a:lvl1pPr>
          </a:lstStyle>
          <a:p>
            <a:pPr/>
            <a:r>
              <a:t>2</a:t>
            </a:r>
          </a:p>
        </p:txBody>
      </p:sp>
      <p:sp>
        <p:nvSpPr>
          <p:cNvPr id="46" name="Rectangle"/>
          <p:cNvSpPr/>
          <p:nvPr/>
        </p:nvSpPr>
        <p:spPr>
          <a:xfrm>
            <a:off x="1741487" y="3073400"/>
            <a:ext cx="3014663" cy="488950"/>
          </a:xfrm>
          <a:prstGeom prst="rect">
            <a:avLst/>
          </a:prstGeom>
          <a:ln>
            <a:solidFill>
              <a:srgbClr val="404040"/>
            </a:solidFill>
          </a:ln>
        </p:spPr>
        <p:txBody>
          <a:bodyPr lIns="45719" rIns="45719"/>
          <a:lstStyle/>
          <a:p>
            <a:pPr algn="ctr">
              <a:spcBef>
                <a:spcPts val="1600"/>
              </a:spcBef>
              <a:defRPr b="1" sz="1600">
                <a:latin typeface="Arial"/>
                <a:ea typeface="Arial"/>
                <a:cs typeface="Arial"/>
                <a:sym typeface="Arial"/>
              </a:defRPr>
            </a:pPr>
          </a:p>
        </p:txBody>
      </p:sp>
      <p:sp>
        <p:nvSpPr>
          <p:cNvPr id="47" name="Rectangle"/>
          <p:cNvSpPr/>
          <p:nvPr/>
        </p:nvSpPr>
        <p:spPr>
          <a:xfrm>
            <a:off x="692150" y="3073400"/>
            <a:ext cx="814388" cy="488950"/>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48" name="3"/>
          <p:cNvSpPr txBox="1"/>
          <p:nvPr/>
        </p:nvSpPr>
        <p:spPr>
          <a:xfrm>
            <a:off x="964882" y="3109912"/>
            <a:ext cx="870586" cy="396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000">
                <a:solidFill>
                  <a:srgbClr val="FFFFFF"/>
                </a:solidFill>
                <a:latin typeface="Microsoft YaHei"/>
                <a:ea typeface="Microsoft YaHei"/>
                <a:cs typeface="Microsoft YaHei"/>
                <a:sym typeface="Microsoft YaHei"/>
              </a:defRPr>
            </a:lvl1pPr>
          </a:lstStyle>
          <a:p>
            <a:pPr/>
            <a:r>
              <a:t>3</a:t>
            </a:r>
          </a:p>
        </p:txBody>
      </p:sp>
      <p:sp>
        <p:nvSpPr>
          <p:cNvPr id="49" name="Rectangle"/>
          <p:cNvSpPr/>
          <p:nvPr/>
        </p:nvSpPr>
        <p:spPr>
          <a:xfrm>
            <a:off x="1741487" y="3733800"/>
            <a:ext cx="3014663" cy="488950"/>
          </a:xfrm>
          <a:prstGeom prst="rect">
            <a:avLst/>
          </a:prstGeom>
          <a:ln>
            <a:solidFill>
              <a:srgbClr val="404040"/>
            </a:solidFill>
          </a:ln>
        </p:spPr>
        <p:txBody>
          <a:bodyPr lIns="45719" rIns="45719"/>
          <a:lstStyle/>
          <a:p>
            <a:pPr algn="ctr">
              <a:spcBef>
                <a:spcPts val="1600"/>
              </a:spcBef>
              <a:defRPr b="1" sz="1600">
                <a:latin typeface="Arial"/>
                <a:ea typeface="Arial"/>
                <a:cs typeface="Arial"/>
                <a:sym typeface="Arial"/>
              </a:defRPr>
            </a:pPr>
          </a:p>
        </p:txBody>
      </p:sp>
      <p:sp>
        <p:nvSpPr>
          <p:cNvPr id="50" name="Rectangle"/>
          <p:cNvSpPr/>
          <p:nvPr/>
        </p:nvSpPr>
        <p:spPr>
          <a:xfrm>
            <a:off x="692150" y="3733800"/>
            <a:ext cx="814388" cy="488950"/>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51" name="4"/>
          <p:cNvSpPr txBox="1"/>
          <p:nvPr/>
        </p:nvSpPr>
        <p:spPr>
          <a:xfrm>
            <a:off x="964882" y="3770312"/>
            <a:ext cx="870586" cy="396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000">
                <a:solidFill>
                  <a:srgbClr val="FFFFFF"/>
                </a:solidFill>
                <a:latin typeface="Microsoft YaHei"/>
                <a:ea typeface="Microsoft YaHei"/>
                <a:cs typeface="Microsoft YaHei"/>
                <a:sym typeface="Microsoft YaHei"/>
              </a:defRPr>
            </a:lvl1pPr>
          </a:lstStyle>
          <a:p>
            <a:pPr/>
            <a:r>
              <a:t>4</a:t>
            </a:r>
          </a:p>
        </p:txBody>
      </p:sp>
      <p:grpSp>
        <p:nvGrpSpPr>
          <p:cNvPr id="54" name="Group"/>
          <p:cNvGrpSpPr/>
          <p:nvPr/>
        </p:nvGrpSpPr>
        <p:grpSpPr>
          <a:xfrm>
            <a:off x="575945" y="236537"/>
            <a:ext cx="2610485" cy="712789"/>
            <a:chOff x="0" y="0"/>
            <a:chExt cx="2610484" cy="712787"/>
          </a:xfrm>
        </p:grpSpPr>
        <p:sp>
          <p:nvSpPr>
            <p:cNvPr id="52" name="Agenda"/>
            <p:cNvSpPr txBox="1"/>
            <p:nvPr/>
          </p:nvSpPr>
          <p:spPr>
            <a:xfrm>
              <a:off x="0" y="0"/>
              <a:ext cx="2610485" cy="6375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45719" tIns="45719" rIns="45719" bIns="45719" numCol="1" anchor="t">
              <a:spAutoFit/>
            </a:bodyPr>
            <a:lstStyle>
              <a:lvl1pPr>
                <a:defRPr b="1" sz="3600">
                  <a:solidFill>
                    <a:srgbClr val="1C4885"/>
                  </a:solidFill>
                  <a:latin typeface="Microsoft YaHei"/>
                  <a:ea typeface="Microsoft YaHei"/>
                  <a:cs typeface="Microsoft YaHei"/>
                  <a:sym typeface="Microsoft YaHei"/>
                </a:defRPr>
              </a:lvl1pPr>
            </a:lstStyle>
            <a:p>
              <a:pPr/>
              <a:r>
                <a:t>Agenda</a:t>
              </a:r>
            </a:p>
          </p:txBody>
        </p:sp>
        <p:sp>
          <p:nvSpPr>
            <p:cNvPr id="53" name="Line"/>
            <p:cNvSpPr/>
            <p:nvPr/>
          </p:nvSpPr>
          <p:spPr>
            <a:xfrm>
              <a:off x="38128" y="712787"/>
              <a:ext cx="2550599" cy="1"/>
            </a:xfrm>
            <a:prstGeom prst="line">
              <a:avLst/>
            </a:prstGeom>
            <a:noFill/>
            <a:ln w="6350" cap="flat">
              <a:solidFill>
                <a:srgbClr val="7F7F7F"/>
              </a:solidFill>
              <a:prstDash val="solid"/>
              <a:round/>
            </a:ln>
            <a:effectLst/>
          </p:spPr>
          <p:txBody>
            <a:bodyPr wrap="square" lIns="45719" tIns="45719" rIns="45719" bIns="45719" numCol="1" anchor="t">
              <a:noAutofit/>
            </a:bodyPr>
            <a:lstStyle/>
            <a:p>
              <a:pPr/>
            </a:p>
          </p:txBody>
        </p:sp>
      </p:grpSp>
      <p:pic>
        <p:nvPicPr>
          <p:cNvPr id="55" name="image.png" descr="image.png"/>
          <p:cNvPicPr>
            <a:picLocks noChangeAspect="1"/>
          </p:cNvPicPr>
          <p:nvPr/>
        </p:nvPicPr>
        <p:blipFill>
          <a:blip r:embed="rId2">
            <a:extLst/>
          </a:blip>
          <a:stretch>
            <a:fillRect/>
          </a:stretch>
        </p:blipFill>
        <p:spPr>
          <a:xfrm>
            <a:off x="5865812" y="4013200"/>
            <a:ext cx="6326188" cy="2844800"/>
          </a:xfrm>
          <a:prstGeom prst="rect">
            <a:avLst/>
          </a:prstGeom>
          <a:ln w="12700">
            <a:miter lim="400000"/>
          </a:ln>
        </p:spPr>
      </p:pic>
      <p:sp>
        <p:nvSpPr>
          <p:cNvPr id="56" name="Why Data Preprocessing"/>
          <p:cNvSpPr txBox="1"/>
          <p:nvPr/>
        </p:nvSpPr>
        <p:spPr>
          <a:xfrm>
            <a:off x="1787207" y="1800225"/>
            <a:ext cx="2797335" cy="370840"/>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1C4885"/>
                </a:solidFill>
                <a:latin typeface="Microsoft YaHei"/>
                <a:ea typeface="Microsoft YaHei"/>
                <a:cs typeface="Microsoft YaHei"/>
                <a:sym typeface="Microsoft YaHei"/>
              </a:defRPr>
            </a:lvl1pPr>
          </a:lstStyle>
          <a:p>
            <a:pPr/>
            <a:r>
              <a:t>Why Data Preprocessing</a:t>
            </a:r>
          </a:p>
        </p:txBody>
      </p:sp>
      <p:sp>
        <p:nvSpPr>
          <p:cNvPr id="57" name="Data Preprocessing Tasks"/>
          <p:cNvSpPr txBox="1"/>
          <p:nvPr/>
        </p:nvSpPr>
        <p:spPr>
          <a:xfrm>
            <a:off x="1766569" y="3143250"/>
            <a:ext cx="3085149" cy="3708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a:solidFill>
                  <a:srgbClr val="1C4885"/>
                </a:solidFill>
                <a:latin typeface="Microsoft YaHei"/>
                <a:ea typeface="Microsoft YaHei"/>
                <a:cs typeface="Microsoft YaHei"/>
                <a:sym typeface="Microsoft YaHei"/>
              </a:defRPr>
            </a:lvl1pPr>
          </a:lstStyle>
          <a:p>
            <a:pPr/>
            <a:r>
              <a:t>Data Preprocessing Tasks</a:t>
            </a:r>
          </a:p>
        </p:txBody>
      </p:sp>
      <p:sp>
        <p:nvSpPr>
          <p:cNvPr id="58" name="Data Quality"/>
          <p:cNvSpPr txBox="1"/>
          <p:nvPr/>
        </p:nvSpPr>
        <p:spPr>
          <a:xfrm>
            <a:off x="1766569" y="2465387"/>
            <a:ext cx="1438014" cy="3708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a:solidFill>
                  <a:srgbClr val="1C4885"/>
                </a:solidFill>
                <a:latin typeface="Microsoft YaHei"/>
                <a:ea typeface="Microsoft YaHei"/>
                <a:cs typeface="Microsoft YaHei"/>
                <a:sym typeface="Microsoft YaHei"/>
              </a:defRPr>
            </a:lvl1pPr>
          </a:lstStyle>
          <a:p>
            <a:pPr/>
            <a:r>
              <a:t>Data Quality</a:t>
            </a:r>
          </a:p>
        </p:txBody>
      </p:sp>
      <p:sp>
        <p:nvSpPr>
          <p:cNvPr id="59"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60" name="Slide Number"/>
          <p:cNvSpPr txBox="1"/>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61" name="Rectangle"/>
          <p:cNvSpPr/>
          <p:nvPr/>
        </p:nvSpPr>
        <p:spPr>
          <a:xfrm>
            <a:off x="1744662" y="4405312"/>
            <a:ext cx="3011488" cy="488951"/>
          </a:xfrm>
          <a:prstGeom prst="rect">
            <a:avLst/>
          </a:prstGeom>
          <a:ln>
            <a:solidFill>
              <a:srgbClr val="404040"/>
            </a:solidFill>
          </a:ln>
        </p:spPr>
        <p:txBody>
          <a:bodyPr lIns="45719" rIns="45719"/>
          <a:lstStyle/>
          <a:p>
            <a:pPr algn="ctr">
              <a:spcBef>
                <a:spcPts val="1600"/>
              </a:spcBef>
              <a:defRPr b="1" sz="1600">
                <a:latin typeface="Arial"/>
                <a:ea typeface="Arial"/>
                <a:cs typeface="Arial"/>
                <a:sym typeface="Arial"/>
              </a:defRPr>
            </a:pPr>
          </a:p>
        </p:txBody>
      </p:sp>
      <p:sp>
        <p:nvSpPr>
          <p:cNvPr id="62" name="Rectangle"/>
          <p:cNvSpPr/>
          <p:nvPr/>
        </p:nvSpPr>
        <p:spPr>
          <a:xfrm>
            <a:off x="695325" y="4405312"/>
            <a:ext cx="814388" cy="4889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63" name="5"/>
          <p:cNvSpPr txBox="1"/>
          <p:nvPr/>
        </p:nvSpPr>
        <p:spPr>
          <a:xfrm>
            <a:off x="968057" y="4441825"/>
            <a:ext cx="870586" cy="3962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000">
                <a:solidFill>
                  <a:srgbClr val="FFFFFF"/>
                </a:solidFill>
                <a:latin typeface="Microsoft YaHei"/>
                <a:ea typeface="Microsoft YaHei"/>
                <a:cs typeface="Microsoft YaHei"/>
                <a:sym typeface="Microsoft YaHei"/>
              </a:defRPr>
            </a:lvl1pPr>
          </a:lstStyle>
          <a:p>
            <a:pPr/>
            <a:r>
              <a:t>5</a:t>
            </a:r>
          </a:p>
        </p:txBody>
      </p:sp>
      <p:sp>
        <p:nvSpPr>
          <p:cNvPr id="64" name="Python Data Cleaning"/>
          <p:cNvSpPr txBox="1"/>
          <p:nvPr/>
        </p:nvSpPr>
        <p:spPr>
          <a:xfrm>
            <a:off x="1787207" y="3827462"/>
            <a:ext cx="2832736"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90000"/>
              </a:lnSpc>
              <a:spcBef>
                <a:spcPts val="1000"/>
              </a:spcBef>
              <a:defRPr b="1">
                <a:solidFill>
                  <a:srgbClr val="1C4885"/>
                </a:solidFill>
                <a:latin typeface="Microsoft YaHei"/>
                <a:ea typeface="Microsoft YaHei"/>
                <a:cs typeface="Microsoft YaHei"/>
                <a:sym typeface="Microsoft YaHei"/>
              </a:defRPr>
            </a:lvl1pPr>
          </a:lstStyle>
          <a:p>
            <a:pPr/>
            <a:r>
              <a:t>Python Data Cleaning</a:t>
            </a:r>
          </a:p>
        </p:txBody>
      </p:sp>
      <p:sp>
        <p:nvSpPr>
          <p:cNvPr id="65" name="Regular Expressions"/>
          <p:cNvSpPr txBox="1"/>
          <p:nvPr/>
        </p:nvSpPr>
        <p:spPr>
          <a:xfrm>
            <a:off x="1798319" y="4481512"/>
            <a:ext cx="2531112"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90000"/>
              </a:lnSpc>
              <a:spcBef>
                <a:spcPts val="1000"/>
              </a:spcBef>
              <a:defRPr b="1">
                <a:solidFill>
                  <a:srgbClr val="1C4885"/>
                </a:solidFill>
                <a:latin typeface="Microsoft YaHei"/>
                <a:ea typeface="Microsoft YaHei"/>
                <a:cs typeface="Microsoft YaHei"/>
                <a:sym typeface="Microsoft YaHei"/>
              </a:defRPr>
            </a:lvl1pPr>
          </a:lstStyle>
          <a:p>
            <a:pPr/>
            <a:r>
              <a:t>Regular Expressions</a:t>
            </a:r>
          </a:p>
        </p:txBody>
      </p:sp>
      <p:sp>
        <p:nvSpPr>
          <p:cNvPr id="66" name="Rectangle"/>
          <p:cNvSpPr/>
          <p:nvPr/>
        </p:nvSpPr>
        <p:spPr>
          <a:xfrm>
            <a:off x="1768475" y="5065712"/>
            <a:ext cx="3011488" cy="488951"/>
          </a:xfrm>
          <a:prstGeom prst="rect">
            <a:avLst/>
          </a:prstGeom>
          <a:ln>
            <a:solidFill>
              <a:srgbClr val="404040"/>
            </a:solidFill>
          </a:ln>
        </p:spPr>
        <p:txBody>
          <a:bodyPr lIns="45719" rIns="45719"/>
          <a:lstStyle/>
          <a:p>
            <a:pPr algn="ctr">
              <a:spcBef>
                <a:spcPts val="1600"/>
              </a:spcBef>
              <a:defRPr b="1" sz="1600">
                <a:latin typeface="Arial"/>
                <a:ea typeface="Arial"/>
                <a:cs typeface="Arial"/>
                <a:sym typeface="Arial"/>
              </a:defRPr>
            </a:pPr>
          </a:p>
        </p:txBody>
      </p:sp>
      <p:sp>
        <p:nvSpPr>
          <p:cNvPr id="67" name="Rectangle"/>
          <p:cNvSpPr/>
          <p:nvPr/>
        </p:nvSpPr>
        <p:spPr>
          <a:xfrm>
            <a:off x="719137" y="5065712"/>
            <a:ext cx="814388" cy="4889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68" name="6"/>
          <p:cNvSpPr txBox="1"/>
          <p:nvPr/>
        </p:nvSpPr>
        <p:spPr>
          <a:xfrm>
            <a:off x="991869" y="5102225"/>
            <a:ext cx="870587" cy="3962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000">
                <a:solidFill>
                  <a:srgbClr val="FFFFFF"/>
                </a:solidFill>
                <a:latin typeface="Microsoft YaHei"/>
                <a:ea typeface="Microsoft YaHei"/>
                <a:cs typeface="Microsoft YaHei"/>
                <a:sym typeface="Microsoft YaHei"/>
              </a:defRPr>
            </a:lvl1pPr>
          </a:lstStyle>
          <a:p>
            <a:pPr/>
            <a:r>
              <a:t>6</a:t>
            </a:r>
          </a:p>
        </p:txBody>
      </p:sp>
      <p:sp>
        <p:nvSpPr>
          <p:cNvPr id="69" name="Demo"/>
          <p:cNvSpPr txBox="1"/>
          <p:nvPr/>
        </p:nvSpPr>
        <p:spPr>
          <a:xfrm>
            <a:off x="1822132" y="5141912"/>
            <a:ext cx="2531111" cy="370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nSpc>
                <a:spcPct val="90000"/>
              </a:lnSpc>
              <a:spcBef>
                <a:spcPts val="1000"/>
              </a:spcBef>
              <a:defRPr b="1">
                <a:solidFill>
                  <a:srgbClr val="1C4885"/>
                </a:solidFill>
                <a:latin typeface="Microsoft YaHei"/>
                <a:ea typeface="Microsoft YaHei"/>
                <a:cs typeface="Microsoft YaHei"/>
                <a:sym typeface="Microsoft YaHei"/>
              </a:defRPr>
            </a:lvl1pPr>
          </a:lstStyle>
          <a:p>
            <a:pPr/>
            <a:r>
              <a:t>Demo</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71" name="image.png" descr="image.png"/>
          <p:cNvPicPr>
            <a:picLocks noChangeAspect="1"/>
          </p:cNvPicPr>
          <p:nvPr/>
        </p:nvPicPr>
        <p:blipFill>
          <a:blip r:embed="rId2">
            <a:extLst/>
          </a:blip>
          <a:stretch>
            <a:fillRect/>
          </a:stretch>
        </p:blipFill>
        <p:spPr>
          <a:xfrm>
            <a:off x="2632075" y="354012"/>
            <a:ext cx="7481888" cy="3743326"/>
          </a:xfrm>
          <a:prstGeom prst="rect">
            <a:avLst/>
          </a:prstGeom>
          <a:ln w="12700">
            <a:miter lim="400000"/>
          </a:ln>
        </p:spPr>
      </p:pic>
      <p:sp>
        <p:nvSpPr>
          <p:cNvPr id="72" name="Rectangle"/>
          <p:cNvSpPr/>
          <p:nvPr/>
        </p:nvSpPr>
        <p:spPr>
          <a:xfrm>
            <a:off x="0" y="4902200"/>
            <a:ext cx="12192000" cy="1955800"/>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73" name="1"/>
          <p:cNvSpPr txBox="1"/>
          <p:nvPr/>
        </p:nvSpPr>
        <p:spPr>
          <a:xfrm>
            <a:off x="45720" y="1571625"/>
            <a:ext cx="1403985" cy="53365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4400">
                <a:solidFill>
                  <a:srgbClr val="1C4885"/>
                </a:solidFill>
                <a:latin typeface="Microsoft YaHei"/>
                <a:ea typeface="Microsoft YaHei"/>
                <a:cs typeface="Microsoft YaHei"/>
                <a:sym typeface="Microsoft YaHei"/>
              </a:defRPr>
            </a:lvl1pPr>
          </a:lstStyle>
          <a:p>
            <a:pPr/>
            <a:r>
              <a:t>1</a:t>
            </a:r>
          </a:p>
        </p:txBody>
      </p:sp>
      <p:sp>
        <p:nvSpPr>
          <p:cNvPr id="74" name="Why Data Preprocessing"/>
          <p:cNvSpPr txBox="1"/>
          <p:nvPr/>
        </p:nvSpPr>
        <p:spPr>
          <a:xfrm>
            <a:off x="2125344" y="3792537"/>
            <a:ext cx="9574849" cy="9169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5400">
                <a:solidFill>
                  <a:srgbClr val="1C4885"/>
                </a:solidFill>
                <a:latin typeface="Microsoft YaHei"/>
                <a:ea typeface="Microsoft YaHei"/>
                <a:cs typeface="Microsoft YaHei"/>
                <a:sym typeface="Microsoft YaHei"/>
              </a:defRPr>
            </a:lvl1pPr>
          </a:lstStyle>
          <a:p>
            <a:pPr/>
            <a:r>
              <a:t>Why Data Preprocessing</a:t>
            </a:r>
          </a:p>
        </p:txBody>
      </p:sp>
      <p:grpSp>
        <p:nvGrpSpPr>
          <p:cNvPr id="77" name="Group"/>
          <p:cNvGrpSpPr/>
          <p:nvPr/>
        </p:nvGrpSpPr>
        <p:grpSpPr>
          <a:xfrm>
            <a:off x="6804024" y="3178174"/>
            <a:ext cx="5578477" cy="3481389"/>
            <a:chOff x="0" y="0"/>
            <a:chExt cx="5578475" cy="3481387"/>
          </a:xfrm>
        </p:grpSpPr>
        <p:pic>
          <p:nvPicPr>
            <p:cNvPr id="75" name="image.png" descr="image.png"/>
            <p:cNvPicPr>
              <a:picLocks noChangeAspect="1"/>
            </p:cNvPicPr>
            <p:nvPr/>
          </p:nvPicPr>
          <p:blipFill>
            <a:blip r:embed="rId3">
              <a:extLst/>
            </a:blip>
            <a:srcRect l="0" t="0" r="0" b="52040"/>
            <a:stretch>
              <a:fillRect/>
            </a:stretch>
          </p:blipFill>
          <p:spPr>
            <a:xfrm>
              <a:off x="6646" y="0"/>
              <a:ext cx="5571830" cy="1720707"/>
            </a:xfrm>
            <a:prstGeom prst="rect">
              <a:avLst/>
            </a:prstGeom>
            <a:ln w="12700" cap="flat">
              <a:noFill/>
              <a:miter lim="400000"/>
            </a:ln>
            <a:effectLst/>
          </p:spPr>
        </p:pic>
        <p:pic>
          <p:nvPicPr>
            <p:cNvPr id="76" name="image.png" descr="image.png"/>
            <p:cNvPicPr>
              <a:picLocks noChangeAspect="1"/>
            </p:cNvPicPr>
            <p:nvPr/>
          </p:nvPicPr>
          <p:blipFill>
            <a:blip r:embed="rId3">
              <a:extLst/>
            </a:blip>
            <a:srcRect l="0" t="50633" r="2627" b="0"/>
            <a:stretch>
              <a:fillRect/>
            </a:stretch>
          </p:blipFill>
          <p:spPr>
            <a:xfrm>
              <a:off x="-1" y="1710252"/>
              <a:ext cx="5425464" cy="1771136"/>
            </a:xfrm>
            <a:prstGeom prst="rect">
              <a:avLst/>
            </a:prstGeom>
            <a:ln w="12700" cap="flat">
              <a:noFill/>
              <a:miter lim="400000"/>
            </a:ln>
            <a:effectLst/>
          </p:spPr>
        </p:pic>
      </p:grpSp>
      <p:sp>
        <p:nvSpPr>
          <p:cNvPr id="78" name="Shape"/>
          <p:cNvSpPr/>
          <p:nvPr/>
        </p:nvSpPr>
        <p:spPr>
          <a:xfrm>
            <a:off x="490537" y="4902200"/>
            <a:ext cx="2063751" cy="91598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7215" y="0"/>
                </a:moveTo>
                <a:lnTo>
                  <a:pt x="14430" y="0"/>
                </a:lnTo>
                <a:lnTo>
                  <a:pt x="14430" y="8665"/>
                </a:lnTo>
                <a:lnTo>
                  <a:pt x="21600" y="8665"/>
                </a:lnTo>
                <a:lnTo>
                  <a:pt x="21600" y="21600"/>
                </a:lnTo>
                <a:lnTo>
                  <a:pt x="0" y="21600"/>
                </a:lnTo>
                <a:lnTo>
                  <a:pt x="0" y="8665"/>
                </a:lnTo>
                <a:lnTo>
                  <a:pt x="7215" y="8665"/>
                </a:lnTo>
                <a:lnTo>
                  <a:pt x="7215" y="0"/>
                </a:lnTo>
                <a:close/>
              </a:path>
            </a:pathLst>
          </a:custGeom>
          <a:solidFill>
            <a:srgbClr val="FFFFFF"/>
          </a:solidFill>
          <a:ln w="12700">
            <a:miter lim="400000"/>
          </a:ln>
        </p:spPr>
        <p:txBody>
          <a:bodyPr lIns="45719" rIns="45719"/>
          <a:lstStyle/>
          <a:p>
            <a:pPr/>
          </a:p>
        </p:txBody>
      </p:sp>
      <p:sp>
        <p:nvSpPr>
          <p:cNvPr id="79"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80" name="Slide Number"/>
          <p:cNvSpPr txBox="1"/>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82"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85" name="Group"/>
          <p:cNvGrpSpPr/>
          <p:nvPr/>
        </p:nvGrpSpPr>
        <p:grpSpPr>
          <a:xfrm>
            <a:off x="10625137" y="5580062"/>
            <a:ext cx="1566864" cy="1281113"/>
            <a:chOff x="0" y="0"/>
            <a:chExt cx="1566862" cy="1281112"/>
          </a:xfrm>
        </p:grpSpPr>
        <p:pic>
          <p:nvPicPr>
            <p:cNvPr id="83"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84"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86" name="Preprocessing in the text data analysis process"/>
          <p:cNvSpPr txBox="1"/>
          <p:nvPr/>
        </p:nvSpPr>
        <p:spPr>
          <a:xfrm>
            <a:off x="1709737" y="5727700"/>
            <a:ext cx="7908926" cy="2837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algn="ctr" defTabSz="1216025">
              <a:spcBef>
                <a:spcPts val="400"/>
              </a:spcBef>
              <a:defRPr b="1" sz="2000">
                <a:solidFill>
                  <a:srgbClr val="FFFFFF"/>
                </a:solidFill>
                <a:latin typeface="Arial"/>
                <a:ea typeface="Arial"/>
                <a:cs typeface="Arial"/>
                <a:sym typeface="Arial"/>
              </a:defRPr>
            </a:lvl1pPr>
          </a:lstStyle>
          <a:p>
            <a:pPr/>
            <a:r>
              <a:t>Preprocessing in the text data analysis process </a:t>
            </a:r>
          </a:p>
        </p:txBody>
      </p:sp>
      <p:sp>
        <p:nvSpPr>
          <p:cNvPr id="87"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88" name="Why data preprocessing"/>
          <p:cNvSpPr txBox="1"/>
          <p:nvPr/>
        </p:nvSpPr>
        <p:spPr>
          <a:xfrm>
            <a:off x="190182" y="207962"/>
            <a:ext cx="3644018"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Why data preprocessing</a:t>
            </a:r>
          </a:p>
        </p:txBody>
      </p:sp>
      <p:sp>
        <p:nvSpPr>
          <p:cNvPr id="89"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90" name="Slide Number"/>
          <p:cNvSpPr txBox="1"/>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91" name="image.png" descr="image.png"/>
          <p:cNvPicPr>
            <a:picLocks noChangeAspect="1"/>
          </p:cNvPicPr>
          <p:nvPr/>
        </p:nvPicPr>
        <p:blipFill>
          <a:blip r:embed="rId4">
            <a:extLst/>
          </a:blip>
          <a:stretch>
            <a:fillRect/>
          </a:stretch>
        </p:blipFill>
        <p:spPr>
          <a:xfrm>
            <a:off x="254000" y="1811337"/>
            <a:ext cx="4775200" cy="3062288"/>
          </a:xfrm>
          <a:prstGeom prst="rect">
            <a:avLst/>
          </a:prstGeom>
          <a:ln w="12700">
            <a:miter lim="400000"/>
          </a:ln>
        </p:spPr>
      </p:pic>
      <p:pic>
        <p:nvPicPr>
          <p:cNvPr id="92" name="image.png" descr="image.png"/>
          <p:cNvPicPr>
            <a:picLocks noChangeAspect="1"/>
          </p:cNvPicPr>
          <p:nvPr/>
        </p:nvPicPr>
        <p:blipFill>
          <a:blip r:embed="rId5">
            <a:extLst/>
          </a:blip>
          <a:stretch>
            <a:fillRect/>
          </a:stretch>
        </p:blipFill>
        <p:spPr>
          <a:xfrm>
            <a:off x="5319712" y="2292350"/>
            <a:ext cx="6267451" cy="2162175"/>
          </a:xfrm>
          <a:prstGeom prst="rect">
            <a:avLst/>
          </a:prstGeom>
          <a:ln w="12700">
            <a:miter lim="400000"/>
          </a:ln>
        </p:spPr>
      </p:pic>
      <p:pic>
        <p:nvPicPr>
          <p:cNvPr id="93" name="image.png" descr="image.png"/>
          <p:cNvPicPr>
            <a:picLocks noChangeAspect="1"/>
          </p:cNvPicPr>
          <p:nvPr/>
        </p:nvPicPr>
        <p:blipFill>
          <a:blip r:embed="rId6">
            <a:extLst/>
          </a:blip>
          <a:stretch>
            <a:fillRect/>
          </a:stretch>
        </p:blipFill>
        <p:spPr>
          <a:xfrm>
            <a:off x="8556625" y="1368425"/>
            <a:ext cx="1403350" cy="1828800"/>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98" name="Group"/>
          <p:cNvGrpSpPr/>
          <p:nvPr/>
        </p:nvGrpSpPr>
        <p:grpSpPr>
          <a:xfrm>
            <a:off x="10625137" y="5580062"/>
            <a:ext cx="1566864" cy="1281113"/>
            <a:chOff x="0" y="0"/>
            <a:chExt cx="1566862" cy="1281112"/>
          </a:xfrm>
        </p:grpSpPr>
        <p:pic>
          <p:nvPicPr>
            <p:cNvPr id="96"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97"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99" name="Several key steps of text data analysis…"/>
          <p:cNvSpPr txBox="1"/>
          <p:nvPr/>
        </p:nvSpPr>
        <p:spPr>
          <a:xfrm>
            <a:off x="217487" y="1568449"/>
            <a:ext cx="10509251" cy="4225687"/>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500"/>
              </a:spcBef>
              <a:buSzPct val="100000"/>
              <a:buChar char="➢"/>
              <a:defRPr b="1" sz="2400">
                <a:solidFill>
                  <a:srgbClr val="FFFFFF"/>
                </a:solidFill>
                <a:latin typeface="Arial"/>
                <a:ea typeface="Arial"/>
                <a:cs typeface="Arial"/>
                <a:sym typeface="Arial"/>
              </a:defRPr>
            </a:pPr>
            <a:r>
              <a:t>Several key steps of text data analysis</a:t>
            </a:r>
          </a:p>
          <a:p>
            <a:pPr lvl="1" marL="1085850" indent="-342900" defTabSz="1216025">
              <a:spcBef>
                <a:spcPts val="400"/>
              </a:spcBef>
              <a:buSzPct val="100000"/>
              <a:buAutoNum type="arabicPeriod" startAt="1"/>
              <a:defRPr b="1">
                <a:solidFill>
                  <a:srgbClr val="FFFFFF"/>
                </a:solidFill>
                <a:latin typeface="Arial"/>
                <a:ea typeface="Arial"/>
                <a:cs typeface="Arial"/>
                <a:sym typeface="Arial"/>
              </a:defRPr>
            </a:pPr>
            <a:r>
              <a:t>Learning the application domain</a:t>
            </a:r>
          </a:p>
          <a:p>
            <a:pPr lvl="2" marL="1485900" indent="-342900" defTabSz="1216025">
              <a:spcBef>
                <a:spcPts val="300"/>
              </a:spcBef>
              <a:buSzPct val="100000"/>
              <a:buChar char="❖"/>
              <a:defRPr b="1" sz="1400">
                <a:solidFill>
                  <a:srgbClr val="FFFFFF"/>
                </a:solidFill>
                <a:latin typeface="Arial"/>
                <a:ea typeface="Arial"/>
                <a:cs typeface="Arial"/>
                <a:sym typeface="Arial"/>
              </a:defRPr>
            </a:pPr>
            <a:r>
              <a:t>Relevant prior knowledge and goals of application </a:t>
            </a:r>
          </a:p>
          <a:p>
            <a:pPr lvl="1" marL="1085850" indent="-342900" defTabSz="1216025">
              <a:spcBef>
                <a:spcPts val="400"/>
              </a:spcBef>
              <a:buSzPct val="100000"/>
              <a:buAutoNum type="arabicPeriod" startAt="1"/>
              <a:defRPr b="1">
                <a:solidFill>
                  <a:srgbClr val="FFFFFF"/>
                </a:solidFill>
                <a:latin typeface="Arial"/>
                <a:ea typeface="Arial"/>
                <a:cs typeface="Arial"/>
                <a:sym typeface="Arial"/>
              </a:defRPr>
            </a:pPr>
            <a:r>
              <a:t>Creating a target data set: data selection </a:t>
            </a:r>
          </a:p>
          <a:p>
            <a:pPr lvl="1" marL="1085850" indent="-342900" defTabSz="1216025">
              <a:spcBef>
                <a:spcPts val="400"/>
              </a:spcBef>
              <a:buSzPct val="100000"/>
              <a:buAutoNum type="arabicPeriod" startAt="1"/>
              <a:defRPr b="1">
                <a:solidFill>
                  <a:srgbClr val="92D050"/>
                </a:solidFill>
                <a:latin typeface="Arial"/>
                <a:ea typeface="Arial"/>
                <a:cs typeface="Arial"/>
                <a:sym typeface="Arial"/>
              </a:defRPr>
            </a:pPr>
            <a:r>
              <a:t>Data cleaning and preprocessing: (may take 80% of effort!) </a:t>
            </a:r>
          </a:p>
          <a:p>
            <a:pPr lvl="1" marL="1085850" indent="-342900" defTabSz="1216025">
              <a:spcBef>
                <a:spcPts val="400"/>
              </a:spcBef>
              <a:buSzPct val="100000"/>
              <a:buAutoNum type="arabicPeriod" startAt="1"/>
              <a:defRPr b="1">
                <a:solidFill>
                  <a:srgbClr val="FFFFFF"/>
                </a:solidFill>
                <a:latin typeface="Arial"/>
                <a:ea typeface="Arial"/>
                <a:cs typeface="Arial"/>
                <a:sym typeface="Arial"/>
              </a:defRPr>
            </a:pPr>
            <a:r>
              <a:t>Data reduction and transformation </a:t>
            </a:r>
          </a:p>
          <a:p>
            <a:pPr lvl="2" marL="1485900" indent="-342900" defTabSz="1216025">
              <a:spcBef>
                <a:spcPts val="300"/>
              </a:spcBef>
              <a:buSzPct val="100000"/>
              <a:buChar char="❖"/>
              <a:defRPr b="1" sz="1400">
                <a:solidFill>
                  <a:srgbClr val="FFFFFF"/>
                </a:solidFill>
                <a:latin typeface="Arial"/>
                <a:ea typeface="Arial"/>
                <a:cs typeface="Arial"/>
                <a:sym typeface="Arial"/>
              </a:defRPr>
            </a:pPr>
            <a:r>
              <a:t>Find useful features, dimensionality/variable reduction, invariant representation </a:t>
            </a:r>
          </a:p>
          <a:p>
            <a:pPr lvl="1" marL="1085850" indent="-342900" defTabSz="1216025">
              <a:spcBef>
                <a:spcPts val="400"/>
              </a:spcBef>
              <a:buSzPct val="100000"/>
              <a:buAutoNum type="arabicPeriod" startAt="1"/>
              <a:defRPr b="1">
                <a:solidFill>
                  <a:srgbClr val="FFFFFF"/>
                </a:solidFill>
                <a:latin typeface="Arial"/>
                <a:ea typeface="Arial"/>
                <a:cs typeface="Arial"/>
                <a:sym typeface="Arial"/>
              </a:defRPr>
            </a:pPr>
            <a:r>
              <a:t>Choosing functions of data mining</a:t>
            </a:r>
          </a:p>
          <a:p>
            <a:pPr lvl="2" marL="1485900" indent="-342900" defTabSz="1216025">
              <a:spcBef>
                <a:spcPts val="300"/>
              </a:spcBef>
              <a:buSzPct val="100000"/>
              <a:buChar char="❖"/>
              <a:defRPr b="1" sz="1400">
                <a:solidFill>
                  <a:srgbClr val="FFFFFF"/>
                </a:solidFill>
                <a:latin typeface="Arial"/>
                <a:ea typeface="Arial"/>
                <a:cs typeface="Arial"/>
                <a:sym typeface="Arial"/>
              </a:defRPr>
            </a:pPr>
            <a:r>
              <a:t>Summarization, classiﬁcation, regression, association, clustering </a:t>
            </a:r>
          </a:p>
          <a:p>
            <a:pPr lvl="1" marL="1085850" indent="-342900" defTabSz="1216025">
              <a:spcBef>
                <a:spcPts val="400"/>
              </a:spcBef>
              <a:buSzPct val="100000"/>
              <a:buAutoNum type="arabicPeriod" startAt="1"/>
              <a:defRPr b="1">
                <a:solidFill>
                  <a:srgbClr val="FFFFFF"/>
                </a:solidFill>
                <a:latin typeface="Arial"/>
                <a:ea typeface="Arial"/>
                <a:cs typeface="Arial"/>
                <a:sym typeface="Arial"/>
              </a:defRPr>
            </a:pPr>
            <a:r>
              <a:t>Choosing the mining algorithm(s) </a:t>
            </a:r>
          </a:p>
          <a:p>
            <a:pPr lvl="1" marL="1085850" indent="-342900" defTabSz="1216025">
              <a:spcBef>
                <a:spcPts val="400"/>
              </a:spcBef>
              <a:buSzPct val="100000"/>
              <a:buAutoNum type="arabicPeriod" startAt="1"/>
              <a:defRPr b="1">
                <a:solidFill>
                  <a:srgbClr val="FFFFFF"/>
                </a:solidFill>
                <a:latin typeface="Arial"/>
                <a:ea typeface="Arial"/>
                <a:cs typeface="Arial"/>
                <a:sym typeface="Arial"/>
              </a:defRPr>
            </a:pPr>
            <a:r>
              <a:t>Data mining: search for patterns of interest </a:t>
            </a:r>
          </a:p>
          <a:p>
            <a:pPr lvl="1" marL="1085850" indent="-342900" defTabSz="1216025">
              <a:spcBef>
                <a:spcPts val="400"/>
              </a:spcBef>
              <a:buSzPct val="100000"/>
              <a:buAutoNum type="arabicPeriod" startAt="1"/>
              <a:defRPr b="1">
                <a:solidFill>
                  <a:srgbClr val="FFFFFF"/>
                </a:solidFill>
                <a:latin typeface="Arial"/>
                <a:ea typeface="Arial"/>
                <a:cs typeface="Arial"/>
                <a:sym typeface="Arial"/>
              </a:defRPr>
            </a:pPr>
            <a:r>
              <a:t>Pattern evaluation and knowledge presentation</a:t>
            </a:r>
          </a:p>
          <a:p>
            <a:pPr lvl="2" marL="1485900" indent="-342900" defTabSz="1216025">
              <a:spcBef>
                <a:spcPts val="300"/>
              </a:spcBef>
              <a:buSzPct val="100000"/>
              <a:buChar char="❖"/>
              <a:defRPr b="1" sz="1400">
                <a:solidFill>
                  <a:srgbClr val="FFFFFF"/>
                </a:solidFill>
                <a:latin typeface="Arial"/>
                <a:ea typeface="Arial"/>
                <a:cs typeface="Arial"/>
                <a:sym typeface="Arial"/>
              </a:defRPr>
            </a:pPr>
            <a:r>
              <a:t>Visualization, transformation, removing redundant patterns, etc. </a:t>
            </a:r>
          </a:p>
          <a:p>
            <a:pPr lvl="1" marL="1085850" indent="-342900" defTabSz="1216025">
              <a:spcBef>
                <a:spcPts val="400"/>
              </a:spcBef>
              <a:buSzPct val="100000"/>
              <a:buAutoNum type="arabicPeriod" startAt="1"/>
              <a:defRPr b="1">
                <a:solidFill>
                  <a:srgbClr val="FFFFFF"/>
                </a:solidFill>
                <a:latin typeface="Arial"/>
                <a:ea typeface="Arial"/>
                <a:cs typeface="Arial"/>
                <a:sym typeface="Arial"/>
              </a:defRPr>
            </a:pPr>
            <a:r>
              <a:t>Use of discovered knowledge</a:t>
            </a:r>
          </a:p>
        </p:txBody>
      </p:sp>
      <p:sp>
        <p:nvSpPr>
          <p:cNvPr id="100"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101" name="Why data preprocessing"/>
          <p:cNvSpPr txBox="1"/>
          <p:nvPr/>
        </p:nvSpPr>
        <p:spPr>
          <a:xfrm>
            <a:off x="190182" y="207962"/>
            <a:ext cx="3644018"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Why data preprocessing</a:t>
            </a:r>
          </a:p>
        </p:txBody>
      </p:sp>
      <p:sp>
        <p:nvSpPr>
          <p:cNvPr id="102"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103" name="Slide Number"/>
          <p:cNvSpPr txBox="1"/>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04" name="image.png" descr="image.png"/>
          <p:cNvPicPr>
            <a:picLocks noChangeAspect="1"/>
          </p:cNvPicPr>
          <p:nvPr/>
        </p:nvPicPr>
        <p:blipFill>
          <a:blip r:embed="rId4">
            <a:extLst/>
          </a:blip>
          <a:srcRect l="0" t="9901" r="4141" b="0"/>
          <a:stretch>
            <a:fillRect/>
          </a:stretch>
        </p:blipFill>
        <p:spPr>
          <a:xfrm>
            <a:off x="8281987" y="1331912"/>
            <a:ext cx="3910013" cy="1169988"/>
          </a:xfrm>
          <a:prstGeom prst="rect">
            <a:avLst/>
          </a:prstGeom>
          <a:ln w="12700">
            <a:miter lim="400000"/>
          </a:ln>
        </p:spPr>
      </p:pic>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6"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109" name="Group"/>
          <p:cNvGrpSpPr/>
          <p:nvPr/>
        </p:nvGrpSpPr>
        <p:grpSpPr>
          <a:xfrm>
            <a:off x="10625137" y="5580062"/>
            <a:ext cx="1566864" cy="1281113"/>
            <a:chOff x="0" y="0"/>
            <a:chExt cx="1566862" cy="1281112"/>
          </a:xfrm>
        </p:grpSpPr>
        <p:pic>
          <p:nvPicPr>
            <p:cNvPr id="107"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108"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110"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111" name="Why data preprocessing"/>
          <p:cNvSpPr txBox="1"/>
          <p:nvPr/>
        </p:nvSpPr>
        <p:spPr>
          <a:xfrm>
            <a:off x="190182" y="207962"/>
            <a:ext cx="3644018"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Why data preprocessing</a:t>
            </a:r>
          </a:p>
        </p:txBody>
      </p:sp>
      <p:sp>
        <p:nvSpPr>
          <p:cNvPr id="112"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113" name="Slide Number"/>
          <p:cNvSpPr txBox="1"/>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
        <p:nvSpPr>
          <p:cNvPr id="114" name="Data in the real world is not clean…"/>
          <p:cNvSpPr txBox="1"/>
          <p:nvPr/>
        </p:nvSpPr>
        <p:spPr>
          <a:xfrm>
            <a:off x="577850" y="1741487"/>
            <a:ext cx="10377488" cy="3378019"/>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600"/>
              </a:spcBef>
              <a:buSzPct val="100000"/>
              <a:buChar char="➢"/>
              <a:defRPr b="1" sz="2800">
                <a:solidFill>
                  <a:srgbClr val="FFFFFF"/>
                </a:solidFill>
                <a:latin typeface="Arial"/>
                <a:ea typeface="Arial"/>
                <a:cs typeface="Arial"/>
                <a:sym typeface="Arial"/>
              </a:defRPr>
            </a:pPr>
            <a:r>
              <a:t>Data in the real world is not clean</a:t>
            </a:r>
          </a:p>
          <a:p>
            <a:pPr lvl="1" marL="1085850" indent="-342900" defTabSz="1216025">
              <a:spcBef>
                <a:spcPts val="400"/>
              </a:spcBef>
              <a:buSzPct val="100000"/>
              <a:buChar char="❖"/>
              <a:defRPr b="1" sz="2000">
                <a:solidFill>
                  <a:srgbClr val="92D050"/>
                </a:solidFill>
                <a:latin typeface="Arial"/>
                <a:ea typeface="Arial"/>
                <a:cs typeface="Arial"/>
                <a:sym typeface="Arial"/>
              </a:defRPr>
            </a:pPr>
            <a:r>
              <a:t>Incomplete</a:t>
            </a:r>
            <a:r>
              <a:rPr>
                <a:solidFill>
                  <a:srgbClr val="FFFFFF"/>
                </a:solidFill>
              </a:rPr>
              <a:t>: lacking attribute values, lacking certain attributes of interest, or containing only aggregate data, e.g., occupation=“ ” </a:t>
            </a:r>
            <a:endParaRPr>
              <a:solidFill>
                <a:srgbClr val="FFFFFF"/>
              </a:solidFill>
            </a:endParaRPr>
          </a:p>
          <a:p>
            <a:pPr lvl="1" marL="1085850" indent="-342900" defTabSz="1216025">
              <a:spcBef>
                <a:spcPts val="400"/>
              </a:spcBef>
              <a:buSzPct val="100000"/>
              <a:buChar char="❖"/>
              <a:defRPr b="1" sz="2000">
                <a:solidFill>
                  <a:srgbClr val="92D050"/>
                </a:solidFill>
                <a:latin typeface="Arial"/>
                <a:ea typeface="Arial"/>
                <a:cs typeface="Arial"/>
                <a:sym typeface="Arial"/>
              </a:defRPr>
            </a:pPr>
            <a:r>
              <a:t>Noisy</a:t>
            </a:r>
            <a:r>
              <a:rPr>
                <a:solidFill>
                  <a:srgbClr val="FFFFFF"/>
                </a:solidFill>
              </a:rPr>
              <a:t>: containing errors or outliers, e.g., Salary=“-10”</a:t>
            </a:r>
            <a:endParaRPr>
              <a:solidFill>
                <a:srgbClr val="FFFFFF"/>
              </a:solidFill>
            </a:endParaRPr>
          </a:p>
          <a:p>
            <a:pPr lvl="1" marL="1085850" indent="-342900" defTabSz="1216025">
              <a:spcBef>
                <a:spcPts val="400"/>
              </a:spcBef>
              <a:buSzPct val="100000"/>
              <a:buChar char="❖"/>
              <a:defRPr b="1" sz="2000">
                <a:solidFill>
                  <a:srgbClr val="92D050"/>
                </a:solidFill>
                <a:latin typeface="Arial"/>
                <a:ea typeface="Arial"/>
                <a:cs typeface="Arial"/>
                <a:sym typeface="Arial"/>
              </a:defRPr>
            </a:pPr>
            <a:r>
              <a:t>Inconsistent</a:t>
            </a:r>
            <a:r>
              <a:rPr>
                <a:solidFill>
                  <a:srgbClr val="FFFFFF"/>
                </a:solidFill>
              </a:rPr>
              <a:t>: containing discrepancies in codes or names, e.g., Age=“42” Birthday=“03/07/1997” </a:t>
            </a:r>
            <a:endParaRPr>
              <a:solidFill>
                <a:srgbClr val="FFFFFF"/>
              </a:solidFill>
            </a:endParaRPr>
          </a:p>
          <a:p>
            <a:pPr marL="342900" indent="-342900" defTabSz="1216025">
              <a:spcBef>
                <a:spcPts val="600"/>
              </a:spcBef>
              <a:buSzPct val="100000"/>
              <a:buChar char="➢"/>
              <a:defRPr b="1" sz="2800">
                <a:solidFill>
                  <a:srgbClr val="FF0000"/>
                </a:solidFill>
                <a:latin typeface="Arial"/>
                <a:ea typeface="Arial"/>
                <a:cs typeface="Arial"/>
                <a:sym typeface="Arial"/>
              </a:defRPr>
            </a:pPr>
            <a:r>
              <a:t>No quality data, no quality mining results!</a:t>
            </a:r>
          </a:p>
          <a:p>
            <a:pPr marL="342900" indent="-342900" defTabSz="1216025">
              <a:spcBef>
                <a:spcPts val="600"/>
              </a:spcBef>
              <a:buSzPct val="100000"/>
              <a:buChar char="➢"/>
              <a:defRPr b="1" sz="2800">
                <a:solidFill>
                  <a:srgbClr val="FFFFFF"/>
                </a:solidFill>
                <a:latin typeface="Arial"/>
                <a:ea typeface="Arial"/>
                <a:cs typeface="Arial"/>
                <a:sym typeface="Arial"/>
              </a:defRPr>
            </a:pPr>
            <a:r>
              <a:t>Quality decisions must be based on quality data </a:t>
            </a:r>
          </a:p>
          <a:p>
            <a:pPr lvl="1" marL="1085850" indent="-342900" defTabSz="1216025">
              <a:spcBef>
                <a:spcPts val="400"/>
              </a:spcBef>
              <a:buSzPct val="100000"/>
              <a:buChar char="❖"/>
              <a:defRPr b="1" sz="2000">
                <a:solidFill>
                  <a:srgbClr val="FFFFFF"/>
                </a:solidFill>
                <a:latin typeface="Arial"/>
                <a:ea typeface="Arial"/>
                <a:cs typeface="Arial"/>
                <a:sym typeface="Arial"/>
              </a:defRPr>
            </a:pPr>
            <a:r>
              <a:t>Duplicates or missing data may cause incorrect or misleading analyses</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0" presetID="1" grpId="1" fill="hold">
                                  <p:stCondLst>
                                    <p:cond delay="0"/>
                                  </p:stCondLst>
                                  <p:iterate type="el" backwards="0">
                                    <p:tmAbs val="0"/>
                                  </p:iterate>
                                  <p:childTnLst>
                                    <p:set>
                                      <p:cBhvr>
                                        <p:cTn id="6" fill="hold"/>
                                        <p:tgtEl>
                                          <p:spTgt spid="11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14" grpId="1"/>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16" name="image.png" descr="image.png"/>
          <p:cNvPicPr>
            <a:picLocks noChangeAspect="1"/>
          </p:cNvPicPr>
          <p:nvPr/>
        </p:nvPicPr>
        <p:blipFill>
          <a:blip r:embed="rId2">
            <a:extLst/>
          </a:blip>
          <a:stretch>
            <a:fillRect/>
          </a:stretch>
        </p:blipFill>
        <p:spPr>
          <a:xfrm>
            <a:off x="2632075" y="354012"/>
            <a:ext cx="7481888" cy="3743326"/>
          </a:xfrm>
          <a:prstGeom prst="rect">
            <a:avLst/>
          </a:prstGeom>
          <a:ln w="12700">
            <a:miter lim="400000"/>
          </a:ln>
        </p:spPr>
      </p:pic>
      <p:sp>
        <p:nvSpPr>
          <p:cNvPr id="117" name="Rectangle"/>
          <p:cNvSpPr/>
          <p:nvPr/>
        </p:nvSpPr>
        <p:spPr>
          <a:xfrm>
            <a:off x="0" y="4902200"/>
            <a:ext cx="12192000" cy="1955800"/>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118" name="2"/>
          <p:cNvSpPr txBox="1"/>
          <p:nvPr/>
        </p:nvSpPr>
        <p:spPr>
          <a:xfrm>
            <a:off x="45720" y="1571625"/>
            <a:ext cx="1403985" cy="53365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4400">
                <a:solidFill>
                  <a:srgbClr val="1C4885"/>
                </a:solidFill>
                <a:latin typeface="Microsoft YaHei"/>
                <a:ea typeface="Microsoft YaHei"/>
                <a:cs typeface="Microsoft YaHei"/>
                <a:sym typeface="Microsoft YaHei"/>
              </a:defRPr>
            </a:lvl1pPr>
          </a:lstStyle>
          <a:p>
            <a:pPr/>
            <a:r>
              <a:t>2</a:t>
            </a:r>
          </a:p>
        </p:txBody>
      </p:sp>
      <p:sp>
        <p:nvSpPr>
          <p:cNvPr id="119" name="Data Quality"/>
          <p:cNvSpPr txBox="1"/>
          <p:nvPr/>
        </p:nvSpPr>
        <p:spPr>
          <a:xfrm>
            <a:off x="2369819" y="3883025"/>
            <a:ext cx="9776462" cy="9169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5400">
                <a:solidFill>
                  <a:srgbClr val="1C4885"/>
                </a:solidFill>
                <a:latin typeface="Microsoft YaHei"/>
                <a:ea typeface="Microsoft YaHei"/>
                <a:cs typeface="Microsoft YaHei"/>
                <a:sym typeface="Microsoft YaHei"/>
              </a:defRPr>
            </a:lvl1pPr>
          </a:lstStyle>
          <a:p>
            <a:pPr/>
            <a:r>
              <a:t>Data Quality</a:t>
            </a:r>
          </a:p>
        </p:txBody>
      </p:sp>
      <p:grpSp>
        <p:nvGrpSpPr>
          <p:cNvPr id="122" name="Group"/>
          <p:cNvGrpSpPr/>
          <p:nvPr/>
        </p:nvGrpSpPr>
        <p:grpSpPr>
          <a:xfrm>
            <a:off x="6804024" y="3178174"/>
            <a:ext cx="5578477" cy="3481389"/>
            <a:chOff x="0" y="0"/>
            <a:chExt cx="5578475" cy="3481387"/>
          </a:xfrm>
        </p:grpSpPr>
        <p:pic>
          <p:nvPicPr>
            <p:cNvPr id="120" name="image.png" descr="image.png"/>
            <p:cNvPicPr>
              <a:picLocks noChangeAspect="1"/>
            </p:cNvPicPr>
            <p:nvPr/>
          </p:nvPicPr>
          <p:blipFill>
            <a:blip r:embed="rId3">
              <a:extLst/>
            </a:blip>
            <a:srcRect l="0" t="0" r="0" b="52040"/>
            <a:stretch>
              <a:fillRect/>
            </a:stretch>
          </p:blipFill>
          <p:spPr>
            <a:xfrm>
              <a:off x="6646" y="0"/>
              <a:ext cx="5571830" cy="1720707"/>
            </a:xfrm>
            <a:prstGeom prst="rect">
              <a:avLst/>
            </a:prstGeom>
            <a:ln w="12700" cap="flat">
              <a:noFill/>
              <a:miter lim="400000"/>
            </a:ln>
            <a:effectLst/>
          </p:spPr>
        </p:pic>
        <p:pic>
          <p:nvPicPr>
            <p:cNvPr id="121" name="image.png" descr="image.png"/>
            <p:cNvPicPr>
              <a:picLocks noChangeAspect="1"/>
            </p:cNvPicPr>
            <p:nvPr/>
          </p:nvPicPr>
          <p:blipFill>
            <a:blip r:embed="rId3">
              <a:extLst/>
            </a:blip>
            <a:srcRect l="0" t="50633" r="2627" b="0"/>
            <a:stretch>
              <a:fillRect/>
            </a:stretch>
          </p:blipFill>
          <p:spPr>
            <a:xfrm>
              <a:off x="-1" y="1710252"/>
              <a:ext cx="5425464" cy="1771136"/>
            </a:xfrm>
            <a:prstGeom prst="rect">
              <a:avLst/>
            </a:prstGeom>
            <a:ln w="12700" cap="flat">
              <a:noFill/>
              <a:miter lim="400000"/>
            </a:ln>
            <a:effectLst/>
          </p:spPr>
        </p:pic>
      </p:grpSp>
      <p:sp>
        <p:nvSpPr>
          <p:cNvPr id="123" name="Shape"/>
          <p:cNvSpPr/>
          <p:nvPr/>
        </p:nvSpPr>
        <p:spPr>
          <a:xfrm>
            <a:off x="341312" y="4933950"/>
            <a:ext cx="2155826" cy="88106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3528" y="0"/>
                </a:moveTo>
                <a:lnTo>
                  <a:pt x="11194" y="0"/>
                </a:lnTo>
                <a:lnTo>
                  <a:pt x="7934" y="7193"/>
                </a:lnTo>
                <a:lnTo>
                  <a:pt x="7934" y="7507"/>
                </a:lnTo>
                <a:lnTo>
                  <a:pt x="21600" y="7507"/>
                </a:lnTo>
                <a:lnTo>
                  <a:pt x="21600" y="21600"/>
                </a:lnTo>
                <a:lnTo>
                  <a:pt x="0" y="21600"/>
                </a:lnTo>
                <a:lnTo>
                  <a:pt x="0" y="8293"/>
                </a:lnTo>
                <a:lnTo>
                  <a:pt x="3528" y="0"/>
                </a:lnTo>
                <a:close/>
              </a:path>
            </a:pathLst>
          </a:custGeom>
          <a:solidFill>
            <a:srgbClr val="FFFFFF"/>
          </a:solidFill>
          <a:ln w="12700">
            <a:miter lim="400000"/>
          </a:ln>
        </p:spPr>
        <p:txBody>
          <a:bodyPr lIns="45719" rIns="45719"/>
          <a:lstStyle/>
          <a:p>
            <a:pPr/>
          </a:p>
        </p:txBody>
      </p:sp>
      <p:sp>
        <p:nvSpPr>
          <p:cNvPr id="124"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125" name="Slide Number"/>
          <p:cNvSpPr txBox="1"/>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7"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130" name="Group"/>
          <p:cNvGrpSpPr/>
          <p:nvPr/>
        </p:nvGrpSpPr>
        <p:grpSpPr>
          <a:xfrm>
            <a:off x="10625137" y="5580062"/>
            <a:ext cx="1566864" cy="1281113"/>
            <a:chOff x="0" y="0"/>
            <a:chExt cx="1566862" cy="1281112"/>
          </a:xfrm>
        </p:grpSpPr>
        <p:pic>
          <p:nvPicPr>
            <p:cNvPr id="128" name="image.png" descr="image.png"/>
            <p:cNvPicPr>
              <a:picLocks noChangeAspect="1"/>
            </p:cNvPicPr>
            <p:nvPr/>
          </p:nvPicPr>
          <p:blipFill>
            <a:blip r:embed="rId3">
              <a:extLst/>
            </a:blip>
            <a:stretch>
              <a:fillRect/>
            </a:stretch>
          </p:blipFill>
          <p:spPr>
            <a:xfrm>
              <a:off x="-1" y="0"/>
              <a:ext cx="1566864" cy="1281113"/>
            </a:xfrm>
            <a:prstGeom prst="rect">
              <a:avLst/>
            </a:prstGeom>
            <a:ln w="12700" cap="flat">
              <a:noFill/>
              <a:miter lim="400000"/>
            </a:ln>
            <a:effectLst/>
          </p:spPr>
        </p:pic>
        <p:pic>
          <p:nvPicPr>
            <p:cNvPr id="129" name="image.png" descr="image.png"/>
            <p:cNvPicPr>
              <a:picLocks noChangeAspect="1"/>
            </p:cNvPicPr>
            <p:nvPr/>
          </p:nvPicPr>
          <p:blipFill>
            <a:blip r:embed="rId4">
              <a:extLst/>
            </a:blip>
            <a:srcRect l="0" t="0" r="0" b="6207"/>
            <a:stretch>
              <a:fillRect/>
            </a:stretch>
          </p:blipFill>
          <p:spPr>
            <a:xfrm>
              <a:off x="101332" y="44050"/>
              <a:ext cx="1365097" cy="865485"/>
            </a:xfrm>
            <a:prstGeom prst="rect">
              <a:avLst/>
            </a:prstGeom>
            <a:ln w="12700" cap="flat">
              <a:noFill/>
              <a:miter lim="400000"/>
            </a:ln>
            <a:effectLst/>
          </p:spPr>
        </p:pic>
      </p:grpSp>
      <p:sp>
        <p:nvSpPr>
          <p:cNvPr id="131" name="Data quality is undervalued, compared to models/algorithms.…"/>
          <p:cNvSpPr txBox="1"/>
          <p:nvPr/>
        </p:nvSpPr>
        <p:spPr>
          <a:xfrm>
            <a:off x="430212" y="1555750"/>
            <a:ext cx="11055351" cy="366910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400"/>
              </a:spcBef>
              <a:buSzPct val="100000"/>
              <a:buChar char="➢"/>
              <a:defRPr b="1" sz="2000">
                <a:solidFill>
                  <a:srgbClr val="FFFFFF"/>
                </a:solidFill>
                <a:latin typeface="Arial"/>
                <a:ea typeface="Arial"/>
                <a:cs typeface="Arial"/>
                <a:sym typeface="Arial"/>
              </a:defRPr>
            </a:pPr>
            <a:r>
              <a:t>Data quality is undervalued, compared to models/algorithms.</a:t>
            </a:r>
          </a:p>
          <a:p>
            <a:pPr marL="342900" indent="-342900" defTabSz="1216025">
              <a:spcBef>
                <a:spcPts val="600"/>
              </a:spcBef>
              <a:buSzPct val="100000"/>
              <a:buChar char="➢"/>
              <a:defRPr b="1" sz="2000">
                <a:solidFill>
                  <a:srgbClr val="FFFFFF"/>
                </a:solidFill>
                <a:latin typeface="Arial"/>
                <a:ea typeface="Arial"/>
                <a:cs typeface="Arial"/>
                <a:sym typeface="Arial"/>
              </a:defRPr>
            </a:pPr>
          </a:p>
          <a:p>
            <a:pPr marL="342900" indent="-342900" defTabSz="1216025">
              <a:spcBef>
                <a:spcPts val="400"/>
              </a:spcBef>
              <a:buSzPct val="100000"/>
              <a:buChar char="➢"/>
              <a:defRPr b="1" sz="2000">
                <a:solidFill>
                  <a:srgbClr val="FFFFFF"/>
                </a:solidFill>
                <a:latin typeface="Arial"/>
                <a:ea typeface="Arial"/>
                <a:cs typeface="Arial"/>
                <a:sym typeface="Arial"/>
              </a:defRPr>
            </a:pPr>
            <a:r>
              <a:t>Garbage in, garbage out</a:t>
            </a:r>
          </a:p>
          <a:p>
            <a:pPr lvl="1" marL="1085850" indent="-342900" defTabSz="1216025">
              <a:spcBef>
                <a:spcPts val="400"/>
              </a:spcBef>
              <a:buSzPct val="100000"/>
              <a:buChar char="❖"/>
              <a:defRPr b="1">
                <a:solidFill>
                  <a:srgbClr val="FFFFFF"/>
                </a:solidFill>
                <a:latin typeface="Arial"/>
                <a:ea typeface="Arial"/>
                <a:cs typeface="Arial"/>
                <a:sym typeface="Arial"/>
              </a:defRPr>
            </a:pPr>
            <a:r>
              <a:t>Eg.1: 0.8% error rate for recognizing the faces of lighter-skinned males, but as high as 34.% error rate for recognizing the faces of darker-skinned females. (Buolamwini et al., 2018)</a:t>
            </a:r>
          </a:p>
          <a:p>
            <a:pPr lvl="1" marL="1085850" indent="-342900" defTabSz="1216025">
              <a:spcBef>
                <a:spcPts val="400"/>
              </a:spcBef>
              <a:buSzPct val="100000"/>
              <a:buChar char="❖"/>
              <a:defRPr b="1">
                <a:solidFill>
                  <a:srgbClr val="FFFFFF"/>
                </a:solidFill>
                <a:latin typeface="Arial"/>
                <a:ea typeface="Arial"/>
                <a:cs typeface="Arial"/>
                <a:sym typeface="Arial"/>
              </a:defRPr>
            </a:pPr>
            <a:r>
              <a:t>Eg.2: IBM’s cancer treatment AI accuracy reduced. (Strickland et al., 2019)</a:t>
            </a:r>
          </a:p>
          <a:p>
            <a:pPr lvl="1" marL="1085850" indent="-342900" defTabSz="1216025">
              <a:spcBef>
                <a:spcPts val="400"/>
              </a:spcBef>
              <a:buSzPct val="100000"/>
              <a:buChar char="❖"/>
              <a:defRPr b="1">
                <a:solidFill>
                  <a:srgbClr val="FFFFFF"/>
                </a:solidFill>
                <a:latin typeface="Arial"/>
                <a:ea typeface="Arial"/>
                <a:cs typeface="Arial"/>
                <a:sym typeface="Arial"/>
              </a:defRPr>
            </a:pPr>
            <a:r>
              <a:t>Eg.3: Google Flu Trends missing the flu peak by 140%. (Kandula and Shaman, 2019)</a:t>
            </a:r>
          </a:p>
          <a:p>
            <a:pPr lvl="1" marL="1085850" indent="-342900" defTabSz="1216025">
              <a:spcBef>
                <a:spcPts val="500"/>
              </a:spcBef>
              <a:buSzPct val="100000"/>
              <a:buChar char="❖"/>
              <a:defRPr b="1">
                <a:solidFill>
                  <a:srgbClr val="FFFFFF"/>
                </a:solidFill>
                <a:latin typeface="Arial"/>
                <a:ea typeface="Arial"/>
                <a:cs typeface="Arial"/>
                <a:sym typeface="Arial"/>
              </a:defRPr>
            </a:pPr>
          </a:p>
          <a:p>
            <a:pPr marL="342900" indent="-342900" defTabSz="1216025">
              <a:spcBef>
                <a:spcPts val="400"/>
              </a:spcBef>
              <a:buSzPct val="100000"/>
              <a:buChar char="➢"/>
              <a:defRPr b="1" sz="2000">
                <a:solidFill>
                  <a:srgbClr val="FFFFFF"/>
                </a:solidFill>
                <a:latin typeface="Arial"/>
                <a:ea typeface="Arial"/>
                <a:cs typeface="Arial"/>
                <a:sym typeface="Arial"/>
              </a:defRPr>
            </a:pPr>
            <a:r>
              <a:t>Data quality for machine learning has not been properly and systematically validated.</a:t>
            </a:r>
          </a:p>
          <a:p>
            <a:pPr marL="342900" indent="-342900" defTabSz="1216025">
              <a:spcBef>
                <a:spcPts val="600"/>
              </a:spcBef>
              <a:buSzPct val="100000"/>
              <a:buChar char="➢"/>
              <a:defRPr b="1" sz="2000">
                <a:solidFill>
                  <a:srgbClr val="FFFFFF"/>
                </a:solidFill>
                <a:latin typeface="Arial"/>
                <a:ea typeface="Arial"/>
                <a:cs typeface="Arial"/>
                <a:sym typeface="Arial"/>
              </a:defRPr>
            </a:pPr>
          </a:p>
          <a:p>
            <a:pPr marL="342900" indent="-342900" defTabSz="1216025">
              <a:spcBef>
                <a:spcPts val="400"/>
              </a:spcBef>
              <a:buSzPct val="100000"/>
              <a:buChar char="➢"/>
              <a:defRPr b="1" sz="2000">
                <a:solidFill>
                  <a:srgbClr val="FFFFFF"/>
                </a:solidFill>
                <a:latin typeface="Arial"/>
                <a:ea typeface="Arial"/>
                <a:cs typeface="Arial"/>
                <a:sym typeface="Arial"/>
              </a:defRPr>
            </a:pPr>
            <a:r>
              <a:t>There are no “one-size-fits-all” solutions for data quality evaluation and improvement.</a:t>
            </a:r>
          </a:p>
        </p:txBody>
      </p:sp>
      <p:sp>
        <p:nvSpPr>
          <p:cNvPr id="132"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133" name="Why Data Quality"/>
          <p:cNvSpPr txBox="1"/>
          <p:nvPr/>
        </p:nvSpPr>
        <p:spPr>
          <a:xfrm>
            <a:off x="190182" y="207962"/>
            <a:ext cx="2610704"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Why Data Quality</a:t>
            </a:r>
          </a:p>
        </p:txBody>
      </p:sp>
      <p:sp>
        <p:nvSpPr>
          <p:cNvPr id="134"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135" name="Slide Number"/>
          <p:cNvSpPr txBox="1"/>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131"/>
                                        </p:tgtEl>
                                        <p:attrNameLst>
                                          <p:attrName>style.visibility</p:attrName>
                                        </p:attrNameLst>
                                      </p:cBhvr>
                                      <p:to>
                                        <p:strVal val="visible"/>
                                      </p:to>
                                    </p:set>
                                    <p:animEffect filter="blinds(horizontal)" transition="in">
                                      <p:cBhvr>
                                        <p:cTn id="7" dur="500"/>
                                        <p:tgtEl>
                                          <p:spTgt spid="13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31" grpId="1"/>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9"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142" name="Group"/>
          <p:cNvGrpSpPr/>
          <p:nvPr/>
        </p:nvGrpSpPr>
        <p:grpSpPr>
          <a:xfrm>
            <a:off x="10625137" y="5580062"/>
            <a:ext cx="1566864" cy="1281113"/>
            <a:chOff x="0" y="0"/>
            <a:chExt cx="1566862" cy="1281112"/>
          </a:xfrm>
        </p:grpSpPr>
        <p:pic>
          <p:nvPicPr>
            <p:cNvPr id="140"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141"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143" name="Data quality…"/>
          <p:cNvSpPr txBox="1"/>
          <p:nvPr/>
        </p:nvSpPr>
        <p:spPr>
          <a:xfrm>
            <a:off x="430212" y="1555750"/>
            <a:ext cx="11055351" cy="392698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400"/>
              </a:spcBef>
              <a:buSzPct val="100000"/>
              <a:buChar char="➢"/>
              <a:defRPr b="1" sz="2000">
                <a:solidFill>
                  <a:srgbClr val="FFFFFF"/>
                </a:solidFill>
                <a:latin typeface="Arial"/>
                <a:ea typeface="Arial"/>
                <a:cs typeface="Arial"/>
                <a:sym typeface="Arial"/>
              </a:defRPr>
            </a:pPr>
            <a:r>
              <a:t>Data quality</a:t>
            </a:r>
          </a:p>
          <a:p>
            <a:pPr lvl="1" marL="1085850" indent="-342900" defTabSz="1216025">
              <a:spcBef>
                <a:spcPts val="300"/>
              </a:spcBef>
              <a:buSzPct val="100000"/>
              <a:buChar char="❖"/>
              <a:defRPr b="1" sz="1600">
                <a:solidFill>
                  <a:srgbClr val="FFFFFF"/>
                </a:solidFill>
                <a:latin typeface="Arial"/>
                <a:ea typeface="Arial"/>
                <a:cs typeface="Arial"/>
                <a:sym typeface="Arial"/>
              </a:defRPr>
            </a:pPr>
            <a:r>
              <a:t>“Fit for purpose” of applications.</a:t>
            </a:r>
          </a:p>
          <a:p>
            <a:pPr lvl="1" marL="1085850" indent="-342900" defTabSz="1216025">
              <a:spcBef>
                <a:spcPts val="300"/>
              </a:spcBef>
              <a:buSzPct val="100000"/>
              <a:buChar char="❖"/>
              <a:defRPr b="1" sz="1600">
                <a:solidFill>
                  <a:srgbClr val="FFFFFF"/>
                </a:solidFill>
                <a:latin typeface="Arial"/>
                <a:ea typeface="Arial"/>
                <a:cs typeface="Arial"/>
                <a:sym typeface="Arial"/>
              </a:defRPr>
            </a:pPr>
            <a:r>
              <a:t>Four basic standards for high-quality data in machine learning defined by Andrew: defined consistently, cover of important cases, has timely feedback from production data, and sized appropriately.  (Andrew, 2021)</a:t>
            </a:r>
          </a:p>
          <a:p>
            <a:pPr marL="342900" indent="-342900" defTabSz="1216025">
              <a:spcBef>
                <a:spcPts val="600"/>
              </a:spcBef>
              <a:buSzPct val="100000"/>
              <a:buChar char="➢"/>
              <a:defRPr b="1" sz="2000">
                <a:solidFill>
                  <a:srgbClr val="FFFFFF"/>
                </a:solidFill>
                <a:latin typeface="Arial"/>
                <a:ea typeface="Arial"/>
                <a:cs typeface="Arial"/>
                <a:sym typeface="Arial"/>
              </a:defRPr>
            </a:pPr>
          </a:p>
          <a:p>
            <a:pPr marL="342900" indent="-342900" defTabSz="1216025">
              <a:spcBef>
                <a:spcPts val="400"/>
              </a:spcBef>
              <a:buSzPct val="100000"/>
              <a:buChar char="➢"/>
              <a:defRPr b="1" sz="2000">
                <a:solidFill>
                  <a:srgbClr val="FFFFFF"/>
                </a:solidFill>
                <a:latin typeface="Arial"/>
                <a:ea typeface="Arial"/>
                <a:cs typeface="Arial"/>
                <a:sym typeface="Arial"/>
              </a:defRPr>
            </a:pPr>
            <a:r>
              <a:t>Data quality problems: a set of issues that can affect the potentiality of the applications that use the data</a:t>
            </a:r>
          </a:p>
          <a:p>
            <a:pPr lvl="1" marL="1085850" indent="-342900" defTabSz="1216025">
              <a:spcBef>
                <a:spcPts val="400"/>
              </a:spcBef>
              <a:buSzPct val="100000"/>
              <a:buChar char="❖"/>
              <a:defRPr b="1">
                <a:solidFill>
                  <a:srgbClr val="FFFFFF"/>
                </a:solidFill>
                <a:latin typeface="Arial"/>
                <a:ea typeface="Arial"/>
                <a:cs typeface="Arial"/>
                <a:sym typeface="Arial"/>
              </a:defRPr>
            </a:pPr>
            <a:r>
              <a:t>Lacking enough training data</a:t>
            </a:r>
          </a:p>
          <a:p>
            <a:pPr lvl="1" marL="1085850" indent="-342900" defTabSz="1216025">
              <a:spcBef>
                <a:spcPts val="400"/>
              </a:spcBef>
              <a:buSzPct val="100000"/>
              <a:buChar char="❖"/>
              <a:defRPr b="1">
                <a:solidFill>
                  <a:srgbClr val="FFFFFF"/>
                </a:solidFill>
                <a:latin typeface="Arial"/>
                <a:ea typeface="Arial"/>
                <a:cs typeface="Arial"/>
                <a:sym typeface="Arial"/>
              </a:defRPr>
            </a:pPr>
            <a:r>
              <a:t>Invalid data and label noises</a:t>
            </a:r>
          </a:p>
          <a:p>
            <a:pPr lvl="1" marL="1085850" indent="-342900" defTabSz="1216025">
              <a:spcBef>
                <a:spcPts val="400"/>
              </a:spcBef>
              <a:buSzPct val="100000"/>
              <a:buChar char="❖"/>
              <a:defRPr b="1">
                <a:solidFill>
                  <a:srgbClr val="FFFFFF"/>
                </a:solidFill>
                <a:latin typeface="Arial"/>
                <a:ea typeface="Arial"/>
                <a:cs typeface="Arial"/>
                <a:sym typeface="Arial"/>
              </a:defRPr>
            </a:pPr>
            <a:r>
              <a:t>Significant imbalanced training data</a:t>
            </a:r>
          </a:p>
          <a:p>
            <a:pPr lvl="1" marL="1085850" indent="-342900" defTabSz="1216025">
              <a:spcBef>
                <a:spcPts val="400"/>
              </a:spcBef>
              <a:buSzPct val="100000"/>
              <a:buChar char="❖"/>
              <a:defRPr b="1">
                <a:solidFill>
                  <a:srgbClr val="FFFFFF"/>
                </a:solidFill>
                <a:latin typeface="Arial"/>
                <a:ea typeface="Arial"/>
                <a:cs typeface="Arial"/>
                <a:sym typeface="Arial"/>
              </a:defRPr>
            </a:pPr>
            <a:r>
              <a:t>Duplication</a:t>
            </a:r>
          </a:p>
          <a:p>
            <a:pPr lvl="1" marL="1085850" indent="-342900" defTabSz="1216025">
              <a:spcBef>
                <a:spcPts val="400"/>
              </a:spcBef>
              <a:buSzPct val="100000"/>
              <a:buChar char="❖"/>
              <a:defRPr b="1">
                <a:solidFill>
                  <a:srgbClr val="FFFFFF"/>
                </a:solidFill>
                <a:latin typeface="Arial"/>
                <a:ea typeface="Arial"/>
                <a:cs typeface="Arial"/>
                <a:sym typeface="Arial"/>
              </a:defRPr>
            </a:pPr>
            <a:r>
              <a:t>. . .</a:t>
            </a:r>
          </a:p>
        </p:txBody>
      </p:sp>
      <p:sp>
        <p:nvSpPr>
          <p:cNvPr id="144"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145" name="Definition"/>
          <p:cNvSpPr txBox="1"/>
          <p:nvPr/>
        </p:nvSpPr>
        <p:spPr>
          <a:xfrm>
            <a:off x="190182" y="207962"/>
            <a:ext cx="1509376"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Definition</a:t>
            </a:r>
          </a:p>
        </p:txBody>
      </p:sp>
      <p:sp>
        <p:nvSpPr>
          <p:cNvPr id="146"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147" name="Slide Number"/>
          <p:cNvSpPr txBox="1"/>
          <p:nvPr>
            <p:ph type="sldNum" sz="quarter" idx="2"/>
          </p:nvPr>
        </p:nvSpPr>
        <p:spPr>
          <a:xfrm>
            <a:off x="11172418" y="6414760"/>
            <a:ext cx="181383"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143"/>
                                        </p:tgtEl>
                                        <p:attrNameLst>
                                          <p:attrName>style.visibility</p:attrName>
                                        </p:attrNameLst>
                                      </p:cBhvr>
                                      <p:to>
                                        <p:strVal val="visible"/>
                                      </p:to>
                                    </p:set>
                                    <p:animEffect filter="blinds(horizontal)" transition="in">
                                      <p:cBhvr>
                                        <p:cTn id="7" dur="500"/>
                                        <p:tgtEl>
                                          <p:spTgt spid="1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43" grpId="1"/>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9"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152" name="Group"/>
          <p:cNvGrpSpPr/>
          <p:nvPr/>
        </p:nvGrpSpPr>
        <p:grpSpPr>
          <a:xfrm>
            <a:off x="10625137" y="5580062"/>
            <a:ext cx="1566864" cy="1281113"/>
            <a:chOff x="0" y="0"/>
            <a:chExt cx="1566862" cy="1281112"/>
          </a:xfrm>
        </p:grpSpPr>
        <p:pic>
          <p:nvPicPr>
            <p:cNvPr id="150"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151"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153" name="High-quality data (“good data”)…"/>
          <p:cNvSpPr txBox="1"/>
          <p:nvPr/>
        </p:nvSpPr>
        <p:spPr>
          <a:xfrm>
            <a:off x="430212" y="1555750"/>
            <a:ext cx="11055351" cy="429731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400"/>
              </a:spcBef>
              <a:buSzPct val="100000"/>
              <a:buChar char="➢"/>
              <a:defRPr b="1" sz="2000">
                <a:solidFill>
                  <a:srgbClr val="FFFFFF"/>
                </a:solidFill>
                <a:latin typeface="Arial"/>
                <a:ea typeface="Arial"/>
                <a:cs typeface="Arial"/>
                <a:sym typeface="Arial"/>
              </a:defRPr>
            </a:pPr>
            <a:r>
              <a:t>High-quality data (“good data”)</a:t>
            </a:r>
          </a:p>
          <a:p>
            <a:pPr lvl="1" marL="1085850" indent="-342900" defTabSz="1216025">
              <a:spcBef>
                <a:spcPts val="300"/>
              </a:spcBef>
              <a:buSzPct val="100000"/>
              <a:buChar char="❖"/>
              <a:defRPr b="1" sz="1600">
                <a:solidFill>
                  <a:srgbClr val="FFFFFF"/>
                </a:solidFill>
                <a:latin typeface="Arial"/>
                <a:ea typeface="Arial"/>
                <a:cs typeface="Arial"/>
                <a:sym typeface="Arial"/>
              </a:defRPr>
            </a:pPr>
            <a:r>
              <a:t>Measure the quantitative and qualitative properties of data.</a:t>
            </a:r>
          </a:p>
          <a:p>
            <a:pPr lvl="1" marL="1085850" indent="-342900" defTabSz="1216025">
              <a:spcBef>
                <a:spcPts val="300"/>
              </a:spcBef>
              <a:buSzPct val="100000"/>
              <a:buChar char="❖"/>
              <a:defRPr b="1" sz="1600">
                <a:solidFill>
                  <a:srgbClr val="FFFFFF"/>
                </a:solidFill>
                <a:latin typeface="Arial"/>
                <a:ea typeface="Arial"/>
                <a:cs typeface="Arial"/>
                <a:sym typeface="Arial"/>
              </a:defRPr>
            </a:pPr>
            <a:r>
              <a:t>Data that are fit for use by data consumers. (Wang and Strong, 1996)</a:t>
            </a:r>
          </a:p>
          <a:p>
            <a:pPr lvl="1" marL="1085850" indent="-342900" defTabSz="1216025">
              <a:spcBef>
                <a:spcPts val="300"/>
              </a:spcBef>
              <a:buSzPct val="100000"/>
              <a:buChar char="❖"/>
              <a:defRPr b="1" sz="1600">
                <a:solidFill>
                  <a:srgbClr val="FFFFFF"/>
                </a:solidFill>
                <a:latin typeface="Arial"/>
                <a:ea typeface="Arial"/>
                <a:cs typeface="Arial"/>
                <a:sym typeface="Arial"/>
              </a:defRPr>
            </a:pPr>
            <a:r>
              <a:t>The capability of the data for “fit for purpose” of building a machine learning system. (Chen et al., 2021)</a:t>
            </a:r>
          </a:p>
          <a:p>
            <a:pPr marL="342900" indent="-342900" defTabSz="1216025">
              <a:spcBef>
                <a:spcPts val="600"/>
              </a:spcBef>
              <a:buSzPct val="100000"/>
              <a:buChar char="➢"/>
              <a:defRPr b="1" sz="2000">
                <a:solidFill>
                  <a:srgbClr val="FFFFFF"/>
                </a:solidFill>
                <a:latin typeface="Arial"/>
                <a:ea typeface="Arial"/>
                <a:cs typeface="Arial"/>
                <a:sym typeface="Arial"/>
              </a:defRPr>
            </a:pPr>
          </a:p>
          <a:p>
            <a:pPr marL="342900" indent="-342900" defTabSz="1216025">
              <a:spcBef>
                <a:spcPts val="400"/>
              </a:spcBef>
              <a:buSzPct val="100000"/>
              <a:buChar char="➢"/>
              <a:defRPr b="1" sz="2000">
                <a:solidFill>
                  <a:srgbClr val="FFFFFF"/>
                </a:solidFill>
                <a:latin typeface="Arial"/>
                <a:ea typeface="Arial"/>
                <a:cs typeface="Arial"/>
                <a:sym typeface="Arial"/>
              </a:defRPr>
            </a:pPr>
            <a:r>
              <a:t>Data quality dimensions: a set of data quality attributes that represent a single aspect or construct of data quality (Wang and Strong, 1996)</a:t>
            </a:r>
          </a:p>
          <a:p>
            <a:pPr lvl="1" marL="1085850" indent="-342900" defTabSz="1216025">
              <a:spcBef>
                <a:spcPts val="400"/>
              </a:spcBef>
              <a:buSzPct val="100000"/>
              <a:buChar char="❖"/>
              <a:defRPr b="1">
                <a:solidFill>
                  <a:srgbClr val="FFFFFF"/>
                </a:solidFill>
                <a:latin typeface="Arial"/>
                <a:ea typeface="Arial"/>
                <a:cs typeface="Arial"/>
                <a:sym typeface="Arial"/>
              </a:defRPr>
            </a:pPr>
            <a:r>
              <a:t>Comprehensiveness</a:t>
            </a:r>
          </a:p>
          <a:p>
            <a:pPr lvl="1" marL="1085850" indent="-342900" defTabSz="1216025">
              <a:spcBef>
                <a:spcPts val="400"/>
              </a:spcBef>
              <a:buSzPct val="100000"/>
              <a:buChar char="❖"/>
              <a:defRPr b="1">
                <a:solidFill>
                  <a:srgbClr val="FFFFFF"/>
                </a:solidFill>
                <a:latin typeface="Arial"/>
                <a:ea typeface="Arial"/>
                <a:cs typeface="Arial"/>
                <a:sym typeface="Arial"/>
              </a:defRPr>
            </a:pPr>
            <a:r>
              <a:t>Correctness</a:t>
            </a:r>
          </a:p>
          <a:p>
            <a:pPr lvl="1" marL="1085850" indent="-342900" defTabSz="1216025">
              <a:spcBef>
                <a:spcPts val="400"/>
              </a:spcBef>
              <a:buSzPct val="100000"/>
              <a:buChar char="❖"/>
              <a:defRPr b="1">
                <a:solidFill>
                  <a:srgbClr val="FFFFFF"/>
                </a:solidFill>
                <a:latin typeface="Arial"/>
                <a:ea typeface="Arial"/>
                <a:cs typeface="Arial"/>
                <a:sym typeface="Arial"/>
              </a:defRPr>
            </a:pPr>
            <a:r>
              <a:t>Variety</a:t>
            </a:r>
          </a:p>
          <a:p>
            <a:pPr lvl="1" marL="1085850" indent="-342900" defTabSz="1216025">
              <a:spcBef>
                <a:spcPts val="400"/>
              </a:spcBef>
              <a:buSzPct val="100000"/>
              <a:buChar char="❖"/>
              <a:defRPr b="1">
                <a:solidFill>
                  <a:srgbClr val="FFFFFF"/>
                </a:solidFill>
                <a:latin typeface="Arial"/>
                <a:ea typeface="Arial"/>
                <a:cs typeface="Arial"/>
                <a:sym typeface="Arial"/>
              </a:defRPr>
            </a:pPr>
            <a:r>
              <a:t>Completeness</a:t>
            </a:r>
          </a:p>
          <a:p>
            <a:pPr lvl="1" marL="1085850" indent="-342900" defTabSz="1216025">
              <a:spcBef>
                <a:spcPts val="400"/>
              </a:spcBef>
              <a:buSzPct val="100000"/>
              <a:buChar char="❖"/>
              <a:defRPr b="1">
                <a:solidFill>
                  <a:srgbClr val="FFFFFF"/>
                </a:solidFill>
                <a:latin typeface="Arial"/>
                <a:ea typeface="Arial"/>
                <a:cs typeface="Arial"/>
                <a:sym typeface="Arial"/>
              </a:defRPr>
            </a:pPr>
            <a:r>
              <a:t>Timeliness</a:t>
            </a:r>
          </a:p>
          <a:p>
            <a:pPr lvl="1" marL="1085850" indent="-342900" defTabSz="1216025">
              <a:spcBef>
                <a:spcPts val="400"/>
              </a:spcBef>
              <a:buSzPct val="100000"/>
              <a:buChar char="❖"/>
              <a:defRPr b="1">
                <a:solidFill>
                  <a:srgbClr val="FFFFFF"/>
                </a:solidFill>
                <a:latin typeface="Arial"/>
                <a:ea typeface="Arial"/>
                <a:cs typeface="Arial"/>
                <a:sym typeface="Arial"/>
              </a:defRPr>
            </a:pPr>
            <a:r>
              <a:t>. . .</a:t>
            </a:r>
          </a:p>
        </p:txBody>
      </p:sp>
      <p:sp>
        <p:nvSpPr>
          <p:cNvPr id="154"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155" name="Definition"/>
          <p:cNvSpPr txBox="1"/>
          <p:nvPr/>
        </p:nvSpPr>
        <p:spPr>
          <a:xfrm>
            <a:off x="190182" y="207962"/>
            <a:ext cx="1509376"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Definition</a:t>
            </a:r>
          </a:p>
        </p:txBody>
      </p:sp>
      <p:sp>
        <p:nvSpPr>
          <p:cNvPr id="156"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157"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153"/>
                                        </p:tgtEl>
                                        <p:attrNameLst>
                                          <p:attrName>style.visibility</p:attrName>
                                        </p:attrNameLst>
                                      </p:cBhvr>
                                      <p:to>
                                        <p:strVal val="visible"/>
                                      </p:to>
                                    </p:set>
                                    <p:animEffect filter="blinds(horizontal)" transition="in">
                                      <p:cBhvr>
                                        <p:cTn id="7" dur="500"/>
                                        <p:tgtEl>
                                          <p:spTgt spid="1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53" grpId="1"/>
    </p:bld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9"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162" name="Group"/>
          <p:cNvGrpSpPr/>
          <p:nvPr/>
        </p:nvGrpSpPr>
        <p:grpSpPr>
          <a:xfrm>
            <a:off x="10625137" y="5580062"/>
            <a:ext cx="1566864" cy="1281113"/>
            <a:chOff x="0" y="0"/>
            <a:chExt cx="1566862" cy="1281112"/>
          </a:xfrm>
        </p:grpSpPr>
        <p:pic>
          <p:nvPicPr>
            <p:cNvPr id="160"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161"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163" name="Data quality evaluation (“data quality assessment”)…"/>
          <p:cNvSpPr txBox="1"/>
          <p:nvPr/>
        </p:nvSpPr>
        <p:spPr>
          <a:xfrm>
            <a:off x="430212" y="1555750"/>
            <a:ext cx="11055351" cy="319832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400"/>
              </a:spcBef>
              <a:buSzPct val="100000"/>
              <a:buChar char="➢"/>
              <a:defRPr b="1" sz="2000">
                <a:solidFill>
                  <a:srgbClr val="FFFFFF"/>
                </a:solidFill>
                <a:latin typeface="Arial"/>
                <a:ea typeface="Arial"/>
                <a:cs typeface="Arial"/>
                <a:sym typeface="Arial"/>
              </a:defRPr>
            </a:pPr>
            <a:r>
              <a:t>Data quality evaluation (“data quality assessment”)</a:t>
            </a:r>
          </a:p>
          <a:p>
            <a:pPr lvl="1" marL="1085850" indent="-342900" defTabSz="1216025">
              <a:spcBef>
                <a:spcPts val="300"/>
              </a:spcBef>
              <a:buSzPct val="100000"/>
              <a:buChar char="❖"/>
              <a:defRPr b="1" sz="1600">
                <a:solidFill>
                  <a:srgbClr val="FFFFFF"/>
                </a:solidFill>
                <a:latin typeface="Arial"/>
                <a:ea typeface="Arial"/>
                <a:cs typeface="Arial"/>
                <a:sym typeface="Arial"/>
              </a:defRPr>
            </a:pPr>
            <a:r>
              <a:t>How to evaluate each data quality dimension. (Cai et al., 2015)</a:t>
            </a:r>
          </a:p>
          <a:p>
            <a:pPr lvl="1" marL="1085850" indent="-342900" defTabSz="1216025">
              <a:spcBef>
                <a:spcPts val="300"/>
              </a:spcBef>
              <a:buSzPct val="100000"/>
              <a:buChar char="❖"/>
              <a:defRPr b="1" sz="1600">
                <a:solidFill>
                  <a:srgbClr val="FFFFFF"/>
                </a:solidFill>
                <a:latin typeface="Arial"/>
                <a:ea typeface="Arial"/>
                <a:cs typeface="Arial"/>
                <a:sym typeface="Arial"/>
              </a:defRPr>
            </a:pPr>
            <a:r>
              <a:t> Qualitative method: performed by subject experts or professionals.  </a:t>
            </a:r>
          </a:p>
          <a:p>
            <a:pPr lvl="1" marL="1085850" indent="-342900" defTabSz="1216025">
              <a:spcBef>
                <a:spcPts val="300"/>
              </a:spcBef>
              <a:buSzPct val="100000"/>
              <a:buChar char="❖"/>
              <a:defRPr b="1" sz="1600">
                <a:solidFill>
                  <a:srgbClr val="FFFFFF"/>
                </a:solidFill>
                <a:latin typeface="Arial"/>
                <a:ea typeface="Arial"/>
                <a:cs typeface="Arial"/>
                <a:sym typeface="Arial"/>
              </a:defRPr>
            </a:pPr>
            <a:r>
              <a:t> Quantitative method: a formal, objective, and systematic process in which numerical data are utilized to obtain information.</a:t>
            </a:r>
          </a:p>
          <a:p>
            <a:pPr lvl="1" marL="1085850" indent="-342900" defTabSz="1216025">
              <a:spcBef>
                <a:spcPts val="300"/>
              </a:spcBef>
              <a:buSzPct val="100000"/>
              <a:buChar char="❖"/>
              <a:defRPr b="1" sz="1600">
                <a:solidFill>
                  <a:srgbClr val="FFFFFF"/>
                </a:solidFill>
                <a:latin typeface="Arial"/>
                <a:ea typeface="Arial"/>
                <a:cs typeface="Arial"/>
                <a:sym typeface="Arial"/>
              </a:defRPr>
            </a:pPr>
            <a:r>
              <a:t>Data quality evaluation results offer guidelines for data quality improvement.</a:t>
            </a:r>
          </a:p>
          <a:p>
            <a:pPr lvl="1" marL="1085850" indent="-342900" defTabSz="1216025">
              <a:spcBef>
                <a:spcPts val="500"/>
              </a:spcBef>
              <a:buSzPct val="100000"/>
              <a:buChar char="❖"/>
              <a:defRPr b="1" sz="2000">
                <a:solidFill>
                  <a:srgbClr val="FFFFFF"/>
                </a:solidFill>
                <a:latin typeface="Arial"/>
                <a:ea typeface="Arial"/>
                <a:cs typeface="Arial"/>
                <a:sym typeface="Arial"/>
              </a:defRPr>
            </a:pPr>
          </a:p>
          <a:p>
            <a:pPr marL="342900" indent="-342900" defTabSz="1216025">
              <a:spcBef>
                <a:spcPts val="400"/>
              </a:spcBef>
              <a:buSzPct val="100000"/>
              <a:buChar char="➢"/>
              <a:defRPr b="1" sz="2000">
                <a:solidFill>
                  <a:srgbClr val="FFFFFF"/>
                </a:solidFill>
                <a:latin typeface="Arial"/>
                <a:ea typeface="Arial"/>
                <a:cs typeface="Arial"/>
                <a:sym typeface="Arial"/>
              </a:defRPr>
            </a:pPr>
            <a:r>
              <a:t>Data quality improvement</a:t>
            </a:r>
          </a:p>
          <a:p>
            <a:pPr lvl="1" marL="1085850" indent="-342900" defTabSz="1216025">
              <a:spcBef>
                <a:spcPts val="300"/>
              </a:spcBef>
              <a:buSzPct val="100000"/>
              <a:buChar char="❖"/>
              <a:defRPr b="1" sz="1600">
                <a:solidFill>
                  <a:srgbClr val="FFFFFF"/>
                </a:solidFill>
                <a:latin typeface="Arial"/>
                <a:ea typeface="Arial"/>
                <a:cs typeface="Arial"/>
                <a:sym typeface="Arial"/>
              </a:defRPr>
            </a:pPr>
            <a:r>
              <a:t>Detect and remove errors, inconsistencies, and other data quality issues.</a:t>
            </a:r>
          </a:p>
          <a:p>
            <a:pPr lvl="1" marL="1085850" indent="-342900" defTabSz="1216025">
              <a:spcBef>
                <a:spcPts val="300"/>
              </a:spcBef>
              <a:buSzPct val="100000"/>
              <a:buChar char="❖"/>
              <a:defRPr b="1" sz="1600">
                <a:solidFill>
                  <a:srgbClr val="FFFFFF"/>
                </a:solidFill>
                <a:latin typeface="Arial"/>
                <a:ea typeface="Arial"/>
                <a:cs typeface="Arial"/>
                <a:sym typeface="Arial"/>
              </a:defRPr>
            </a:pPr>
            <a:r>
              <a:t>Data quality can be improved systematically and iteratively. (Andrew, 2021)</a:t>
            </a:r>
          </a:p>
        </p:txBody>
      </p:sp>
      <p:sp>
        <p:nvSpPr>
          <p:cNvPr id="164"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165" name="Definition"/>
          <p:cNvSpPr txBox="1"/>
          <p:nvPr/>
        </p:nvSpPr>
        <p:spPr>
          <a:xfrm>
            <a:off x="190182" y="207962"/>
            <a:ext cx="1509376"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Definition</a:t>
            </a:r>
          </a:p>
        </p:txBody>
      </p:sp>
      <p:sp>
        <p:nvSpPr>
          <p:cNvPr id="166"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167"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163"/>
                                        </p:tgtEl>
                                        <p:attrNameLst>
                                          <p:attrName>style.visibility</p:attrName>
                                        </p:attrNameLst>
                                      </p:cBhvr>
                                      <p:to>
                                        <p:strVal val="visible"/>
                                      </p:to>
                                    </p:set>
                                    <p:animEffect filter="blinds(horizontal)" transition="in">
                                      <p:cBhvr>
                                        <p:cTn id="7" dur="500"/>
                                        <p:tgtEl>
                                          <p:spTgt spid="1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63" grpId="1"/>
    </p:bld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9"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172" name="Group"/>
          <p:cNvGrpSpPr/>
          <p:nvPr/>
        </p:nvGrpSpPr>
        <p:grpSpPr>
          <a:xfrm>
            <a:off x="10625137" y="5580062"/>
            <a:ext cx="1566864" cy="1281113"/>
            <a:chOff x="0" y="0"/>
            <a:chExt cx="1566862" cy="1281112"/>
          </a:xfrm>
        </p:grpSpPr>
        <p:pic>
          <p:nvPicPr>
            <p:cNvPr id="170"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171"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173"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174" name="Data Quality Evaluation Framework"/>
          <p:cNvSpPr txBox="1"/>
          <p:nvPr/>
        </p:nvSpPr>
        <p:spPr>
          <a:xfrm>
            <a:off x="190182" y="207962"/>
            <a:ext cx="5219512"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Data Quality Evaluation Framework</a:t>
            </a:r>
          </a:p>
        </p:txBody>
      </p:sp>
      <p:sp>
        <p:nvSpPr>
          <p:cNvPr id="175"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176"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77" name="image.png" descr="image.png"/>
          <p:cNvPicPr>
            <a:picLocks noChangeAspect="1"/>
          </p:cNvPicPr>
          <p:nvPr/>
        </p:nvPicPr>
        <p:blipFill>
          <a:blip r:embed="rId4">
            <a:extLst/>
          </a:blip>
          <a:stretch>
            <a:fillRect/>
          </a:stretch>
        </p:blipFill>
        <p:spPr>
          <a:xfrm>
            <a:off x="2987675" y="1646237"/>
            <a:ext cx="5915025" cy="3565526"/>
          </a:xfrm>
          <a:prstGeom prst="rect">
            <a:avLst/>
          </a:prstGeom>
          <a:ln w="12700">
            <a:miter lim="400000"/>
          </a:ln>
        </p:spPr>
      </p:pic>
      <p:sp>
        <p:nvSpPr>
          <p:cNvPr id="178" name="Wang, R. Y., &amp; Strong, D. M. (1996). Beyond accuracy: What data quality means to data consumers. Journal of management information systems, 12(4), 5-33."/>
          <p:cNvSpPr txBox="1"/>
          <p:nvPr/>
        </p:nvSpPr>
        <p:spPr>
          <a:xfrm>
            <a:off x="1569719" y="5497512"/>
            <a:ext cx="8158799" cy="438806"/>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1200">
                <a:solidFill>
                  <a:srgbClr val="FFFFFF"/>
                </a:solidFill>
              </a:defRPr>
            </a:lvl1pPr>
          </a:lstStyle>
          <a:p>
            <a:pPr/>
            <a:r>
              <a:t>Wang, R. Y., &amp; Strong, D. M. (1996). Beyond accuracy: What data quality means to data consumers. Journal of management information systems, 12(4), 5-33.</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0"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183" name="Group"/>
          <p:cNvGrpSpPr/>
          <p:nvPr/>
        </p:nvGrpSpPr>
        <p:grpSpPr>
          <a:xfrm>
            <a:off x="10625137" y="5580062"/>
            <a:ext cx="1566864" cy="1281113"/>
            <a:chOff x="0" y="0"/>
            <a:chExt cx="1566862" cy="1281112"/>
          </a:xfrm>
        </p:grpSpPr>
        <p:pic>
          <p:nvPicPr>
            <p:cNvPr id="181"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182"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184"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185" name="Data Quality Evaluation for Machine Learning"/>
          <p:cNvSpPr txBox="1"/>
          <p:nvPr/>
        </p:nvSpPr>
        <p:spPr>
          <a:xfrm>
            <a:off x="190182" y="207962"/>
            <a:ext cx="6675498"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Data Quality Evaluation for Machine Learning</a:t>
            </a:r>
          </a:p>
        </p:txBody>
      </p:sp>
      <p:sp>
        <p:nvSpPr>
          <p:cNvPr id="186"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187"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pic>
        <p:nvPicPr>
          <p:cNvPr id="188" name="image.png" descr="image.png"/>
          <p:cNvPicPr>
            <a:picLocks noChangeAspect="1"/>
          </p:cNvPicPr>
          <p:nvPr/>
        </p:nvPicPr>
        <p:blipFill>
          <a:blip r:embed="rId4">
            <a:extLst/>
          </a:blip>
          <a:stretch>
            <a:fillRect/>
          </a:stretch>
        </p:blipFill>
        <p:spPr>
          <a:xfrm>
            <a:off x="4556125" y="1336675"/>
            <a:ext cx="3408363" cy="4722813"/>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90" name="image.png" descr="image.png"/>
          <p:cNvPicPr>
            <a:picLocks noChangeAspect="1"/>
          </p:cNvPicPr>
          <p:nvPr/>
        </p:nvPicPr>
        <p:blipFill>
          <a:blip r:embed="rId2">
            <a:extLst/>
          </a:blip>
          <a:stretch>
            <a:fillRect/>
          </a:stretch>
        </p:blipFill>
        <p:spPr>
          <a:xfrm>
            <a:off x="2632075" y="354012"/>
            <a:ext cx="7481888" cy="3743326"/>
          </a:xfrm>
          <a:prstGeom prst="rect">
            <a:avLst/>
          </a:prstGeom>
          <a:ln w="12700">
            <a:miter lim="400000"/>
          </a:ln>
        </p:spPr>
      </p:pic>
      <p:sp>
        <p:nvSpPr>
          <p:cNvPr id="191" name="Rectangle"/>
          <p:cNvSpPr/>
          <p:nvPr/>
        </p:nvSpPr>
        <p:spPr>
          <a:xfrm>
            <a:off x="0" y="4902200"/>
            <a:ext cx="12192000" cy="1955800"/>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192" name="3"/>
          <p:cNvSpPr txBox="1"/>
          <p:nvPr/>
        </p:nvSpPr>
        <p:spPr>
          <a:xfrm>
            <a:off x="45720" y="1571625"/>
            <a:ext cx="1403985" cy="53365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4400">
                <a:solidFill>
                  <a:srgbClr val="1C4885"/>
                </a:solidFill>
                <a:latin typeface="Microsoft YaHei"/>
                <a:ea typeface="Microsoft YaHei"/>
                <a:cs typeface="Microsoft YaHei"/>
                <a:sym typeface="Microsoft YaHei"/>
              </a:defRPr>
            </a:lvl1pPr>
          </a:lstStyle>
          <a:p>
            <a:pPr/>
            <a:r>
              <a:t>3</a:t>
            </a:r>
          </a:p>
        </p:txBody>
      </p:sp>
      <p:sp>
        <p:nvSpPr>
          <p:cNvPr id="193" name="Data Preprocessing Tasks"/>
          <p:cNvSpPr txBox="1"/>
          <p:nvPr/>
        </p:nvSpPr>
        <p:spPr>
          <a:xfrm>
            <a:off x="2544444" y="3832225"/>
            <a:ext cx="9930449" cy="9169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5400">
                <a:solidFill>
                  <a:srgbClr val="1C4885"/>
                </a:solidFill>
                <a:latin typeface="Microsoft YaHei"/>
                <a:ea typeface="Microsoft YaHei"/>
                <a:cs typeface="Microsoft YaHei"/>
                <a:sym typeface="Microsoft YaHei"/>
              </a:defRPr>
            </a:lvl1pPr>
          </a:lstStyle>
          <a:p>
            <a:pPr/>
            <a:r>
              <a:t>Data Preprocessing Tasks</a:t>
            </a:r>
          </a:p>
        </p:txBody>
      </p:sp>
      <p:grpSp>
        <p:nvGrpSpPr>
          <p:cNvPr id="196" name="Group"/>
          <p:cNvGrpSpPr/>
          <p:nvPr/>
        </p:nvGrpSpPr>
        <p:grpSpPr>
          <a:xfrm>
            <a:off x="6804024" y="3178174"/>
            <a:ext cx="5578477" cy="3481389"/>
            <a:chOff x="0" y="0"/>
            <a:chExt cx="5578475" cy="3481387"/>
          </a:xfrm>
        </p:grpSpPr>
        <p:pic>
          <p:nvPicPr>
            <p:cNvPr id="194" name="image.png" descr="image.png"/>
            <p:cNvPicPr>
              <a:picLocks noChangeAspect="1"/>
            </p:cNvPicPr>
            <p:nvPr/>
          </p:nvPicPr>
          <p:blipFill>
            <a:blip r:embed="rId3">
              <a:extLst/>
            </a:blip>
            <a:srcRect l="0" t="0" r="0" b="52040"/>
            <a:stretch>
              <a:fillRect/>
            </a:stretch>
          </p:blipFill>
          <p:spPr>
            <a:xfrm>
              <a:off x="6646" y="0"/>
              <a:ext cx="5571830" cy="1720707"/>
            </a:xfrm>
            <a:prstGeom prst="rect">
              <a:avLst/>
            </a:prstGeom>
            <a:ln w="12700" cap="flat">
              <a:noFill/>
              <a:miter lim="400000"/>
            </a:ln>
            <a:effectLst/>
          </p:spPr>
        </p:pic>
        <p:pic>
          <p:nvPicPr>
            <p:cNvPr id="195" name="image.png" descr="image.png"/>
            <p:cNvPicPr>
              <a:picLocks noChangeAspect="1"/>
            </p:cNvPicPr>
            <p:nvPr/>
          </p:nvPicPr>
          <p:blipFill>
            <a:blip r:embed="rId3">
              <a:extLst/>
            </a:blip>
            <a:srcRect l="0" t="50633" r="2627" b="0"/>
            <a:stretch>
              <a:fillRect/>
            </a:stretch>
          </p:blipFill>
          <p:spPr>
            <a:xfrm>
              <a:off x="-1" y="1710252"/>
              <a:ext cx="5425464" cy="1771136"/>
            </a:xfrm>
            <a:prstGeom prst="rect">
              <a:avLst/>
            </a:prstGeom>
            <a:ln w="12700" cap="flat">
              <a:noFill/>
              <a:miter lim="400000"/>
            </a:ln>
            <a:effectLst/>
          </p:spPr>
        </p:pic>
      </p:grpSp>
      <p:sp>
        <p:nvSpPr>
          <p:cNvPr id="197" name="Shape"/>
          <p:cNvSpPr/>
          <p:nvPr/>
        </p:nvSpPr>
        <p:spPr>
          <a:xfrm>
            <a:off x="428625" y="4899025"/>
            <a:ext cx="2082800" cy="9763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292" y="0"/>
                </a:moveTo>
                <a:lnTo>
                  <a:pt x="21600" y="0"/>
                </a:lnTo>
                <a:lnTo>
                  <a:pt x="21401" y="4389"/>
                </a:lnTo>
                <a:cubicBezTo>
                  <a:pt x="20954" y="9033"/>
                  <a:pt x="19837" y="12819"/>
                  <a:pt x="18050" y="15746"/>
                </a:cubicBezTo>
                <a:cubicBezTo>
                  <a:pt x="15667" y="19649"/>
                  <a:pt x="12491" y="21600"/>
                  <a:pt x="8521" y="21600"/>
                </a:cubicBezTo>
                <a:cubicBezTo>
                  <a:pt x="4995" y="21600"/>
                  <a:pt x="2154" y="20357"/>
                  <a:pt x="0" y="17870"/>
                </a:cubicBezTo>
                <a:lnTo>
                  <a:pt x="0" y="4415"/>
                </a:lnTo>
                <a:cubicBezTo>
                  <a:pt x="2287" y="8066"/>
                  <a:pt x="4958" y="9892"/>
                  <a:pt x="8012" y="9892"/>
                </a:cubicBezTo>
                <a:cubicBezTo>
                  <a:pt x="9945" y="9892"/>
                  <a:pt x="11480" y="8979"/>
                  <a:pt x="12616" y="7154"/>
                </a:cubicBezTo>
                <a:cubicBezTo>
                  <a:pt x="13468" y="5784"/>
                  <a:pt x="14001" y="3982"/>
                  <a:pt x="14214" y="1745"/>
                </a:cubicBezTo>
                <a:lnTo>
                  <a:pt x="14292" y="0"/>
                </a:lnTo>
                <a:close/>
              </a:path>
            </a:pathLst>
          </a:custGeom>
          <a:solidFill>
            <a:srgbClr val="FFFFFF"/>
          </a:solidFill>
          <a:ln w="12700">
            <a:miter lim="400000"/>
          </a:ln>
        </p:spPr>
        <p:txBody>
          <a:bodyPr lIns="45719" rIns="45719"/>
          <a:lstStyle/>
          <a:p>
            <a:pPr/>
          </a:p>
        </p:txBody>
      </p:sp>
      <p:sp>
        <p:nvSpPr>
          <p:cNvPr id="198"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199"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1"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204" name="Group"/>
          <p:cNvGrpSpPr/>
          <p:nvPr/>
        </p:nvGrpSpPr>
        <p:grpSpPr>
          <a:xfrm>
            <a:off x="571500" y="2039937"/>
            <a:ext cx="546100" cy="541338"/>
            <a:chOff x="0" y="0"/>
            <a:chExt cx="546100" cy="541337"/>
          </a:xfrm>
        </p:grpSpPr>
        <p:sp>
          <p:nvSpPr>
            <p:cNvPr id="202" name="Shape"/>
            <p:cNvSpPr/>
            <p:nvPr/>
          </p:nvSpPr>
          <p:spPr>
            <a:xfrm>
              <a:off x="132892" y="133904"/>
              <a:ext cx="280316" cy="2735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073" y="229"/>
                  </a:moveTo>
                  <a:cubicBezTo>
                    <a:pt x="21073" y="229"/>
                    <a:pt x="18063" y="1069"/>
                    <a:pt x="15654" y="1069"/>
                  </a:cubicBezTo>
                  <a:cubicBezTo>
                    <a:pt x="13246" y="1069"/>
                    <a:pt x="10762" y="0"/>
                    <a:pt x="10762" y="0"/>
                  </a:cubicBezTo>
                  <a:cubicBezTo>
                    <a:pt x="10762" y="0"/>
                    <a:pt x="8354" y="1069"/>
                    <a:pt x="5946" y="1069"/>
                  </a:cubicBezTo>
                  <a:cubicBezTo>
                    <a:pt x="3462" y="1069"/>
                    <a:pt x="527" y="229"/>
                    <a:pt x="527" y="229"/>
                  </a:cubicBezTo>
                  <a:cubicBezTo>
                    <a:pt x="527" y="229"/>
                    <a:pt x="0" y="1984"/>
                    <a:pt x="0" y="4580"/>
                  </a:cubicBezTo>
                  <a:cubicBezTo>
                    <a:pt x="0" y="11372"/>
                    <a:pt x="2107" y="15723"/>
                    <a:pt x="5043" y="18089"/>
                  </a:cubicBezTo>
                  <a:cubicBezTo>
                    <a:pt x="6774" y="19539"/>
                    <a:pt x="9633" y="21600"/>
                    <a:pt x="10762" y="21600"/>
                  </a:cubicBezTo>
                  <a:cubicBezTo>
                    <a:pt x="11967" y="21600"/>
                    <a:pt x="14751" y="19539"/>
                    <a:pt x="16557" y="18089"/>
                  </a:cubicBezTo>
                  <a:cubicBezTo>
                    <a:pt x="19417" y="15647"/>
                    <a:pt x="21600" y="11372"/>
                    <a:pt x="21600" y="4580"/>
                  </a:cubicBezTo>
                  <a:cubicBezTo>
                    <a:pt x="21600" y="1984"/>
                    <a:pt x="21073" y="229"/>
                    <a:pt x="21073" y="229"/>
                  </a:cubicBezTo>
                  <a:close/>
                </a:path>
              </a:pathLst>
            </a:custGeom>
            <a:solidFill>
              <a:srgbClr val="FFFFFF"/>
            </a:solidFill>
            <a:ln w="12700" cap="flat">
              <a:noFill/>
              <a:miter lim="400000"/>
            </a:ln>
            <a:effectLst/>
          </p:spPr>
          <p:txBody>
            <a:bodyPr wrap="square" lIns="45719" tIns="45719" rIns="45719" bIns="45719" numCol="1" anchor="t">
              <a:noAutofit/>
            </a:bodyPr>
            <a:lstStyle/>
            <a:p>
              <a:pPr/>
            </a:p>
          </p:txBody>
        </p:sp>
        <p:sp>
          <p:nvSpPr>
            <p:cNvPr id="203" name="Circle"/>
            <p:cNvSpPr/>
            <p:nvPr/>
          </p:nvSpPr>
          <p:spPr>
            <a:xfrm>
              <a:off x="0" y="0"/>
              <a:ext cx="546100" cy="541338"/>
            </a:xfrm>
            <a:prstGeom prst="ellipse">
              <a:avLst/>
            </a:prstGeom>
            <a:noFill/>
            <a:ln w="25400" cap="flat">
              <a:solidFill>
                <a:srgbClr val="FFFFFF"/>
              </a:solidFill>
              <a:prstDash val="solid"/>
              <a:round/>
            </a:ln>
            <a:effectLst/>
          </p:spPr>
          <p:txBody>
            <a:bodyPr wrap="square" lIns="45719" tIns="45719" rIns="45719" bIns="45719" numCol="1" anchor="ctr">
              <a:noAutofit/>
            </a:bodyPr>
            <a:lstStyle/>
            <a:p>
              <a:pPr algn="ctr">
                <a:defRPr>
                  <a:solidFill>
                    <a:srgbClr val="FFFFFF"/>
                  </a:solidFill>
                </a:defRPr>
              </a:pPr>
            </a:p>
          </p:txBody>
        </p:sp>
      </p:grpSp>
      <p:grpSp>
        <p:nvGrpSpPr>
          <p:cNvPr id="207" name="Group"/>
          <p:cNvGrpSpPr/>
          <p:nvPr/>
        </p:nvGrpSpPr>
        <p:grpSpPr>
          <a:xfrm>
            <a:off x="10625137" y="5580062"/>
            <a:ext cx="1566864" cy="1281113"/>
            <a:chOff x="0" y="0"/>
            <a:chExt cx="1566862" cy="1281112"/>
          </a:xfrm>
        </p:grpSpPr>
        <p:pic>
          <p:nvPicPr>
            <p:cNvPr id="205"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206"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208" name="Data description"/>
          <p:cNvSpPr txBox="1"/>
          <p:nvPr/>
        </p:nvSpPr>
        <p:spPr>
          <a:xfrm>
            <a:off x="1270000" y="2141537"/>
            <a:ext cx="8440738" cy="2837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6025">
              <a:spcBef>
                <a:spcPts val="400"/>
              </a:spcBef>
              <a:defRPr b="1" sz="2000">
                <a:solidFill>
                  <a:srgbClr val="FFFFFF"/>
                </a:solidFill>
                <a:latin typeface="Arial"/>
                <a:ea typeface="Arial"/>
                <a:cs typeface="Arial"/>
                <a:sym typeface="Arial"/>
              </a:defRPr>
            </a:lvl1pPr>
          </a:lstStyle>
          <a:p>
            <a:pPr/>
            <a:r>
              <a:t>Data description</a:t>
            </a:r>
          </a:p>
        </p:txBody>
      </p:sp>
      <p:sp>
        <p:nvSpPr>
          <p:cNvPr id="209"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210" name="Data Preprocessing Tasks"/>
          <p:cNvSpPr txBox="1"/>
          <p:nvPr/>
        </p:nvSpPr>
        <p:spPr>
          <a:xfrm>
            <a:off x="190182" y="207962"/>
            <a:ext cx="3893454"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Data Preprocessing Tasks</a:t>
            </a:r>
          </a:p>
        </p:txBody>
      </p:sp>
      <p:grpSp>
        <p:nvGrpSpPr>
          <p:cNvPr id="213" name="Group"/>
          <p:cNvGrpSpPr/>
          <p:nvPr/>
        </p:nvGrpSpPr>
        <p:grpSpPr>
          <a:xfrm>
            <a:off x="571500" y="2924175"/>
            <a:ext cx="546100" cy="539750"/>
            <a:chOff x="0" y="0"/>
            <a:chExt cx="546100" cy="539750"/>
          </a:xfrm>
        </p:grpSpPr>
        <p:sp>
          <p:nvSpPr>
            <p:cNvPr id="211" name="Shape"/>
            <p:cNvSpPr/>
            <p:nvPr/>
          </p:nvSpPr>
          <p:spPr>
            <a:xfrm>
              <a:off x="132892" y="133511"/>
              <a:ext cx="280316" cy="27272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073" y="229"/>
                  </a:moveTo>
                  <a:cubicBezTo>
                    <a:pt x="21073" y="229"/>
                    <a:pt x="18063" y="1069"/>
                    <a:pt x="15654" y="1069"/>
                  </a:cubicBezTo>
                  <a:cubicBezTo>
                    <a:pt x="13246" y="1069"/>
                    <a:pt x="10762" y="0"/>
                    <a:pt x="10762" y="0"/>
                  </a:cubicBezTo>
                  <a:cubicBezTo>
                    <a:pt x="10762" y="0"/>
                    <a:pt x="8354" y="1069"/>
                    <a:pt x="5946" y="1069"/>
                  </a:cubicBezTo>
                  <a:cubicBezTo>
                    <a:pt x="3462" y="1069"/>
                    <a:pt x="527" y="229"/>
                    <a:pt x="527" y="229"/>
                  </a:cubicBezTo>
                  <a:cubicBezTo>
                    <a:pt x="527" y="229"/>
                    <a:pt x="0" y="1984"/>
                    <a:pt x="0" y="4580"/>
                  </a:cubicBezTo>
                  <a:cubicBezTo>
                    <a:pt x="0" y="11372"/>
                    <a:pt x="2107" y="15723"/>
                    <a:pt x="5043" y="18089"/>
                  </a:cubicBezTo>
                  <a:cubicBezTo>
                    <a:pt x="6774" y="19539"/>
                    <a:pt x="9633" y="21600"/>
                    <a:pt x="10762" y="21600"/>
                  </a:cubicBezTo>
                  <a:cubicBezTo>
                    <a:pt x="11967" y="21600"/>
                    <a:pt x="14751" y="19539"/>
                    <a:pt x="16557" y="18089"/>
                  </a:cubicBezTo>
                  <a:cubicBezTo>
                    <a:pt x="19417" y="15647"/>
                    <a:pt x="21600" y="11372"/>
                    <a:pt x="21600" y="4580"/>
                  </a:cubicBezTo>
                  <a:cubicBezTo>
                    <a:pt x="21600" y="1984"/>
                    <a:pt x="21073" y="229"/>
                    <a:pt x="21073" y="229"/>
                  </a:cubicBezTo>
                  <a:close/>
                </a:path>
              </a:pathLst>
            </a:custGeom>
            <a:solidFill>
              <a:srgbClr val="FFFFFF"/>
            </a:solidFill>
            <a:ln w="12700" cap="flat">
              <a:noFill/>
              <a:miter lim="400000"/>
            </a:ln>
            <a:effectLst/>
          </p:spPr>
          <p:txBody>
            <a:bodyPr wrap="square" lIns="45719" tIns="45719" rIns="45719" bIns="45719" numCol="1" anchor="t">
              <a:noAutofit/>
            </a:bodyPr>
            <a:lstStyle/>
            <a:p>
              <a:pPr/>
            </a:p>
          </p:txBody>
        </p:sp>
        <p:sp>
          <p:nvSpPr>
            <p:cNvPr id="212" name="Circle"/>
            <p:cNvSpPr/>
            <p:nvPr/>
          </p:nvSpPr>
          <p:spPr>
            <a:xfrm>
              <a:off x="0" y="0"/>
              <a:ext cx="546100" cy="539750"/>
            </a:xfrm>
            <a:prstGeom prst="ellipse">
              <a:avLst/>
            </a:prstGeom>
            <a:noFill/>
            <a:ln w="25400" cap="flat">
              <a:solidFill>
                <a:srgbClr val="FFFFFF"/>
              </a:solidFill>
              <a:prstDash val="solid"/>
              <a:round/>
            </a:ln>
            <a:effectLst/>
          </p:spPr>
          <p:txBody>
            <a:bodyPr wrap="square" lIns="45719" tIns="45719" rIns="45719" bIns="45719" numCol="1" anchor="ctr">
              <a:noAutofit/>
            </a:bodyPr>
            <a:lstStyle/>
            <a:p>
              <a:pPr algn="ctr">
                <a:defRPr>
                  <a:solidFill>
                    <a:srgbClr val="FFFFFF"/>
                  </a:solidFill>
                </a:defRPr>
              </a:pPr>
            </a:p>
          </p:txBody>
        </p:sp>
      </p:grpSp>
      <p:sp>
        <p:nvSpPr>
          <p:cNvPr id="214" name="Data cleaning"/>
          <p:cNvSpPr txBox="1"/>
          <p:nvPr/>
        </p:nvSpPr>
        <p:spPr>
          <a:xfrm>
            <a:off x="1255712" y="3054350"/>
            <a:ext cx="11082338" cy="2837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6025">
              <a:spcBef>
                <a:spcPts val="400"/>
              </a:spcBef>
              <a:defRPr b="1" sz="2000">
                <a:solidFill>
                  <a:srgbClr val="FFFFFF"/>
                </a:solidFill>
                <a:latin typeface="Arial"/>
                <a:ea typeface="Arial"/>
                <a:cs typeface="Arial"/>
                <a:sym typeface="Arial"/>
              </a:defRPr>
            </a:lvl1pPr>
          </a:lstStyle>
          <a:p>
            <a:pPr/>
            <a:r>
              <a:t>Data cleaning</a:t>
            </a:r>
          </a:p>
        </p:txBody>
      </p:sp>
      <p:grpSp>
        <p:nvGrpSpPr>
          <p:cNvPr id="217" name="Group"/>
          <p:cNvGrpSpPr/>
          <p:nvPr/>
        </p:nvGrpSpPr>
        <p:grpSpPr>
          <a:xfrm>
            <a:off x="571500" y="3800475"/>
            <a:ext cx="546100" cy="541338"/>
            <a:chOff x="0" y="0"/>
            <a:chExt cx="546100" cy="541337"/>
          </a:xfrm>
        </p:grpSpPr>
        <p:sp>
          <p:nvSpPr>
            <p:cNvPr id="215" name="Shape"/>
            <p:cNvSpPr/>
            <p:nvPr/>
          </p:nvSpPr>
          <p:spPr>
            <a:xfrm>
              <a:off x="132892" y="133904"/>
              <a:ext cx="280316" cy="2735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073" y="229"/>
                  </a:moveTo>
                  <a:cubicBezTo>
                    <a:pt x="21073" y="229"/>
                    <a:pt x="18063" y="1069"/>
                    <a:pt x="15654" y="1069"/>
                  </a:cubicBezTo>
                  <a:cubicBezTo>
                    <a:pt x="13246" y="1069"/>
                    <a:pt x="10762" y="0"/>
                    <a:pt x="10762" y="0"/>
                  </a:cubicBezTo>
                  <a:cubicBezTo>
                    <a:pt x="10762" y="0"/>
                    <a:pt x="8354" y="1069"/>
                    <a:pt x="5946" y="1069"/>
                  </a:cubicBezTo>
                  <a:cubicBezTo>
                    <a:pt x="3462" y="1069"/>
                    <a:pt x="527" y="229"/>
                    <a:pt x="527" y="229"/>
                  </a:cubicBezTo>
                  <a:cubicBezTo>
                    <a:pt x="527" y="229"/>
                    <a:pt x="0" y="1984"/>
                    <a:pt x="0" y="4580"/>
                  </a:cubicBezTo>
                  <a:cubicBezTo>
                    <a:pt x="0" y="11372"/>
                    <a:pt x="2107" y="15723"/>
                    <a:pt x="5043" y="18089"/>
                  </a:cubicBezTo>
                  <a:cubicBezTo>
                    <a:pt x="6774" y="19539"/>
                    <a:pt x="9633" y="21600"/>
                    <a:pt x="10762" y="21600"/>
                  </a:cubicBezTo>
                  <a:cubicBezTo>
                    <a:pt x="11967" y="21600"/>
                    <a:pt x="14751" y="19539"/>
                    <a:pt x="16557" y="18089"/>
                  </a:cubicBezTo>
                  <a:cubicBezTo>
                    <a:pt x="19417" y="15647"/>
                    <a:pt x="21600" y="11372"/>
                    <a:pt x="21600" y="4580"/>
                  </a:cubicBezTo>
                  <a:cubicBezTo>
                    <a:pt x="21600" y="1984"/>
                    <a:pt x="21073" y="229"/>
                    <a:pt x="21073" y="229"/>
                  </a:cubicBezTo>
                  <a:close/>
                </a:path>
              </a:pathLst>
            </a:custGeom>
            <a:solidFill>
              <a:srgbClr val="FFFFFF"/>
            </a:solidFill>
            <a:ln w="12700" cap="flat">
              <a:noFill/>
              <a:miter lim="400000"/>
            </a:ln>
            <a:effectLst/>
          </p:spPr>
          <p:txBody>
            <a:bodyPr wrap="square" lIns="45719" tIns="45719" rIns="45719" bIns="45719" numCol="1" anchor="t">
              <a:noAutofit/>
            </a:bodyPr>
            <a:lstStyle/>
            <a:p>
              <a:pPr/>
            </a:p>
          </p:txBody>
        </p:sp>
        <p:sp>
          <p:nvSpPr>
            <p:cNvPr id="216" name="Circle"/>
            <p:cNvSpPr/>
            <p:nvPr/>
          </p:nvSpPr>
          <p:spPr>
            <a:xfrm>
              <a:off x="0" y="0"/>
              <a:ext cx="546100" cy="541338"/>
            </a:xfrm>
            <a:prstGeom prst="ellipse">
              <a:avLst/>
            </a:prstGeom>
            <a:noFill/>
            <a:ln w="25400" cap="flat">
              <a:solidFill>
                <a:srgbClr val="FFFFFF"/>
              </a:solidFill>
              <a:prstDash val="solid"/>
              <a:round/>
            </a:ln>
            <a:effectLst/>
          </p:spPr>
          <p:txBody>
            <a:bodyPr wrap="square" lIns="45719" tIns="45719" rIns="45719" bIns="45719" numCol="1" anchor="ctr">
              <a:noAutofit/>
            </a:bodyPr>
            <a:lstStyle/>
            <a:p>
              <a:pPr algn="ctr">
                <a:defRPr>
                  <a:solidFill>
                    <a:srgbClr val="FFFFFF"/>
                  </a:solidFill>
                </a:defRPr>
              </a:pPr>
            </a:p>
          </p:txBody>
        </p:sp>
      </p:grpSp>
      <p:sp>
        <p:nvSpPr>
          <p:cNvPr id="218" name="Data integration"/>
          <p:cNvSpPr txBox="1"/>
          <p:nvPr/>
        </p:nvSpPr>
        <p:spPr>
          <a:xfrm>
            <a:off x="1270000" y="3902075"/>
            <a:ext cx="8440738" cy="2837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6025">
              <a:spcBef>
                <a:spcPts val="400"/>
              </a:spcBef>
              <a:defRPr b="1" sz="2000">
                <a:solidFill>
                  <a:srgbClr val="FFFFFF"/>
                </a:solidFill>
                <a:latin typeface="Arial"/>
                <a:ea typeface="Arial"/>
                <a:cs typeface="Arial"/>
                <a:sym typeface="Arial"/>
              </a:defRPr>
            </a:lvl1pPr>
          </a:lstStyle>
          <a:p>
            <a:pPr/>
            <a:r>
              <a:t>Data integration </a:t>
            </a:r>
          </a:p>
        </p:txBody>
      </p:sp>
      <p:grpSp>
        <p:nvGrpSpPr>
          <p:cNvPr id="221" name="Group"/>
          <p:cNvGrpSpPr/>
          <p:nvPr/>
        </p:nvGrpSpPr>
        <p:grpSpPr>
          <a:xfrm>
            <a:off x="550862" y="4649787"/>
            <a:ext cx="546101" cy="541338"/>
            <a:chOff x="0" y="0"/>
            <a:chExt cx="546100" cy="541337"/>
          </a:xfrm>
        </p:grpSpPr>
        <p:sp>
          <p:nvSpPr>
            <p:cNvPr id="219" name="Shape"/>
            <p:cNvSpPr/>
            <p:nvPr/>
          </p:nvSpPr>
          <p:spPr>
            <a:xfrm>
              <a:off x="132892" y="133904"/>
              <a:ext cx="280316" cy="273529"/>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21073" y="229"/>
                  </a:moveTo>
                  <a:cubicBezTo>
                    <a:pt x="21073" y="229"/>
                    <a:pt x="18063" y="1069"/>
                    <a:pt x="15654" y="1069"/>
                  </a:cubicBezTo>
                  <a:cubicBezTo>
                    <a:pt x="13246" y="1069"/>
                    <a:pt x="10762" y="0"/>
                    <a:pt x="10762" y="0"/>
                  </a:cubicBezTo>
                  <a:cubicBezTo>
                    <a:pt x="10762" y="0"/>
                    <a:pt x="8354" y="1069"/>
                    <a:pt x="5946" y="1069"/>
                  </a:cubicBezTo>
                  <a:cubicBezTo>
                    <a:pt x="3462" y="1069"/>
                    <a:pt x="527" y="229"/>
                    <a:pt x="527" y="229"/>
                  </a:cubicBezTo>
                  <a:cubicBezTo>
                    <a:pt x="527" y="229"/>
                    <a:pt x="0" y="1984"/>
                    <a:pt x="0" y="4580"/>
                  </a:cubicBezTo>
                  <a:cubicBezTo>
                    <a:pt x="0" y="11372"/>
                    <a:pt x="2107" y="15723"/>
                    <a:pt x="5043" y="18089"/>
                  </a:cubicBezTo>
                  <a:cubicBezTo>
                    <a:pt x="6774" y="19539"/>
                    <a:pt x="9633" y="21600"/>
                    <a:pt x="10762" y="21600"/>
                  </a:cubicBezTo>
                  <a:cubicBezTo>
                    <a:pt x="11967" y="21600"/>
                    <a:pt x="14751" y="19539"/>
                    <a:pt x="16557" y="18089"/>
                  </a:cubicBezTo>
                  <a:cubicBezTo>
                    <a:pt x="19417" y="15647"/>
                    <a:pt x="21600" y="11372"/>
                    <a:pt x="21600" y="4580"/>
                  </a:cubicBezTo>
                  <a:cubicBezTo>
                    <a:pt x="21600" y="1984"/>
                    <a:pt x="21073" y="229"/>
                    <a:pt x="21073" y="229"/>
                  </a:cubicBezTo>
                  <a:close/>
                </a:path>
              </a:pathLst>
            </a:custGeom>
            <a:solidFill>
              <a:srgbClr val="FFFFFF"/>
            </a:solidFill>
            <a:ln w="12700" cap="flat">
              <a:noFill/>
              <a:miter lim="400000"/>
            </a:ln>
            <a:effectLst/>
          </p:spPr>
          <p:txBody>
            <a:bodyPr wrap="square" lIns="45719" tIns="45719" rIns="45719" bIns="45719" numCol="1" anchor="t">
              <a:noAutofit/>
            </a:bodyPr>
            <a:lstStyle/>
            <a:p>
              <a:pPr/>
            </a:p>
          </p:txBody>
        </p:sp>
        <p:sp>
          <p:nvSpPr>
            <p:cNvPr id="220" name="Circle"/>
            <p:cNvSpPr/>
            <p:nvPr/>
          </p:nvSpPr>
          <p:spPr>
            <a:xfrm>
              <a:off x="0" y="0"/>
              <a:ext cx="546100" cy="541338"/>
            </a:xfrm>
            <a:prstGeom prst="ellipse">
              <a:avLst/>
            </a:prstGeom>
            <a:noFill/>
            <a:ln w="25400" cap="flat">
              <a:solidFill>
                <a:srgbClr val="FFFFFF"/>
              </a:solidFill>
              <a:prstDash val="solid"/>
              <a:round/>
            </a:ln>
            <a:effectLst/>
          </p:spPr>
          <p:txBody>
            <a:bodyPr wrap="square" lIns="45719" tIns="45719" rIns="45719" bIns="45719" numCol="1" anchor="ctr">
              <a:noAutofit/>
            </a:bodyPr>
            <a:lstStyle/>
            <a:p>
              <a:pPr algn="ctr">
                <a:defRPr>
                  <a:solidFill>
                    <a:srgbClr val="FFFFFF"/>
                  </a:solidFill>
                </a:defRPr>
              </a:pPr>
            </a:p>
          </p:txBody>
        </p:sp>
      </p:grpSp>
      <p:sp>
        <p:nvSpPr>
          <p:cNvPr id="222" name="Data reduction"/>
          <p:cNvSpPr txBox="1"/>
          <p:nvPr/>
        </p:nvSpPr>
        <p:spPr>
          <a:xfrm>
            <a:off x="1249362" y="4751387"/>
            <a:ext cx="8440738" cy="28379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6025">
              <a:spcBef>
                <a:spcPts val="400"/>
              </a:spcBef>
              <a:defRPr b="1" sz="2000">
                <a:solidFill>
                  <a:srgbClr val="FFFFFF"/>
                </a:solidFill>
                <a:latin typeface="Arial"/>
                <a:ea typeface="Arial"/>
                <a:cs typeface="Arial"/>
                <a:sym typeface="Arial"/>
              </a:defRPr>
            </a:lvl1pPr>
          </a:lstStyle>
          <a:p>
            <a:pPr/>
            <a:r>
              <a:t>Data reduction </a:t>
            </a:r>
          </a:p>
        </p:txBody>
      </p:sp>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24"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227" name="Group"/>
          <p:cNvGrpSpPr/>
          <p:nvPr/>
        </p:nvGrpSpPr>
        <p:grpSpPr>
          <a:xfrm>
            <a:off x="10625137" y="5580062"/>
            <a:ext cx="1566864" cy="1281113"/>
            <a:chOff x="0" y="0"/>
            <a:chExt cx="1566862" cy="1281112"/>
          </a:xfrm>
        </p:grpSpPr>
        <p:pic>
          <p:nvPicPr>
            <p:cNvPr id="225"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226"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228"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229" name="Data Preprocessing Tasks - Data Description"/>
          <p:cNvSpPr txBox="1"/>
          <p:nvPr/>
        </p:nvSpPr>
        <p:spPr>
          <a:xfrm>
            <a:off x="190182" y="207962"/>
            <a:ext cx="6586350"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Data Preprocessing Tasks - Data Description</a:t>
            </a:r>
          </a:p>
        </p:txBody>
      </p:sp>
      <p:pic>
        <p:nvPicPr>
          <p:cNvPr id="230" name="image.png" descr="image.png"/>
          <p:cNvPicPr>
            <a:picLocks noChangeAspect="1"/>
          </p:cNvPicPr>
          <p:nvPr/>
        </p:nvPicPr>
        <p:blipFill>
          <a:blip r:embed="rId4">
            <a:extLst/>
          </a:blip>
          <a:stretch>
            <a:fillRect/>
          </a:stretch>
        </p:blipFill>
        <p:spPr>
          <a:xfrm>
            <a:off x="2452687" y="1320800"/>
            <a:ext cx="6075363" cy="4799013"/>
          </a:xfrm>
          <a:prstGeom prst="rect">
            <a:avLst/>
          </a:prstGeom>
          <a:ln w="12700">
            <a:miter lim="400000"/>
          </a:ln>
        </p:spPr>
      </p:pic>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2"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235" name="Group"/>
          <p:cNvGrpSpPr/>
          <p:nvPr/>
        </p:nvGrpSpPr>
        <p:grpSpPr>
          <a:xfrm>
            <a:off x="10625137" y="5580062"/>
            <a:ext cx="1566864" cy="1281113"/>
            <a:chOff x="0" y="0"/>
            <a:chExt cx="1566862" cy="1281112"/>
          </a:xfrm>
        </p:grpSpPr>
        <p:pic>
          <p:nvPicPr>
            <p:cNvPr id="233"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234"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236"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237" name="Data Preprocessing Tasks - Data Description"/>
          <p:cNvSpPr txBox="1"/>
          <p:nvPr/>
        </p:nvSpPr>
        <p:spPr>
          <a:xfrm>
            <a:off x="190182" y="207962"/>
            <a:ext cx="6586350"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Data Preprocessing Tasks - Data Description</a:t>
            </a:r>
          </a:p>
        </p:txBody>
      </p:sp>
      <p:sp>
        <p:nvSpPr>
          <p:cNvPr id="238" name="Motivation…"/>
          <p:cNvSpPr txBox="1"/>
          <p:nvPr/>
        </p:nvSpPr>
        <p:spPr>
          <a:xfrm>
            <a:off x="568325" y="1820862"/>
            <a:ext cx="11055350" cy="345052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600"/>
              </a:spcBef>
              <a:buSzPct val="100000"/>
              <a:buChar char="➢"/>
              <a:defRPr b="1" sz="2800">
                <a:solidFill>
                  <a:srgbClr val="FFFFFF"/>
                </a:solidFill>
                <a:latin typeface="Arial"/>
                <a:ea typeface="Arial"/>
                <a:cs typeface="Arial"/>
                <a:sym typeface="Arial"/>
              </a:defRPr>
            </a:pPr>
            <a:r>
              <a:t>Motivation</a:t>
            </a:r>
          </a:p>
          <a:p>
            <a:pPr lvl="1" marL="1085850" indent="-342900" defTabSz="1216025">
              <a:spcBef>
                <a:spcPts val="500"/>
              </a:spcBef>
              <a:buSzPct val="100000"/>
              <a:buChar char="❖"/>
              <a:defRPr b="1" sz="2400">
                <a:solidFill>
                  <a:srgbClr val="FFFFFF"/>
                </a:solidFill>
                <a:latin typeface="Arial"/>
                <a:ea typeface="Arial"/>
                <a:cs typeface="Arial"/>
                <a:sym typeface="Arial"/>
              </a:defRPr>
            </a:pPr>
            <a:r>
              <a:t>To better understand the data: central tendency, variation and spread</a:t>
            </a:r>
          </a:p>
          <a:p>
            <a:pPr marL="342900" indent="-342900" defTabSz="1216025">
              <a:spcBef>
                <a:spcPts val="600"/>
              </a:spcBef>
              <a:buSzPct val="100000"/>
              <a:buChar char="➢"/>
              <a:defRPr b="1" sz="2800">
                <a:solidFill>
                  <a:srgbClr val="FFFFFF"/>
                </a:solidFill>
                <a:latin typeface="Arial"/>
                <a:ea typeface="Arial"/>
                <a:cs typeface="Arial"/>
                <a:sym typeface="Arial"/>
              </a:defRPr>
            </a:pPr>
            <a:r>
              <a:t>Text dispersion characteristics </a:t>
            </a:r>
          </a:p>
          <a:p>
            <a:pPr lvl="1" marL="1085850" indent="-342900" defTabSz="1216025">
              <a:spcBef>
                <a:spcPts val="500"/>
              </a:spcBef>
              <a:buSzPct val="100000"/>
              <a:buChar char="❖"/>
              <a:defRPr b="1" sz="2400">
                <a:solidFill>
                  <a:srgbClr val="FFFFFF"/>
                </a:solidFill>
                <a:latin typeface="Arial"/>
                <a:ea typeface="Arial"/>
                <a:cs typeface="Arial"/>
                <a:sym typeface="Arial"/>
              </a:defRPr>
            </a:pPr>
            <a:r>
              <a:t>Variance, length, language, domain</a:t>
            </a:r>
          </a:p>
          <a:p>
            <a:pPr lvl="1" marL="1085850" indent="-342900" defTabSz="1216025">
              <a:spcBef>
                <a:spcPts val="500"/>
              </a:spcBef>
              <a:buSzPct val="100000"/>
              <a:buChar char="❖"/>
              <a:defRPr b="1" sz="2400">
                <a:solidFill>
                  <a:srgbClr val="FFFFFF"/>
                </a:solidFill>
                <a:latin typeface="Arial"/>
                <a:ea typeface="Arial"/>
                <a:cs typeface="Arial"/>
                <a:sym typeface="Arial"/>
              </a:defRPr>
            </a:pPr>
            <a:r>
              <a:t>Median, max, min, outliers</a:t>
            </a:r>
          </a:p>
          <a:p>
            <a:pPr marL="342900" indent="-342900" defTabSz="1216025">
              <a:spcBef>
                <a:spcPts val="600"/>
              </a:spcBef>
              <a:buSzPct val="100000"/>
              <a:buChar char="➢"/>
              <a:defRPr b="1" sz="2800">
                <a:solidFill>
                  <a:srgbClr val="FFFFFF"/>
                </a:solidFill>
                <a:latin typeface="Arial"/>
                <a:ea typeface="Arial"/>
                <a:cs typeface="Arial"/>
                <a:sym typeface="Arial"/>
              </a:defRPr>
            </a:pPr>
            <a:r>
              <a:t>Numerical dimensions correspond to sorted intervals</a:t>
            </a:r>
          </a:p>
          <a:p>
            <a:pPr lvl="1" marL="1085850" indent="-342900" defTabSz="1216025">
              <a:spcBef>
                <a:spcPts val="500"/>
              </a:spcBef>
              <a:buSzPct val="100000"/>
              <a:buChar char="❖"/>
              <a:defRPr b="1" sz="2400">
                <a:solidFill>
                  <a:srgbClr val="FFFFFF"/>
                </a:solidFill>
                <a:latin typeface="Arial"/>
                <a:ea typeface="Arial"/>
                <a:cs typeface="Arial"/>
                <a:sym typeface="Arial"/>
              </a:defRPr>
            </a:pPr>
            <a:r>
              <a:t>Data dispersion: analyzed with multiple granularities of precision </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238"/>
                                        </p:tgtEl>
                                        <p:attrNameLst>
                                          <p:attrName>style.visibility</p:attrName>
                                        </p:attrNameLst>
                                      </p:cBhvr>
                                      <p:to>
                                        <p:strVal val="visible"/>
                                      </p:to>
                                    </p:set>
                                    <p:animEffect filter="blinds(horizontal)" transition="in">
                                      <p:cBhvr>
                                        <p:cTn id="7" dur="500"/>
                                        <p:tgtEl>
                                          <p:spTgt spid="2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38" grpId="1"/>
    </p:bldLst>
  </p:timing>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0"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243" name="Group"/>
          <p:cNvGrpSpPr/>
          <p:nvPr/>
        </p:nvGrpSpPr>
        <p:grpSpPr>
          <a:xfrm>
            <a:off x="10625137" y="5580062"/>
            <a:ext cx="1566864" cy="1281113"/>
            <a:chOff x="0" y="0"/>
            <a:chExt cx="1566862" cy="1281112"/>
          </a:xfrm>
        </p:grpSpPr>
        <p:pic>
          <p:nvPicPr>
            <p:cNvPr id="241"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242"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244"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245" name="Data Preprocessing Tasks - Data Description"/>
          <p:cNvSpPr txBox="1"/>
          <p:nvPr/>
        </p:nvSpPr>
        <p:spPr>
          <a:xfrm>
            <a:off x="190182" y="207962"/>
            <a:ext cx="6586350"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Data Preprocessing Tasks - Data Description</a:t>
            </a:r>
          </a:p>
        </p:txBody>
      </p:sp>
      <p:pic>
        <p:nvPicPr>
          <p:cNvPr id="246" name="image.png" descr="image.png"/>
          <p:cNvPicPr>
            <a:picLocks noChangeAspect="1"/>
          </p:cNvPicPr>
          <p:nvPr/>
        </p:nvPicPr>
        <p:blipFill>
          <a:blip r:embed="rId4">
            <a:extLst/>
          </a:blip>
          <a:stretch>
            <a:fillRect/>
          </a:stretch>
        </p:blipFill>
        <p:spPr>
          <a:xfrm>
            <a:off x="800100" y="1389062"/>
            <a:ext cx="4291013" cy="4667251"/>
          </a:xfrm>
          <a:prstGeom prst="rect">
            <a:avLst/>
          </a:prstGeom>
          <a:ln w="12700">
            <a:miter lim="400000"/>
          </a:ln>
        </p:spPr>
      </p:pic>
      <p:sp>
        <p:nvSpPr>
          <p:cNvPr id="247" name="Chen, H., Wu, L., Chen, J., Lu, W., &amp; Ding, J. (2022). A comparative study of automated legal text classification using random forests and deep learning. Information Processing &amp; Management, 59(2), 102798."/>
          <p:cNvSpPr txBox="1"/>
          <p:nvPr/>
        </p:nvSpPr>
        <p:spPr>
          <a:xfrm>
            <a:off x="5891212" y="3951287"/>
            <a:ext cx="5980114" cy="45263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6025">
              <a:spcBef>
                <a:spcPts val="200"/>
              </a:spcBef>
              <a:defRPr b="1" sz="1100">
                <a:solidFill>
                  <a:srgbClr val="FFFFFF"/>
                </a:solidFill>
                <a:latin typeface="Arial"/>
                <a:ea typeface="Arial"/>
                <a:cs typeface="Arial"/>
                <a:sym typeface="Arial"/>
              </a:defRPr>
            </a:lvl1pPr>
          </a:lstStyle>
          <a:p>
            <a:pPr/>
            <a:r>
              <a:t>Chen, H., Wu, L., Chen, J., Lu, W., &amp; Ding, J. (2022). A comparative study of automated legal text classification using random forests and deep learning. Information Processing &amp; Management, 59(2), 102798.</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9"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252" name="Group"/>
          <p:cNvGrpSpPr/>
          <p:nvPr/>
        </p:nvGrpSpPr>
        <p:grpSpPr>
          <a:xfrm>
            <a:off x="10625137" y="5580062"/>
            <a:ext cx="1566864" cy="1281113"/>
            <a:chOff x="0" y="0"/>
            <a:chExt cx="1566862" cy="1281112"/>
          </a:xfrm>
        </p:grpSpPr>
        <p:pic>
          <p:nvPicPr>
            <p:cNvPr id="250"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251"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253"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254" name="Data Preprocessing Tasks - Data Description"/>
          <p:cNvSpPr txBox="1"/>
          <p:nvPr/>
        </p:nvSpPr>
        <p:spPr>
          <a:xfrm>
            <a:off x="190182" y="207962"/>
            <a:ext cx="6586350"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Data Preprocessing Tasks - Data Description</a:t>
            </a:r>
          </a:p>
        </p:txBody>
      </p:sp>
      <p:sp>
        <p:nvSpPr>
          <p:cNvPr id="255" name="Lee, Kathy, Sadid A. Hasan, Oladimeji Farri, Alok Choudhary, and Ankit Agrawal. &quot;Medical concept normalization for online user-generated texts.&quot; In 2017 IEEE International Conference on Healthcare Informatics (ICHI), pp. 462-469. IEEE, 2017."/>
          <p:cNvSpPr txBox="1"/>
          <p:nvPr/>
        </p:nvSpPr>
        <p:spPr>
          <a:xfrm>
            <a:off x="968375" y="5594350"/>
            <a:ext cx="8547100" cy="30023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6025">
              <a:spcBef>
                <a:spcPts val="200"/>
              </a:spcBef>
              <a:defRPr b="1" sz="1100">
                <a:solidFill>
                  <a:srgbClr val="FFFFFF"/>
                </a:solidFill>
                <a:latin typeface="Arial"/>
                <a:ea typeface="Arial"/>
                <a:cs typeface="Arial"/>
                <a:sym typeface="Arial"/>
              </a:defRPr>
            </a:lvl1pPr>
          </a:lstStyle>
          <a:p>
            <a:pPr/>
            <a:r>
              <a:t>Lee, Kathy, Sadid A. Hasan, Oladimeji Farri, Alok Choudhary, and Ankit Agrawal. "Medical concept normalization for online user-generated texts." In 2017 IEEE International Conference on Healthcare Informatics (ICHI), pp. 462-469. IEEE, 2017.</a:t>
            </a:r>
          </a:p>
        </p:txBody>
      </p:sp>
      <p:pic>
        <p:nvPicPr>
          <p:cNvPr id="256" name="image.png" descr="image.png"/>
          <p:cNvPicPr>
            <a:picLocks noChangeAspect="1"/>
          </p:cNvPicPr>
          <p:nvPr/>
        </p:nvPicPr>
        <p:blipFill>
          <a:blip r:embed="rId4">
            <a:extLst/>
          </a:blip>
          <a:stretch>
            <a:fillRect/>
          </a:stretch>
        </p:blipFill>
        <p:spPr>
          <a:xfrm>
            <a:off x="968375" y="1363662"/>
            <a:ext cx="5265738" cy="2965451"/>
          </a:xfrm>
          <a:prstGeom prst="rect">
            <a:avLst/>
          </a:prstGeom>
          <a:ln w="12700">
            <a:miter lim="400000"/>
          </a:ln>
        </p:spPr>
      </p:pic>
      <p:pic>
        <p:nvPicPr>
          <p:cNvPr id="257" name="image.png" descr="image.png"/>
          <p:cNvPicPr>
            <a:picLocks noChangeAspect="1"/>
          </p:cNvPicPr>
          <p:nvPr/>
        </p:nvPicPr>
        <p:blipFill>
          <a:blip r:embed="rId5">
            <a:extLst/>
          </a:blip>
          <a:stretch>
            <a:fillRect/>
          </a:stretch>
        </p:blipFill>
        <p:spPr>
          <a:xfrm>
            <a:off x="968375" y="4370387"/>
            <a:ext cx="5265738" cy="1019176"/>
          </a:xfrm>
          <a:prstGeom prst="rect">
            <a:avLst/>
          </a:prstGeom>
          <a:ln w="12700">
            <a:miter lim="400000"/>
          </a:ln>
        </p:spPr>
      </p:pic>
      <p:pic>
        <p:nvPicPr>
          <p:cNvPr id="258" name="image.png" descr="image.png"/>
          <p:cNvPicPr>
            <a:picLocks noChangeAspect="1"/>
          </p:cNvPicPr>
          <p:nvPr/>
        </p:nvPicPr>
        <p:blipFill>
          <a:blip r:embed="rId6">
            <a:extLst/>
          </a:blip>
          <a:stretch>
            <a:fillRect/>
          </a:stretch>
        </p:blipFill>
        <p:spPr>
          <a:xfrm>
            <a:off x="6704012" y="1443037"/>
            <a:ext cx="4491038" cy="3341688"/>
          </a:xfrm>
          <a:prstGeom prst="rect">
            <a:avLst/>
          </a:prstGeom>
          <a:ln w="12700">
            <a:miter lim="400000"/>
          </a:ln>
        </p:spPr>
      </p:pic>
      <p:pic>
        <p:nvPicPr>
          <p:cNvPr id="259" name="image.png" descr="image.png"/>
          <p:cNvPicPr>
            <a:picLocks noChangeAspect="1"/>
          </p:cNvPicPr>
          <p:nvPr/>
        </p:nvPicPr>
        <p:blipFill>
          <a:blip r:embed="rId7">
            <a:extLst/>
          </a:blip>
          <a:stretch>
            <a:fillRect/>
          </a:stretch>
        </p:blipFill>
        <p:spPr>
          <a:xfrm>
            <a:off x="6875462" y="4891087"/>
            <a:ext cx="3843338" cy="206376"/>
          </a:xfrm>
          <a:prstGeom prst="rect">
            <a:avLst/>
          </a:prstGeom>
          <a:ln w="12700">
            <a:miter lim="400000"/>
          </a:ln>
        </p:spPr>
      </p:pic>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1"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264" name="Group"/>
          <p:cNvGrpSpPr/>
          <p:nvPr/>
        </p:nvGrpSpPr>
        <p:grpSpPr>
          <a:xfrm>
            <a:off x="10625137" y="5580062"/>
            <a:ext cx="1566864" cy="1281113"/>
            <a:chOff x="0" y="0"/>
            <a:chExt cx="1566862" cy="1281112"/>
          </a:xfrm>
        </p:grpSpPr>
        <p:pic>
          <p:nvPicPr>
            <p:cNvPr id="262"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263"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265"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266" name="Data Preprocessing Tasks - Data Cleaning"/>
          <p:cNvSpPr txBox="1"/>
          <p:nvPr/>
        </p:nvSpPr>
        <p:spPr>
          <a:xfrm>
            <a:off x="190182" y="207962"/>
            <a:ext cx="6196718"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Data Preprocessing Tasks - Data Cleaning</a:t>
            </a:r>
          </a:p>
        </p:txBody>
      </p:sp>
      <p:sp>
        <p:nvSpPr>
          <p:cNvPr id="267" name="Fill in missing values…"/>
          <p:cNvSpPr txBox="1"/>
          <p:nvPr/>
        </p:nvSpPr>
        <p:spPr>
          <a:xfrm>
            <a:off x="1314450" y="2459037"/>
            <a:ext cx="9310688" cy="1870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600"/>
              </a:spcBef>
              <a:buSzPct val="100000"/>
              <a:buChar char="➢"/>
              <a:defRPr b="1" sz="2800">
                <a:solidFill>
                  <a:srgbClr val="FFFFFF"/>
                </a:solidFill>
                <a:latin typeface="Arial"/>
                <a:ea typeface="Arial"/>
                <a:cs typeface="Arial"/>
                <a:sym typeface="Arial"/>
              </a:defRPr>
            </a:pPr>
            <a:r>
              <a:t>Fill in missing values</a:t>
            </a:r>
          </a:p>
          <a:p>
            <a:pPr marL="342900" indent="-342900" defTabSz="1216025">
              <a:spcBef>
                <a:spcPts val="600"/>
              </a:spcBef>
              <a:buSzPct val="100000"/>
              <a:buChar char="➢"/>
              <a:defRPr b="1" sz="2800">
                <a:solidFill>
                  <a:srgbClr val="FFFFFF"/>
                </a:solidFill>
                <a:latin typeface="Arial"/>
                <a:ea typeface="Arial"/>
                <a:cs typeface="Arial"/>
                <a:sym typeface="Arial"/>
              </a:defRPr>
            </a:pPr>
            <a:r>
              <a:t>Identify outliers and smooth out noisy data </a:t>
            </a:r>
          </a:p>
          <a:p>
            <a:pPr marL="342900" indent="-342900" defTabSz="1216025">
              <a:spcBef>
                <a:spcPts val="600"/>
              </a:spcBef>
              <a:buSzPct val="100000"/>
              <a:buChar char="➢"/>
              <a:defRPr b="1" sz="2800">
                <a:solidFill>
                  <a:srgbClr val="FFFFFF"/>
                </a:solidFill>
                <a:latin typeface="Arial"/>
                <a:ea typeface="Arial"/>
                <a:cs typeface="Arial"/>
                <a:sym typeface="Arial"/>
              </a:defRPr>
            </a:pPr>
            <a:r>
              <a:t>Correct inconsistent data </a:t>
            </a:r>
          </a:p>
          <a:p>
            <a:pPr marL="342900" indent="-342900" defTabSz="1216025">
              <a:spcBef>
                <a:spcPts val="600"/>
              </a:spcBef>
              <a:buSzPct val="100000"/>
              <a:buChar char="➢"/>
              <a:defRPr b="1" sz="2800">
                <a:solidFill>
                  <a:srgbClr val="FFFFFF"/>
                </a:solidFill>
                <a:latin typeface="Arial"/>
                <a:ea typeface="Arial"/>
                <a:cs typeface="Arial"/>
                <a:sym typeface="Arial"/>
              </a:defRPr>
            </a:pPr>
            <a:r>
              <a:t>Resolve redundancy caused by data integration</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267"/>
                                        </p:tgtEl>
                                        <p:attrNameLst>
                                          <p:attrName>style.visibility</p:attrName>
                                        </p:attrNameLst>
                                      </p:cBhvr>
                                      <p:to>
                                        <p:strVal val="visible"/>
                                      </p:to>
                                    </p:set>
                                    <p:animEffect filter="blinds(horizontal)" transition="in">
                                      <p:cBhvr>
                                        <p:cTn id="7" dur="500"/>
                                        <p:tgtEl>
                                          <p:spTgt spid="2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67" grpId="1"/>
    </p:bldLst>
  </p:timing>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9"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272" name="Group"/>
          <p:cNvGrpSpPr/>
          <p:nvPr/>
        </p:nvGrpSpPr>
        <p:grpSpPr>
          <a:xfrm>
            <a:off x="10625137" y="5580062"/>
            <a:ext cx="1566864" cy="1281113"/>
            <a:chOff x="0" y="0"/>
            <a:chExt cx="1566862" cy="1281112"/>
          </a:xfrm>
        </p:grpSpPr>
        <p:pic>
          <p:nvPicPr>
            <p:cNvPr id="270"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271"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273"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274" name="Data Preprocessing Tasks - Data Cleaning"/>
          <p:cNvSpPr txBox="1"/>
          <p:nvPr/>
        </p:nvSpPr>
        <p:spPr>
          <a:xfrm>
            <a:off x="190182" y="207962"/>
            <a:ext cx="6196718"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Data Preprocessing Tasks - Data Cleaning</a:t>
            </a:r>
          </a:p>
        </p:txBody>
      </p:sp>
      <p:sp>
        <p:nvSpPr>
          <p:cNvPr id="275" name="Missing Data:…"/>
          <p:cNvSpPr txBox="1"/>
          <p:nvPr/>
        </p:nvSpPr>
        <p:spPr>
          <a:xfrm>
            <a:off x="360362" y="1455737"/>
            <a:ext cx="11571288" cy="392818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500"/>
              </a:spcBef>
              <a:buSzPct val="100000"/>
              <a:buChar char="➢"/>
              <a:defRPr b="1" sz="2400">
                <a:solidFill>
                  <a:srgbClr val="FFFFFF"/>
                </a:solidFill>
                <a:latin typeface="Arial"/>
                <a:ea typeface="Arial"/>
                <a:cs typeface="Arial"/>
                <a:sym typeface="Arial"/>
              </a:defRPr>
            </a:pPr>
            <a:r>
              <a:t>Missing Data:</a:t>
            </a:r>
          </a:p>
          <a:p>
            <a:pPr lvl="1" marL="1085850" indent="-342900" defTabSz="1216025">
              <a:spcBef>
                <a:spcPts val="400"/>
              </a:spcBef>
              <a:buSzPct val="100000"/>
              <a:buChar char="❖"/>
              <a:defRPr b="1" sz="2000">
                <a:solidFill>
                  <a:srgbClr val="FFFFFF"/>
                </a:solidFill>
                <a:latin typeface="Arial"/>
                <a:ea typeface="Arial"/>
                <a:cs typeface="Arial"/>
                <a:sym typeface="Arial"/>
              </a:defRPr>
            </a:pPr>
            <a:r>
              <a:t>Data is not always available</a:t>
            </a:r>
          </a:p>
          <a:p>
            <a:pPr lvl="2" marL="1485900" indent="-342900" defTabSz="1216025">
              <a:spcBef>
                <a:spcPts val="300"/>
              </a:spcBef>
              <a:buSzPct val="100000"/>
              <a:buChar char="✓"/>
              <a:defRPr b="1" sz="1600">
                <a:solidFill>
                  <a:srgbClr val="FFFFFF"/>
                </a:solidFill>
                <a:latin typeface="Arial"/>
                <a:ea typeface="Arial"/>
                <a:cs typeface="Arial"/>
                <a:sym typeface="Arial"/>
              </a:defRPr>
            </a:pPr>
            <a:r>
              <a:t>E.g., many tuples have no recorded value for several attributes, such as customer income in sales data </a:t>
            </a:r>
          </a:p>
          <a:p>
            <a:pPr lvl="1" marL="1085850" indent="-342900" defTabSz="1216025">
              <a:spcBef>
                <a:spcPts val="400"/>
              </a:spcBef>
              <a:buSzPct val="100000"/>
              <a:buChar char="❖"/>
              <a:defRPr b="1" sz="2000">
                <a:solidFill>
                  <a:srgbClr val="FFFFFF"/>
                </a:solidFill>
                <a:latin typeface="Arial"/>
                <a:ea typeface="Arial"/>
                <a:cs typeface="Arial"/>
                <a:sym typeface="Arial"/>
              </a:defRPr>
            </a:pPr>
            <a:r>
              <a:t>Missing data may be due to</a:t>
            </a:r>
          </a:p>
          <a:p>
            <a:pPr lvl="2" marL="1485900" indent="-342900" defTabSz="1216025">
              <a:spcBef>
                <a:spcPts val="300"/>
              </a:spcBef>
              <a:buSzPct val="100000"/>
              <a:buChar char="✓"/>
              <a:defRPr b="1" sz="1600">
                <a:solidFill>
                  <a:srgbClr val="FFFFFF"/>
                </a:solidFill>
                <a:latin typeface="Arial"/>
                <a:ea typeface="Arial"/>
                <a:cs typeface="Arial"/>
                <a:sym typeface="Arial"/>
              </a:defRPr>
            </a:pPr>
            <a:r>
              <a:t>Not accessible</a:t>
            </a:r>
          </a:p>
          <a:p>
            <a:pPr lvl="2" marL="1485900" indent="-342900" defTabSz="1216025">
              <a:spcBef>
                <a:spcPts val="300"/>
              </a:spcBef>
              <a:buSzPct val="100000"/>
              <a:buChar char="✓"/>
              <a:defRPr b="1" sz="1600">
                <a:solidFill>
                  <a:srgbClr val="FFFFFF"/>
                </a:solidFill>
                <a:latin typeface="Arial"/>
                <a:ea typeface="Arial"/>
                <a:cs typeface="Arial"/>
                <a:sym typeface="Arial"/>
              </a:defRPr>
            </a:pPr>
            <a:r>
              <a:t>Inconsistent with other recorded data and thus deleted</a:t>
            </a:r>
          </a:p>
          <a:p>
            <a:pPr lvl="2" marL="1485900" indent="-342900" defTabSz="1216025">
              <a:spcBef>
                <a:spcPts val="300"/>
              </a:spcBef>
              <a:buSzPct val="100000"/>
              <a:buChar char="✓"/>
              <a:defRPr b="1" sz="1600">
                <a:solidFill>
                  <a:srgbClr val="FFFFFF"/>
                </a:solidFill>
                <a:latin typeface="Arial"/>
                <a:ea typeface="Arial"/>
                <a:cs typeface="Arial"/>
                <a:sym typeface="Arial"/>
              </a:defRPr>
            </a:pPr>
            <a:r>
              <a:t>Data not entered due to misunderstanding </a:t>
            </a:r>
          </a:p>
          <a:p>
            <a:pPr lvl="2" marL="1485900" indent="-342900" defTabSz="1216025">
              <a:spcBef>
                <a:spcPts val="300"/>
              </a:spcBef>
              <a:buSzPct val="100000"/>
              <a:buChar char="✓"/>
              <a:defRPr b="1" sz="1600">
                <a:solidFill>
                  <a:srgbClr val="FFFFFF"/>
                </a:solidFill>
                <a:latin typeface="Arial"/>
                <a:ea typeface="Arial"/>
                <a:cs typeface="Arial"/>
                <a:sym typeface="Arial"/>
              </a:defRPr>
            </a:pPr>
            <a:r>
              <a:t>Certain data may not be considered important at the time of entry </a:t>
            </a:r>
          </a:p>
          <a:p>
            <a:pPr marL="342900" indent="-342900" defTabSz="1216025">
              <a:spcBef>
                <a:spcPts val="500"/>
              </a:spcBef>
              <a:buSzPct val="100000"/>
              <a:buChar char="➢"/>
              <a:defRPr b="1" sz="2400">
                <a:solidFill>
                  <a:srgbClr val="FFFFFF"/>
                </a:solidFill>
                <a:latin typeface="Arial"/>
                <a:ea typeface="Arial"/>
                <a:cs typeface="Arial"/>
                <a:sym typeface="Arial"/>
              </a:defRPr>
            </a:pPr>
            <a:r>
              <a:t>How to Handle Missing Data: </a:t>
            </a:r>
          </a:p>
          <a:p>
            <a:pPr lvl="1" marL="1085850" indent="-342900" defTabSz="1216025">
              <a:spcBef>
                <a:spcPts val="400"/>
              </a:spcBef>
              <a:buSzPct val="100000"/>
              <a:buChar char="❖"/>
              <a:defRPr b="1" sz="2000">
                <a:solidFill>
                  <a:srgbClr val="FFFFFF"/>
                </a:solidFill>
                <a:latin typeface="Arial"/>
                <a:ea typeface="Arial"/>
                <a:cs typeface="Arial"/>
                <a:sym typeface="Arial"/>
              </a:defRPr>
            </a:pPr>
            <a:r>
              <a:t>Ignore the record</a:t>
            </a:r>
          </a:p>
          <a:p>
            <a:pPr lvl="1" marL="1085850" indent="-342900" defTabSz="1216025">
              <a:spcBef>
                <a:spcPts val="400"/>
              </a:spcBef>
              <a:buSzPct val="100000"/>
              <a:buChar char="❖"/>
              <a:defRPr b="1" sz="2000">
                <a:solidFill>
                  <a:srgbClr val="FFFFFF"/>
                </a:solidFill>
                <a:latin typeface="Arial"/>
                <a:ea typeface="Arial"/>
                <a:cs typeface="Arial"/>
                <a:sym typeface="Arial"/>
              </a:defRPr>
            </a:pPr>
            <a:r>
              <a:t>Fill in the missing value manually </a:t>
            </a:r>
          </a:p>
          <a:p>
            <a:pPr lvl="1" marL="1085850" indent="-342900" defTabSz="1216025">
              <a:spcBef>
                <a:spcPts val="400"/>
              </a:spcBef>
              <a:buSzPct val="100000"/>
              <a:buChar char="❖"/>
              <a:defRPr b="1" sz="2000">
                <a:solidFill>
                  <a:srgbClr val="FFFFFF"/>
                </a:solidFill>
                <a:latin typeface="Arial"/>
                <a:ea typeface="Arial"/>
                <a:cs typeface="Arial"/>
                <a:sym typeface="Arial"/>
              </a:defRPr>
            </a:pPr>
            <a:r>
              <a:t> Fill it in automatically with some value (mean, mode, …)</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275"/>
                                        </p:tgtEl>
                                        <p:attrNameLst>
                                          <p:attrName>style.visibility</p:attrName>
                                        </p:attrNameLst>
                                      </p:cBhvr>
                                      <p:to>
                                        <p:strVal val="visible"/>
                                      </p:to>
                                    </p:set>
                                    <p:animEffect filter="blinds(horizontal)" transition="in">
                                      <p:cBhvr>
                                        <p:cTn id="7" dur="500"/>
                                        <p:tgtEl>
                                          <p:spTgt spid="27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75" grpId="1"/>
    </p:bldLst>
  </p:timing>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7"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280" name="Group"/>
          <p:cNvGrpSpPr/>
          <p:nvPr/>
        </p:nvGrpSpPr>
        <p:grpSpPr>
          <a:xfrm>
            <a:off x="10625137" y="5580062"/>
            <a:ext cx="1566864" cy="1281113"/>
            <a:chOff x="0" y="0"/>
            <a:chExt cx="1566862" cy="1281112"/>
          </a:xfrm>
        </p:grpSpPr>
        <p:pic>
          <p:nvPicPr>
            <p:cNvPr id="278"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279"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281"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282" name="Data Preprocessing Tasks - Data Cleaning"/>
          <p:cNvSpPr txBox="1"/>
          <p:nvPr/>
        </p:nvSpPr>
        <p:spPr>
          <a:xfrm>
            <a:off x="190182" y="207962"/>
            <a:ext cx="6196718"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Data Preprocessing Tasks - Data Cleaning</a:t>
            </a:r>
          </a:p>
        </p:txBody>
      </p:sp>
      <p:sp>
        <p:nvSpPr>
          <p:cNvPr id="283" name="Noisy Data:…"/>
          <p:cNvSpPr txBox="1"/>
          <p:nvPr/>
        </p:nvSpPr>
        <p:spPr>
          <a:xfrm>
            <a:off x="360362" y="1455737"/>
            <a:ext cx="11571288" cy="3955245"/>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500"/>
              </a:spcBef>
              <a:buSzPct val="100000"/>
              <a:buChar char="➢"/>
              <a:defRPr b="1" sz="2400">
                <a:solidFill>
                  <a:srgbClr val="FFFFFF"/>
                </a:solidFill>
                <a:latin typeface="Arial"/>
                <a:ea typeface="Arial"/>
                <a:cs typeface="Arial"/>
                <a:sym typeface="Arial"/>
              </a:defRPr>
            </a:pPr>
            <a:r>
              <a:t>Noisy Data:</a:t>
            </a:r>
          </a:p>
          <a:p>
            <a:pPr lvl="1" marL="1085850" indent="-342900" defTabSz="1216025">
              <a:spcBef>
                <a:spcPts val="400"/>
              </a:spcBef>
              <a:buSzPct val="100000"/>
              <a:buChar char="❖"/>
              <a:defRPr b="1" sz="2000">
                <a:solidFill>
                  <a:srgbClr val="FFFFFF"/>
                </a:solidFill>
                <a:latin typeface="Arial"/>
                <a:ea typeface="Arial"/>
                <a:cs typeface="Arial"/>
                <a:sym typeface="Arial"/>
              </a:defRPr>
            </a:pPr>
            <a:r>
              <a:t>Noise: random error or variance in a measured variable</a:t>
            </a:r>
          </a:p>
          <a:p>
            <a:pPr lvl="1" marL="1085850" indent="-342900" defTabSz="1216025">
              <a:spcBef>
                <a:spcPts val="400"/>
              </a:spcBef>
              <a:buSzPct val="100000"/>
              <a:buChar char="❖"/>
              <a:defRPr b="1" sz="2000">
                <a:solidFill>
                  <a:srgbClr val="FFFFFF"/>
                </a:solidFill>
                <a:latin typeface="Arial"/>
                <a:ea typeface="Arial"/>
                <a:cs typeface="Arial"/>
                <a:sym typeface="Arial"/>
              </a:defRPr>
            </a:pPr>
            <a:r>
              <a:t>Incorrect attribute values may be due to</a:t>
            </a:r>
          </a:p>
          <a:p>
            <a:pPr lvl="2" marL="1485900" indent="-342900" defTabSz="1216025">
              <a:spcBef>
                <a:spcPts val="400"/>
              </a:spcBef>
              <a:buSzPct val="100000"/>
              <a:buChar char="✓"/>
              <a:defRPr b="1">
                <a:solidFill>
                  <a:srgbClr val="FFFFFF"/>
                </a:solidFill>
                <a:latin typeface="Arial"/>
                <a:ea typeface="Arial"/>
                <a:cs typeface="Arial"/>
                <a:sym typeface="Arial"/>
              </a:defRPr>
            </a:pPr>
            <a:r>
              <a:t>faulty data collection instruments</a:t>
            </a:r>
          </a:p>
          <a:p>
            <a:pPr lvl="2" marL="1485900" indent="-342900" defTabSz="1216025">
              <a:spcBef>
                <a:spcPts val="400"/>
              </a:spcBef>
              <a:buSzPct val="100000"/>
              <a:buChar char="✓"/>
              <a:defRPr b="1">
                <a:solidFill>
                  <a:srgbClr val="FFFFFF"/>
                </a:solidFill>
                <a:latin typeface="Arial"/>
                <a:ea typeface="Arial"/>
                <a:cs typeface="Arial"/>
                <a:sym typeface="Arial"/>
              </a:defRPr>
            </a:pPr>
            <a:r>
              <a:t>data entry problems</a:t>
            </a:r>
          </a:p>
          <a:p>
            <a:pPr lvl="2" marL="1485900" indent="-342900" defTabSz="1216025">
              <a:spcBef>
                <a:spcPts val="400"/>
              </a:spcBef>
              <a:buSzPct val="100000"/>
              <a:buChar char="✓"/>
              <a:defRPr b="1">
                <a:solidFill>
                  <a:srgbClr val="FFFFFF"/>
                </a:solidFill>
                <a:latin typeface="Arial"/>
                <a:ea typeface="Arial"/>
                <a:cs typeface="Arial"/>
                <a:sym typeface="Arial"/>
              </a:defRPr>
            </a:pPr>
            <a:r>
              <a:t>data transmission problems </a:t>
            </a:r>
          </a:p>
          <a:p>
            <a:pPr lvl="2" marL="1485900" indent="-342900" defTabSz="1216025">
              <a:spcBef>
                <a:spcPts val="400"/>
              </a:spcBef>
              <a:buSzPct val="100000"/>
              <a:buChar char="✓"/>
              <a:defRPr b="1">
                <a:solidFill>
                  <a:srgbClr val="FFFFFF"/>
                </a:solidFill>
                <a:latin typeface="Arial"/>
                <a:ea typeface="Arial"/>
                <a:cs typeface="Arial"/>
                <a:sym typeface="Arial"/>
              </a:defRPr>
            </a:pPr>
            <a:r>
              <a:t>technology limitation </a:t>
            </a:r>
          </a:p>
          <a:p>
            <a:pPr lvl="2" marL="1485900" indent="-342900" defTabSz="1216025">
              <a:spcBef>
                <a:spcPts val="500"/>
              </a:spcBef>
              <a:buSzPct val="100000"/>
              <a:buChar char="✓"/>
              <a:defRPr b="1">
                <a:solidFill>
                  <a:srgbClr val="FFFFFF"/>
                </a:solidFill>
                <a:latin typeface="Arial"/>
                <a:ea typeface="Arial"/>
                <a:cs typeface="Arial"/>
                <a:sym typeface="Arial"/>
              </a:defRPr>
            </a:pPr>
            <a:r>
              <a:t>inconsistency in naming convention </a:t>
            </a:r>
            <a:r>
              <a:rPr sz="2400"/>
              <a:t> </a:t>
            </a:r>
            <a:endParaRPr sz="2400"/>
          </a:p>
          <a:p>
            <a:pPr lvl="1" marL="1085850" indent="-342900" defTabSz="1216025">
              <a:spcBef>
                <a:spcPts val="400"/>
              </a:spcBef>
              <a:buSzPct val="100000"/>
              <a:buChar char="❖"/>
              <a:defRPr b="1" sz="2000">
                <a:solidFill>
                  <a:srgbClr val="FFFFFF"/>
                </a:solidFill>
                <a:latin typeface="Arial"/>
                <a:ea typeface="Arial"/>
                <a:cs typeface="Arial"/>
                <a:sym typeface="Arial"/>
              </a:defRPr>
            </a:pPr>
            <a:r>
              <a:t>Other data problems which requires data cleaning </a:t>
            </a:r>
          </a:p>
          <a:p>
            <a:pPr lvl="2" marL="1485900" indent="-342900" defTabSz="1216025">
              <a:spcBef>
                <a:spcPts val="300"/>
              </a:spcBef>
              <a:buSzPct val="100000"/>
              <a:buChar char="✓"/>
              <a:defRPr b="1" sz="1600">
                <a:solidFill>
                  <a:srgbClr val="FFFFFF"/>
                </a:solidFill>
                <a:latin typeface="Arial"/>
                <a:ea typeface="Arial"/>
                <a:cs typeface="Arial"/>
                <a:sym typeface="Arial"/>
              </a:defRPr>
            </a:pPr>
            <a:r>
              <a:t>duplicate records </a:t>
            </a:r>
          </a:p>
          <a:p>
            <a:pPr lvl="2" marL="1485900" indent="-342900" defTabSz="1216025">
              <a:spcBef>
                <a:spcPts val="300"/>
              </a:spcBef>
              <a:buSzPct val="100000"/>
              <a:buChar char="✓"/>
              <a:defRPr b="1" sz="1600">
                <a:solidFill>
                  <a:srgbClr val="FFFFFF"/>
                </a:solidFill>
                <a:latin typeface="Arial"/>
                <a:ea typeface="Arial"/>
                <a:cs typeface="Arial"/>
                <a:sym typeface="Arial"/>
              </a:defRPr>
            </a:pPr>
            <a:r>
              <a:t>incomplete data</a:t>
            </a:r>
          </a:p>
          <a:p>
            <a:pPr lvl="2" marL="1485900" indent="-342900" defTabSz="1216025">
              <a:spcBef>
                <a:spcPts val="300"/>
              </a:spcBef>
              <a:buSzPct val="100000"/>
              <a:buChar char="✓"/>
              <a:defRPr b="1" sz="1600">
                <a:solidFill>
                  <a:srgbClr val="FFFFFF"/>
                </a:solidFill>
                <a:latin typeface="Arial"/>
                <a:ea typeface="Arial"/>
                <a:cs typeface="Arial"/>
                <a:sym typeface="Arial"/>
              </a:defRPr>
            </a:pPr>
            <a:r>
              <a:t>Inconsistent data</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283"/>
                                        </p:tgtEl>
                                        <p:attrNameLst>
                                          <p:attrName>style.visibility</p:attrName>
                                        </p:attrNameLst>
                                      </p:cBhvr>
                                      <p:to>
                                        <p:strVal val="visible"/>
                                      </p:to>
                                    </p:set>
                                    <p:animEffect filter="blinds(horizontal)" transition="in">
                                      <p:cBhvr>
                                        <p:cTn id="7" dur="500"/>
                                        <p:tgtEl>
                                          <p:spTgt spid="28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83" grpId="1"/>
    </p:bldLst>
  </p:timing>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5"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288" name="Group"/>
          <p:cNvGrpSpPr/>
          <p:nvPr/>
        </p:nvGrpSpPr>
        <p:grpSpPr>
          <a:xfrm>
            <a:off x="10625137" y="5580062"/>
            <a:ext cx="1566864" cy="1281113"/>
            <a:chOff x="0" y="0"/>
            <a:chExt cx="1566862" cy="1281112"/>
          </a:xfrm>
        </p:grpSpPr>
        <p:pic>
          <p:nvPicPr>
            <p:cNvPr id="286"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287"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289"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290" name="Data Preprocessing Tasks - Data Integration"/>
          <p:cNvSpPr txBox="1"/>
          <p:nvPr/>
        </p:nvSpPr>
        <p:spPr>
          <a:xfrm>
            <a:off x="190182" y="207962"/>
            <a:ext cx="6484403"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Data Preprocessing Tasks - Data Integration</a:t>
            </a:r>
          </a:p>
        </p:txBody>
      </p:sp>
      <p:sp>
        <p:nvSpPr>
          <p:cNvPr id="291" name="Data integration…"/>
          <p:cNvSpPr txBox="1"/>
          <p:nvPr/>
        </p:nvSpPr>
        <p:spPr>
          <a:xfrm>
            <a:off x="568325" y="1800225"/>
            <a:ext cx="11055350" cy="33038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400"/>
              </a:spcBef>
              <a:buSzPct val="100000"/>
              <a:buChar char="➢"/>
              <a:defRPr b="1" sz="2000">
                <a:solidFill>
                  <a:srgbClr val="FFFFFF"/>
                </a:solidFill>
                <a:latin typeface="Arial"/>
                <a:ea typeface="Arial"/>
                <a:cs typeface="Arial"/>
                <a:sym typeface="Arial"/>
              </a:defRPr>
            </a:pPr>
            <a:r>
              <a:t>Data integration</a:t>
            </a:r>
          </a:p>
          <a:p>
            <a:pPr lvl="1" marL="1200150" indent="-457200" defTabSz="1216025">
              <a:spcBef>
                <a:spcPts val="400"/>
              </a:spcBef>
              <a:buSzPct val="100000"/>
              <a:buChar char="❖"/>
              <a:defRPr b="1">
                <a:solidFill>
                  <a:srgbClr val="FFFFFF"/>
                </a:solidFill>
                <a:latin typeface="Arial"/>
                <a:ea typeface="Arial"/>
                <a:cs typeface="Arial"/>
                <a:sym typeface="Arial"/>
              </a:defRPr>
            </a:pPr>
            <a:r>
              <a:t>Combines data from multiple sources</a:t>
            </a:r>
          </a:p>
          <a:p>
            <a:pPr marL="342900" indent="-342900" defTabSz="1216025">
              <a:spcBef>
                <a:spcPts val="400"/>
              </a:spcBef>
              <a:buSzPct val="100000"/>
              <a:buChar char="➢"/>
              <a:defRPr b="1" sz="2000">
                <a:solidFill>
                  <a:srgbClr val="FFFFFF"/>
                </a:solidFill>
                <a:latin typeface="Arial"/>
                <a:ea typeface="Arial"/>
                <a:cs typeface="Arial"/>
                <a:sym typeface="Arial"/>
              </a:defRPr>
            </a:pPr>
            <a:r>
              <a:t>Schema integration: e.g., A.cust-id ≡ B.cust-# </a:t>
            </a:r>
          </a:p>
          <a:p>
            <a:pPr lvl="1" marL="1200150" indent="-457200" defTabSz="1216025">
              <a:spcBef>
                <a:spcPts val="400"/>
              </a:spcBef>
              <a:buSzPct val="100000"/>
              <a:buChar char="❖"/>
              <a:defRPr b="1">
                <a:solidFill>
                  <a:srgbClr val="FFFFFF"/>
                </a:solidFill>
                <a:latin typeface="Arial"/>
                <a:ea typeface="Arial"/>
                <a:cs typeface="Arial"/>
                <a:sym typeface="Arial"/>
              </a:defRPr>
            </a:pPr>
            <a:r>
              <a:t>Integrate metadata from different sources </a:t>
            </a:r>
          </a:p>
          <a:p>
            <a:pPr marL="342900" indent="-342900" defTabSz="1216025">
              <a:spcBef>
                <a:spcPts val="400"/>
              </a:spcBef>
              <a:buSzPct val="100000"/>
              <a:buChar char="➢"/>
              <a:defRPr b="1" sz="2000">
                <a:solidFill>
                  <a:srgbClr val="FFFFFF"/>
                </a:solidFill>
                <a:latin typeface="Arial"/>
                <a:ea typeface="Arial"/>
                <a:cs typeface="Arial"/>
                <a:sym typeface="Arial"/>
              </a:defRPr>
            </a:pPr>
            <a:r>
              <a:t>Entity identiﬁcation problem</a:t>
            </a:r>
          </a:p>
          <a:p>
            <a:pPr lvl="1" marL="1200150" indent="-457200" defTabSz="1216025">
              <a:spcBef>
                <a:spcPts val="400"/>
              </a:spcBef>
              <a:buSzPct val="100000"/>
              <a:buChar char="❖"/>
              <a:defRPr b="1">
                <a:solidFill>
                  <a:srgbClr val="FFFFFF"/>
                </a:solidFill>
                <a:latin typeface="Arial"/>
                <a:ea typeface="Arial"/>
                <a:cs typeface="Arial"/>
                <a:sym typeface="Arial"/>
              </a:defRPr>
            </a:pPr>
            <a:r>
              <a:t>Identify real world entities from multiple data sources, e.g., Bill Clinton = William Clinton </a:t>
            </a:r>
          </a:p>
          <a:p>
            <a:pPr marL="342900" indent="-342900" defTabSz="1216025">
              <a:spcBef>
                <a:spcPts val="400"/>
              </a:spcBef>
              <a:buSzPct val="100000"/>
              <a:buChar char="➢"/>
              <a:defRPr b="1" sz="2000">
                <a:solidFill>
                  <a:srgbClr val="FFFFFF"/>
                </a:solidFill>
                <a:latin typeface="Arial"/>
                <a:ea typeface="Arial"/>
                <a:cs typeface="Arial"/>
                <a:sym typeface="Arial"/>
              </a:defRPr>
            </a:pPr>
            <a:r>
              <a:t>Detecting and resolving data value conﬂicts</a:t>
            </a:r>
          </a:p>
          <a:p>
            <a:pPr lvl="1" marL="1200150" indent="-457200" defTabSz="1216025">
              <a:spcBef>
                <a:spcPts val="400"/>
              </a:spcBef>
              <a:buSzPct val="100000"/>
              <a:buChar char="❖"/>
              <a:defRPr b="1">
                <a:solidFill>
                  <a:srgbClr val="FFFFFF"/>
                </a:solidFill>
                <a:latin typeface="Arial"/>
                <a:ea typeface="Arial"/>
                <a:cs typeface="Arial"/>
                <a:sym typeface="Arial"/>
              </a:defRPr>
            </a:pPr>
            <a:r>
              <a:t>  For the same real-world entity, attribute values from different sources are different </a:t>
            </a:r>
          </a:p>
          <a:p>
            <a:pPr lvl="1" marL="1200150" indent="-457200" defTabSz="1216025">
              <a:spcBef>
                <a:spcPts val="400"/>
              </a:spcBef>
              <a:buSzPct val="100000"/>
              <a:buChar char="❖"/>
              <a:defRPr b="1">
                <a:solidFill>
                  <a:srgbClr val="FFFFFF"/>
                </a:solidFill>
                <a:latin typeface="Arial"/>
                <a:ea typeface="Arial"/>
                <a:cs typeface="Arial"/>
                <a:sym typeface="Arial"/>
              </a:defRPr>
            </a:pPr>
            <a:r>
              <a:t>  Possible reasons: different representations, different scales, e.g., metric vs. British units</a:t>
            </a:r>
          </a:p>
          <a:p>
            <a:pPr marL="342900" indent="-342900" defTabSz="1216025">
              <a:spcBef>
                <a:spcPts val="400"/>
              </a:spcBef>
              <a:buSzPct val="100000"/>
              <a:buChar char="➢"/>
              <a:defRPr b="1" sz="2000">
                <a:solidFill>
                  <a:srgbClr val="FFFFFF"/>
                </a:solidFill>
                <a:latin typeface="Arial"/>
                <a:ea typeface="Arial"/>
                <a:cs typeface="Arial"/>
                <a:sym typeface="Arial"/>
              </a:defRPr>
            </a:pPr>
            <a:r>
              <a:t>Handling Redundancy </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291"/>
                                        </p:tgtEl>
                                        <p:attrNameLst>
                                          <p:attrName>style.visibility</p:attrName>
                                        </p:attrNameLst>
                                      </p:cBhvr>
                                      <p:to>
                                        <p:strVal val="visible"/>
                                      </p:to>
                                    </p:set>
                                    <p:animEffect filter="blinds(horizontal)" transition="in">
                                      <p:cBhvr>
                                        <p:cTn id="7" dur="500"/>
                                        <p:tgtEl>
                                          <p:spTgt spid="29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91" grpId="1"/>
    </p:bldLst>
  </p:timing>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3"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296" name="Group"/>
          <p:cNvGrpSpPr/>
          <p:nvPr/>
        </p:nvGrpSpPr>
        <p:grpSpPr>
          <a:xfrm>
            <a:off x="10625137" y="5580062"/>
            <a:ext cx="1566864" cy="1281113"/>
            <a:chOff x="0" y="0"/>
            <a:chExt cx="1566862" cy="1281112"/>
          </a:xfrm>
        </p:grpSpPr>
        <p:pic>
          <p:nvPicPr>
            <p:cNvPr id="294"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295"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297"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298" name="Data Preprocessing Tasks - Data Reduction"/>
          <p:cNvSpPr txBox="1"/>
          <p:nvPr/>
        </p:nvSpPr>
        <p:spPr>
          <a:xfrm>
            <a:off x="190182" y="207962"/>
            <a:ext cx="6484403"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Data Preprocessing Tasks - Data Reduction </a:t>
            </a:r>
          </a:p>
        </p:txBody>
      </p:sp>
      <p:sp>
        <p:nvSpPr>
          <p:cNvPr id="299" name="Why data reduction?…"/>
          <p:cNvSpPr txBox="1"/>
          <p:nvPr/>
        </p:nvSpPr>
        <p:spPr>
          <a:xfrm>
            <a:off x="568325" y="1800225"/>
            <a:ext cx="11055350" cy="350839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400"/>
              </a:spcBef>
              <a:buSzPct val="100000"/>
              <a:buChar char="➢"/>
              <a:defRPr b="1" sz="2000">
                <a:solidFill>
                  <a:srgbClr val="FFFFFF"/>
                </a:solidFill>
                <a:latin typeface="Arial"/>
                <a:ea typeface="Arial"/>
                <a:cs typeface="Arial"/>
                <a:sym typeface="Arial"/>
              </a:defRPr>
            </a:pPr>
            <a:r>
              <a:t>Why data reduction?</a:t>
            </a:r>
          </a:p>
          <a:p>
            <a:pPr lvl="1" marL="1200150" indent="-457200" defTabSz="1216025">
              <a:spcBef>
                <a:spcPts val="400"/>
              </a:spcBef>
              <a:buSzPct val="100000"/>
              <a:buChar char="❖"/>
              <a:defRPr b="1">
                <a:solidFill>
                  <a:srgbClr val="FFFFFF"/>
                </a:solidFill>
                <a:latin typeface="Arial"/>
                <a:ea typeface="Arial"/>
                <a:cs typeface="Arial"/>
                <a:sym typeface="Arial"/>
              </a:defRPr>
            </a:pPr>
            <a:r>
              <a:t>A database/data warehouse may store terabytes of data </a:t>
            </a:r>
          </a:p>
          <a:p>
            <a:pPr lvl="1" marL="1200150" indent="-457200" defTabSz="1216025">
              <a:spcBef>
                <a:spcPts val="400"/>
              </a:spcBef>
              <a:buSzPct val="100000"/>
              <a:buChar char="❖"/>
              <a:defRPr b="1">
                <a:solidFill>
                  <a:srgbClr val="FFFFFF"/>
                </a:solidFill>
                <a:latin typeface="Arial"/>
                <a:ea typeface="Arial"/>
                <a:cs typeface="Arial"/>
                <a:sym typeface="Arial"/>
              </a:defRPr>
            </a:pPr>
            <a:r>
              <a:t>Complex data analysis/mining may take a very long time to run on the complete data </a:t>
            </a:r>
          </a:p>
          <a:p>
            <a:pPr marL="342900" indent="-342900" defTabSz="1216025">
              <a:spcBef>
                <a:spcPts val="400"/>
              </a:spcBef>
              <a:buSzPct val="100000"/>
              <a:buChar char="➢"/>
              <a:defRPr b="1" sz="2000">
                <a:solidFill>
                  <a:srgbClr val="FFFFFF"/>
                </a:solidFill>
                <a:latin typeface="Arial"/>
                <a:ea typeface="Arial"/>
                <a:cs typeface="Arial"/>
                <a:sym typeface="Arial"/>
              </a:defRPr>
            </a:pPr>
            <a:r>
              <a:t>Data reduction</a:t>
            </a:r>
          </a:p>
          <a:p>
            <a:pPr lvl="1" marL="1200150" indent="-457200" defTabSz="1216025">
              <a:spcBef>
                <a:spcPts val="400"/>
              </a:spcBef>
              <a:buSzPct val="100000"/>
              <a:buChar char="❖"/>
              <a:defRPr b="1">
                <a:solidFill>
                  <a:srgbClr val="FFFFFF"/>
                </a:solidFill>
                <a:latin typeface="Arial"/>
                <a:ea typeface="Arial"/>
                <a:cs typeface="Arial"/>
                <a:sym typeface="Arial"/>
              </a:defRPr>
            </a:pPr>
            <a:r>
              <a:t>Obtain a reduced representation of the data set that is much smaller in volume but yet produce the same (or almost the same) analytical results</a:t>
            </a:r>
          </a:p>
          <a:p>
            <a:pPr marL="342900" indent="-342900" defTabSz="1216025">
              <a:spcBef>
                <a:spcPts val="400"/>
              </a:spcBef>
              <a:buSzPct val="100000"/>
              <a:buChar char="➢"/>
              <a:defRPr b="1" sz="2000">
                <a:solidFill>
                  <a:srgbClr val="FFFFFF"/>
                </a:solidFill>
                <a:latin typeface="Arial"/>
                <a:ea typeface="Arial"/>
                <a:cs typeface="Arial"/>
                <a:sym typeface="Arial"/>
              </a:defRPr>
            </a:pPr>
            <a:r>
              <a:t>Data reduction strategies</a:t>
            </a:r>
          </a:p>
          <a:p>
            <a:pPr lvl="1" marL="1200150" indent="-457200" defTabSz="1216025">
              <a:spcBef>
                <a:spcPts val="400"/>
              </a:spcBef>
              <a:buSzPct val="100000"/>
              <a:buChar char="❖"/>
              <a:defRPr b="1">
                <a:solidFill>
                  <a:srgbClr val="FFFFFF"/>
                </a:solidFill>
                <a:latin typeface="Arial"/>
                <a:ea typeface="Arial"/>
                <a:cs typeface="Arial"/>
                <a:sym typeface="Arial"/>
              </a:defRPr>
            </a:pPr>
            <a:r>
              <a:t>  Remove unimportant attributes</a:t>
            </a:r>
          </a:p>
          <a:p>
            <a:pPr lvl="1" marL="1200150" indent="-457200" defTabSz="1216025">
              <a:spcBef>
                <a:spcPts val="400"/>
              </a:spcBef>
              <a:buSzPct val="100000"/>
              <a:buChar char="❖"/>
              <a:defRPr b="1">
                <a:solidFill>
                  <a:srgbClr val="FFFFFF"/>
                </a:solidFill>
                <a:latin typeface="Arial"/>
                <a:ea typeface="Arial"/>
                <a:cs typeface="Arial"/>
                <a:sym typeface="Arial"/>
              </a:defRPr>
            </a:pPr>
            <a:r>
              <a:t>  Text Representation</a:t>
            </a:r>
          </a:p>
          <a:p>
            <a:pPr lvl="1" marL="1200150" indent="-457200" defTabSz="1216025">
              <a:spcBef>
                <a:spcPts val="400"/>
              </a:spcBef>
              <a:buSzPct val="100000"/>
              <a:buChar char="❖"/>
              <a:defRPr b="1">
                <a:solidFill>
                  <a:srgbClr val="FFFFFF"/>
                </a:solidFill>
                <a:latin typeface="Arial"/>
                <a:ea typeface="Arial"/>
                <a:cs typeface="Arial"/>
                <a:sym typeface="Arial"/>
              </a:defRPr>
            </a:pPr>
            <a:r>
              <a:t>  Feature selection</a:t>
            </a:r>
          </a:p>
          <a:p>
            <a:pPr lvl="1" marL="1200150" indent="-457200" defTabSz="1216025">
              <a:spcBef>
                <a:spcPts val="400"/>
              </a:spcBef>
              <a:buSzPct val="100000"/>
              <a:buChar char="❖"/>
              <a:defRPr b="1">
                <a:solidFill>
                  <a:srgbClr val="FFFFFF"/>
                </a:solidFill>
                <a:latin typeface="Arial"/>
                <a:ea typeface="Arial"/>
                <a:cs typeface="Arial"/>
                <a:sym typeface="Arial"/>
              </a:defRPr>
            </a:pPr>
            <a:r>
              <a:t>  … </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299"/>
                                        </p:tgtEl>
                                        <p:attrNameLst>
                                          <p:attrName>style.visibility</p:attrName>
                                        </p:attrNameLst>
                                      </p:cBhvr>
                                      <p:to>
                                        <p:strVal val="visible"/>
                                      </p:to>
                                    </p:set>
                                    <p:animEffect filter="blinds(horizontal)" transition="in">
                                      <p:cBhvr>
                                        <p:cTn id="7" dur="500"/>
                                        <p:tgtEl>
                                          <p:spTgt spid="2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99" grpId="1"/>
    </p:bldLst>
  </p:timing>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grpSp>
        <p:nvGrpSpPr>
          <p:cNvPr id="303" name="Group"/>
          <p:cNvGrpSpPr/>
          <p:nvPr/>
        </p:nvGrpSpPr>
        <p:grpSpPr>
          <a:xfrm>
            <a:off x="6804024" y="3178174"/>
            <a:ext cx="5578477" cy="3481389"/>
            <a:chOff x="0" y="0"/>
            <a:chExt cx="5578475" cy="3481387"/>
          </a:xfrm>
        </p:grpSpPr>
        <p:pic>
          <p:nvPicPr>
            <p:cNvPr id="301" name="image.png" descr="image.png"/>
            <p:cNvPicPr>
              <a:picLocks noChangeAspect="1"/>
            </p:cNvPicPr>
            <p:nvPr/>
          </p:nvPicPr>
          <p:blipFill>
            <a:blip r:embed="rId2">
              <a:extLst/>
            </a:blip>
            <a:srcRect l="0" t="0" r="0" b="52040"/>
            <a:stretch>
              <a:fillRect/>
            </a:stretch>
          </p:blipFill>
          <p:spPr>
            <a:xfrm>
              <a:off x="6646" y="0"/>
              <a:ext cx="5571830" cy="1720707"/>
            </a:xfrm>
            <a:prstGeom prst="rect">
              <a:avLst/>
            </a:prstGeom>
            <a:ln w="12700" cap="flat">
              <a:noFill/>
              <a:miter lim="400000"/>
            </a:ln>
            <a:effectLst/>
          </p:spPr>
        </p:pic>
        <p:pic>
          <p:nvPicPr>
            <p:cNvPr id="302" name="image.png" descr="image.png"/>
            <p:cNvPicPr>
              <a:picLocks noChangeAspect="1"/>
            </p:cNvPicPr>
            <p:nvPr/>
          </p:nvPicPr>
          <p:blipFill>
            <a:blip r:embed="rId2">
              <a:extLst/>
            </a:blip>
            <a:srcRect l="0" t="50633" r="2627" b="0"/>
            <a:stretch>
              <a:fillRect/>
            </a:stretch>
          </p:blipFill>
          <p:spPr>
            <a:xfrm>
              <a:off x="-1" y="1710252"/>
              <a:ext cx="5425464" cy="1771136"/>
            </a:xfrm>
            <a:prstGeom prst="rect">
              <a:avLst/>
            </a:prstGeom>
            <a:ln w="12700" cap="flat">
              <a:noFill/>
              <a:miter lim="400000"/>
            </a:ln>
            <a:effectLst/>
          </p:spPr>
        </p:pic>
      </p:grpSp>
      <p:pic>
        <p:nvPicPr>
          <p:cNvPr id="304" name="image.png" descr="image.png"/>
          <p:cNvPicPr>
            <a:picLocks noChangeAspect="1"/>
          </p:cNvPicPr>
          <p:nvPr/>
        </p:nvPicPr>
        <p:blipFill>
          <a:blip r:embed="rId3">
            <a:extLst/>
          </a:blip>
          <a:stretch>
            <a:fillRect/>
          </a:stretch>
        </p:blipFill>
        <p:spPr>
          <a:xfrm>
            <a:off x="2632075" y="354012"/>
            <a:ext cx="7481888" cy="3743326"/>
          </a:xfrm>
          <a:prstGeom prst="rect">
            <a:avLst/>
          </a:prstGeom>
          <a:ln w="12700">
            <a:miter lim="400000"/>
          </a:ln>
        </p:spPr>
      </p:pic>
      <p:sp>
        <p:nvSpPr>
          <p:cNvPr id="305" name="Rectangle"/>
          <p:cNvSpPr/>
          <p:nvPr/>
        </p:nvSpPr>
        <p:spPr>
          <a:xfrm>
            <a:off x="0" y="4902200"/>
            <a:ext cx="12192000" cy="1955800"/>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306" name="4"/>
          <p:cNvSpPr txBox="1"/>
          <p:nvPr/>
        </p:nvSpPr>
        <p:spPr>
          <a:xfrm>
            <a:off x="45720" y="1571625"/>
            <a:ext cx="1403985" cy="53365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4400">
                <a:solidFill>
                  <a:srgbClr val="1C4885"/>
                </a:solidFill>
                <a:latin typeface="Microsoft YaHei"/>
                <a:ea typeface="Microsoft YaHei"/>
                <a:cs typeface="Microsoft YaHei"/>
                <a:sym typeface="Microsoft YaHei"/>
              </a:defRPr>
            </a:lvl1pPr>
          </a:lstStyle>
          <a:p>
            <a:pPr/>
            <a:r>
              <a:t>4</a:t>
            </a:r>
          </a:p>
        </p:txBody>
      </p:sp>
      <p:sp>
        <p:nvSpPr>
          <p:cNvPr id="307" name="Python for Data Cleaning"/>
          <p:cNvSpPr txBox="1"/>
          <p:nvPr/>
        </p:nvSpPr>
        <p:spPr>
          <a:xfrm>
            <a:off x="2677794" y="3975100"/>
            <a:ext cx="9066849" cy="9169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5400">
                <a:solidFill>
                  <a:srgbClr val="1C4885"/>
                </a:solidFill>
                <a:latin typeface="Microsoft YaHei"/>
                <a:ea typeface="Microsoft YaHei"/>
                <a:cs typeface="Microsoft YaHei"/>
                <a:sym typeface="Microsoft YaHei"/>
              </a:defRPr>
            </a:lvl1pPr>
          </a:lstStyle>
          <a:p>
            <a:pPr/>
            <a:r>
              <a:t>Python for Data Cleaning</a:t>
            </a:r>
          </a:p>
        </p:txBody>
      </p:sp>
      <p:sp>
        <p:nvSpPr>
          <p:cNvPr id="308" name="Shape"/>
          <p:cNvSpPr/>
          <p:nvPr/>
        </p:nvSpPr>
        <p:spPr>
          <a:xfrm>
            <a:off x="168275" y="4889500"/>
            <a:ext cx="2484438" cy="928688"/>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0" y="0"/>
                </a:moveTo>
                <a:lnTo>
                  <a:pt x="21600" y="0"/>
                </a:lnTo>
                <a:lnTo>
                  <a:pt x="21600" y="4833"/>
                </a:lnTo>
                <a:lnTo>
                  <a:pt x="18111" y="4833"/>
                </a:lnTo>
                <a:lnTo>
                  <a:pt x="18111" y="21600"/>
                </a:lnTo>
                <a:lnTo>
                  <a:pt x="12637" y="21600"/>
                </a:lnTo>
                <a:lnTo>
                  <a:pt x="12637" y="4833"/>
                </a:lnTo>
                <a:lnTo>
                  <a:pt x="0" y="4833"/>
                </a:lnTo>
                <a:lnTo>
                  <a:pt x="0" y="0"/>
                </a:lnTo>
                <a:close/>
              </a:path>
            </a:pathLst>
          </a:custGeom>
          <a:solidFill>
            <a:srgbClr val="FFFFFF"/>
          </a:solidFill>
          <a:ln w="12700">
            <a:miter lim="400000"/>
          </a:ln>
        </p:spPr>
        <p:txBody>
          <a:bodyPr lIns="45719" rIns="45719"/>
          <a:lstStyle/>
          <a:p>
            <a:pPr/>
          </a:p>
        </p:txBody>
      </p:sp>
      <p:sp>
        <p:nvSpPr>
          <p:cNvPr id="309"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310"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2"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315" name="Group"/>
          <p:cNvGrpSpPr/>
          <p:nvPr/>
        </p:nvGrpSpPr>
        <p:grpSpPr>
          <a:xfrm>
            <a:off x="10625137" y="5580062"/>
            <a:ext cx="1566864" cy="1281113"/>
            <a:chOff x="0" y="0"/>
            <a:chExt cx="1566862" cy="1281112"/>
          </a:xfrm>
        </p:grpSpPr>
        <p:pic>
          <p:nvPicPr>
            <p:cNvPr id="313"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314"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316"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317" name="Data Preprocessing Tasks"/>
          <p:cNvSpPr txBox="1"/>
          <p:nvPr/>
        </p:nvSpPr>
        <p:spPr>
          <a:xfrm>
            <a:off x="190182" y="207962"/>
            <a:ext cx="3978137"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Data Preprocessing Tasks </a:t>
            </a:r>
          </a:p>
        </p:txBody>
      </p:sp>
      <p:pic>
        <p:nvPicPr>
          <p:cNvPr id="318" name="image.png" descr="image.png"/>
          <p:cNvPicPr>
            <a:picLocks noChangeAspect="1"/>
          </p:cNvPicPr>
          <p:nvPr/>
        </p:nvPicPr>
        <p:blipFill>
          <a:blip r:embed="rId4">
            <a:extLst/>
          </a:blip>
          <a:stretch>
            <a:fillRect/>
          </a:stretch>
        </p:blipFill>
        <p:spPr>
          <a:xfrm>
            <a:off x="795337" y="1265237"/>
            <a:ext cx="10455276" cy="4783138"/>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318"/>
                                        </p:tgtEl>
                                        <p:attrNameLst>
                                          <p:attrName>style.visibility</p:attrName>
                                        </p:attrNameLst>
                                      </p:cBhvr>
                                      <p:to>
                                        <p:strVal val="visible"/>
                                      </p:to>
                                    </p:set>
                                    <p:animEffect filter="blinds(horizontal)" transition="in">
                                      <p:cBhvr>
                                        <p:cTn id="7" dur="500"/>
                                        <p:tgtEl>
                                          <p:spTgt spid="31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18" grpId="1"/>
    </p:bldLst>
  </p:timing>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0"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323" name="Group"/>
          <p:cNvGrpSpPr/>
          <p:nvPr/>
        </p:nvGrpSpPr>
        <p:grpSpPr>
          <a:xfrm>
            <a:off x="10625137" y="5580062"/>
            <a:ext cx="1566864" cy="1281113"/>
            <a:chOff x="0" y="0"/>
            <a:chExt cx="1566862" cy="1281112"/>
          </a:xfrm>
        </p:grpSpPr>
        <p:pic>
          <p:nvPicPr>
            <p:cNvPr id="321"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322"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324"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325" name="Basic feature extraction using text data"/>
          <p:cNvSpPr txBox="1"/>
          <p:nvPr/>
        </p:nvSpPr>
        <p:spPr>
          <a:xfrm>
            <a:off x="190182" y="207962"/>
            <a:ext cx="5795477"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Basic feature extraction using text data</a:t>
            </a:r>
          </a:p>
        </p:txBody>
      </p:sp>
      <p:sp>
        <p:nvSpPr>
          <p:cNvPr id="326" name="Number of words…"/>
          <p:cNvSpPr txBox="1"/>
          <p:nvPr/>
        </p:nvSpPr>
        <p:spPr>
          <a:xfrm>
            <a:off x="1655762" y="2325687"/>
            <a:ext cx="4440239" cy="240215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400"/>
              </a:spcBef>
              <a:buSzPct val="100000"/>
              <a:buChar char="➢"/>
              <a:defRPr b="1" sz="2000">
                <a:solidFill>
                  <a:srgbClr val="FFFFFF"/>
                </a:solidFill>
                <a:latin typeface="Arial"/>
                <a:ea typeface="Arial"/>
                <a:cs typeface="Arial"/>
                <a:sym typeface="Arial"/>
              </a:defRPr>
            </a:pPr>
            <a:r>
              <a:t>Number of words</a:t>
            </a:r>
          </a:p>
          <a:p>
            <a:pPr marL="342900" indent="-342900" defTabSz="1216025">
              <a:spcBef>
                <a:spcPts val="400"/>
              </a:spcBef>
              <a:buSzPct val="100000"/>
              <a:buChar char="➢"/>
              <a:defRPr b="1" sz="2000">
                <a:solidFill>
                  <a:srgbClr val="FFFFFF"/>
                </a:solidFill>
                <a:latin typeface="Arial"/>
                <a:ea typeface="Arial"/>
                <a:cs typeface="Arial"/>
                <a:sym typeface="Arial"/>
              </a:defRPr>
            </a:pPr>
            <a:r>
              <a:t>Number of characters</a:t>
            </a:r>
          </a:p>
          <a:p>
            <a:pPr marL="342900" indent="-342900" defTabSz="1216025">
              <a:spcBef>
                <a:spcPts val="400"/>
              </a:spcBef>
              <a:buSzPct val="100000"/>
              <a:buChar char="➢"/>
              <a:defRPr b="1" sz="2000">
                <a:solidFill>
                  <a:srgbClr val="FFFFFF"/>
                </a:solidFill>
                <a:latin typeface="Arial"/>
                <a:ea typeface="Arial"/>
                <a:cs typeface="Arial"/>
                <a:sym typeface="Arial"/>
              </a:defRPr>
            </a:pPr>
            <a:r>
              <a:t>Average word length</a:t>
            </a:r>
          </a:p>
          <a:p>
            <a:pPr marL="342900" indent="-342900" defTabSz="1216025">
              <a:spcBef>
                <a:spcPts val="400"/>
              </a:spcBef>
              <a:buSzPct val="100000"/>
              <a:buChar char="➢"/>
              <a:defRPr b="1" sz="2000">
                <a:solidFill>
                  <a:srgbClr val="FFFFFF"/>
                </a:solidFill>
                <a:latin typeface="Arial"/>
                <a:ea typeface="Arial"/>
                <a:cs typeface="Arial"/>
                <a:sym typeface="Arial"/>
              </a:defRPr>
            </a:pPr>
            <a:r>
              <a:t>Number of stopwords</a:t>
            </a:r>
          </a:p>
          <a:p>
            <a:pPr marL="342900" indent="-342900" defTabSz="1216025">
              <a:spcBef>
                <a:spcPts val="400"/>
              </a:spcBef>
              <a:buSzPct val="100000"/>
              <a:buChar char="➢"/>
              <a:defRPr b="1" sz="2000">
                <a:solidFill>
                  <a:srgbClr val="FFFFFF"/>
                </a:solidFill>
                <a:latin typeface="Arial"/>
                <a:ea typeface="Arial"/>
                <a:cs typeface="Arial"/>
                <a:sym typeface="Arial"/>
              </a:defRPr>
            </a:pPr>
            <a:r>
              <a:t>Number of special characters</a:t>
            </a:r>
          </a:p>
          <a:p>
            <a:pPr marL="342900" indent="-342900" defTabSz="1216025">
              <a:spcBef>
                <a:spcPts val="400"/>
              </a:spcBef>
              <a:buSzPct val="100000"/>
              <a:buChar char="➢"/>
              <a:defRPr b="1" sz="2000">
                <a:solidFill>
                  <a:srgbClr val="FFFFFF"/>
                </a:solidFill>
                <a:latin typeface="Arial"/>
                <a:ea typeface="Arial"/>
                <a:cs typeface="Arial"/>
                <a:sym typeface="Arial"/>
              </a:defRPr>
            </a:pPr>
            <a:r>
              <a:t>Number of numerics</a:t>
            </a:r>
          </a:p>
          <a:p>
            <a:pPr marL="342900" indent="-342900" defTabSz="1216025">
              <a:spcBef>
                <a:spcPts val="400"/>
              </a:spcBef>
              <a:buSzPct val="100000"/>
              <a:buChar char="➢"/>
              <a:defRPr b="1" sz="2000">
                <a:solidFill>
                  <a:srgbClr val="FFFFFF"/>
                </a:solidFill>
                <a:latin typeface="Arial"/>
                <a:ea typeface="Arial"/>
                <a:cs typeface="Arial"/>
                <a:sym typeface="Arial"/>
              </a:defRPr>
            </a:pPr>
            <a:r>
              <a:t>Number of uppercase words</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326"/>
                                        </p:tgtEl>
                                        <p:attrNameLst>
                                          <p:attrName>style.visibility</p:attrName>
                                        </p:attrNameLst>
                                      </p:cBhvr>
                                      <p:to>
                                        <p:strVal val="visible"/>
                                      </p:to>
                                    </p:set>
                                    <p:animEffect filter="blinds(horizontal)" transition="in">
                                      <p:cBhvr>
                                        <p:cTn id="7" dur="500"/>
                                        <p:tgtEl>
                                          <p:spTgt spid="3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26" grpId="1"/>
    </p:bldLst>
  </p:timing>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8"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331" name="Group"/>
          <p:cNvGrpSpPr/>
          <p:nvPr/>
        </p:nvGrpSpPr>
        <p:grpSpPr>
          <a:xfrm>
            <a:off x="10625137" y="5580062"/>
            <a:ext cx="1566864" cy="1281113"/>
            <a:chOff x="0" y="0"/>
            <a:chExt cx="1566862" cy="1281112"/>
          </a:xfrm>
        </p:grpSpPr>
        <p:pic>
          <p:nvPicPr>
            <p:cNvPr id="329"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330"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332"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333" name="Basic feature extraction using text data - Number of words"/>
          <p:cNvSpPr txBox="1"/>
          <p:nvPr/>
        </p:nvSpPr>
        <p:spPr>
          <a:xfrm>
            <a:off x="190182" y="207962"/>
            <a:ext cx="8572611"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Basic feature extraction using text data - Number of words</a:t>
            </a:r>
          </a:p>
        </p:txBody>
      </p:sp>
      <p:sp>
        <p:nvSpPr>
          <p:cNvPr id="334" name="One of the most basic features we can extract is the number of words in each tweet. The basic intuition behind this is that generally, the negative sentiments contain a lesser amount of words than the positive ones"/>
          <p:cNvSpPr txBox="1"/>
          <p:nvPr/>
        </p:nvSpPr>
        <p:spPr>
          <a:xfrm>
            <a:off x="1212850" y="1604962"/>
            <a:ext cx="9766300" cy="4005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6025">
              <a:spcBef>
                <a:spcPts val="300"/>
              </a:spcBef>
              <a:defRPr b="1" sz="1400">
                <a:solidFill>
                  <a:srgbClr val="FFFFFF"/>
                </a:solidFill>
                <a:latin typeface="Arial"/>
                <a:ea typeface="Arial"/>
                <a:cs typeface="Arial"/>
                <a:sym typeface="Arial"/>
              </a:defRPr>
            </a:lvl1pPr>
          </a:lstStyle>
          <a:p>
            <a:pPr/>
            <a:r>
              <a:t>One of the most basic features we can extract is the number of words in each tweet. The basic intuition behind this is that generally, the negative sentiments contain a lesser amount of words than the positive ones</a:t>
            </a:r>
          </a:p>
        </p:txBody>
      </p:sp>
      <p:pic>
        <p:nvPicPr>
          <p:cNvPr id="335" name="image.png" descr="image.png"/>
          <p:cNvPicPr>
            <a:picLocks noChangeAspect="1"/>
          </p:cNvPicPr>
          <p:nvPr/>
        </p:nvPicPr>
        <p:blipFill>
          <a:blip r:embed="rId4">
            <a:extLst/>
          </a:blip>
          <a:stretch>
            <a:fillRect/>
          </a:stretch>
        </p:blipFill>
        <p:spPr>
          <a:xfrm>
            <a:off x="1557337" y="2455862"/>
            <a:ext cx="8639176" cy="3124201"/>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334"/>
                                        </p:tgtEl>
                                        <p:attrNameLst>
                                          <p:attrName>style.visibility</p:attrName>
                                        </p:attrNameLst>
                                      </p:cBhvr>
                                      <p:to>
                                        <p:strVal val="visible"/>
                                      </p:to>
                                    </p:set>
                                    <p:animEffect filter="blinds(horizontal)" transition="in">
                                      <p:cBhvr>
                                        <p:cTn id="7" dur="500"/>
                                        <p:tgtEl>
                                          <p:spTgt spid="33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34" grpId="1"/>
    </p:bldLst>
  </p:timing>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37"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340" name="Group"/>
          <p:cNvGrpSpPr/>
          <p:nvPr/>
        </p:nvGrpSpPr>
        <p:grpSpPr>
          <a:xfrm>
            <a:off x="10625137" y="5580062"/>
            <a:ext cx="1566864" cy="1281113"/>
            <a:chOff x="0" y="0"/>
            <a:chExt cx="1566862" cy="1281112"/>
          </a:xfrm>
        </p:grpSpPr>
        <p:pic>
          <p:nvPicPr>
            <p:cNvPr id="338"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339"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341"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342" name="Basic feature extraction using text data - Number of characters"/>
          <p:cNvSpPr txBox="1"/>
          <p:nvPr/>
        </p:nvSpPr>
        <p:spPr>
          <a:xfrm>
            <a:off x="190182" y="207962"/>
            <a:ext cx="9217036"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Basic feature extraction using text data - Number of characters</a:t>
            </a:r>
          </a:p>
        </p:txBody>
      </p:sp>
      <p:sp>
        <p:nvSpPr>
          <p:cNvPr id="343" name="This feature is also based on the previous feature intuition. Here, we calculate the number of characters in each tweet. This is done by calculating the length of the tweet."/>
          <p:cNvSpPr txBox="1"/>
          <p:nvPr/>
        </p:nvSpPr>
        <p:spPr>
          <a:xfrm>
            <a:off x="1212850" y="1604962"/>
            <a:ext cx="9766300" cy="4005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6025">
              <a:spcBef>
                <a:spcPts val="300"/>
              </a:spcBef>
              <a:defRPr b="1" sz="1400">
                <a:solidFill>
                  <a:srgbClr val="FFFFFF"/>
                </a:solidFill>
                <a:latin typeface="Arial"/>
                <a:ea typeface="Arial"/>
                <a:cs typeface="Arial"/>
                <a:sym typeface="Arial"/>
              </a:defRPr>
            </a:lvl1pPr>
          </a:lstStyle>
          <a:p>
            <a:pPr/>
            <a:r>
              <a:t>This feature is also based on the previous feature intuition. Here, we calculate the number of characters in each tweet. This is done by calculating the length of the tweet.</a:t>
            </a:r>
          </a:p>
        </p:txBody>
      </p:sp>
      <p:pic>
        <p:nvPicPr>
          <p:cNvPr id="344" name="image.png" descr="image.png"/>
          <p:cNvPicPr>
            <a:picLocks noChangeAspect="1"/>
          </p:cNvPicPr>
          <p:nvPr/>
        </p:nvPicPr>
        <p:blipFill>
          <a:blip r:embed="rId4">
            <a:extLst/>
          </a:blip>
          <a:stretch>
            <a:fillRect/>
          </a:stretch>
        </p:blipFill>
        <p:spPr>
          <a:xfrm>
            <a:off x="2657475" y="2489200"/>
            <a:ext cx="6191250" cy="2543175"/>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343"/>
                                        </p:tgtEl>
                                        <p:attrNameLst>
                                          <p:attrName>style.visibility</p:attrName>
                                        </p:attrNameLst>
                                      </p:cBhvr>
                                      <p:to>
                                        <p:strVal val="visible"/>
                                      </p:to>
                                    </p:set>
                                    <p:animEffect filter="blinds(horizontal)" transition="in">
                                      <p:cBhvr>
                                        <p:cTn id="7" dur="500"/>
                                        <p:tgtEl>
                                          <p:spTgt spid="3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43" grpId="1"/>
    </p:bldLst>
  </p:timing>
</p:sld>
</file>

<file path=ppt/slides/slide3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46"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349" name="Group"/>
          <p:cNvGrpSpPr/>
          <p:nvPr/>
        </p:nvGrpSpPr>
        <p:grpSpPr>
          <a:xfrm>
            <a:off x="10625137" y="5580062"/>
            <a:ext cx="1566864" cy="1281113"/>
            <a:chOff x="0" y="0"/>
            <a:chExt cx="1566862" cy="1281112"/>
          </a:xfrm>
        </p:grpSpPr>
        <p:pic>
          <p:nvPicPr>
            <p:cNvPr id="347"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348"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350"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351" name="Basic feature extraction using text data - Average word length"/>
          <p:cNvSpPr txBox="1"/>
          <p:nvPr/>
        </p:nvSpPr>
        <p:spPr>
          <a:xfrm>
            <a:off x="190182" y="207962"/>
            <a:ext cx="9058683"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Basic feature extraction using text data - Average word length</a:t>
            </a:r>
          </a:p>
        </p:txBody>
      </p:sp>
      <p:sp>
        <p:nvSpPr>
          <p:cNvPr id="352" name="We will also extract another feature which will calculate the average word length of each tweet."/>
          <p:cNvSpPr txBox="1"/>
          <p:nvPr/>
        </p:nvSpPr>
        <p:spPr>
          <a:xfrm>
            <a:off x="1793875" y="1731962"/>
            <a:ext cx="9764713"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6025">
              <a:spcBef>
                <a:spcPts val="300"/>
              </a:spcBef>
              <a:defRPr b="1" sz="1400">
                <a:solidFill>
                  <a:srgbClr val="FFFFFF"/>
                </a:solidFill>
                <a:latin typeface="Arial"/>
                <a:ea typeface="Arial"/>
                <a:cs typeface="Arial"/>
                <a:sym typeface="Arial"/>
              </a:defRPr>
            </a:lvl1pPr>
          </a:lstStyle>
          <a:p>
            <a:pPr/>
            <a:r>
              <a:t>We will also extract another feature which will calculate the average word length of each tweet.</a:t>
            </a:r>
          </a:p>
        </p:txBody>
      </p:sp>
      <p:pic>
        <p:nvPicPr>
          <p:cNvPr id="353" name="image.png" descr="image.png"/>
          <p:cNvPicPr>
            <a:picLocks noChangeAspect="1"/>
          </p:cNvPicPr>
          <p:nvPr/>
        </p:nvPicPr>
        <p:blipFill>
          <a:blip r:embed="rId4">
            <a:extLst/>
          </a:blip>
          <a:stretch>
            <a:fillRect/>
          </a:stretch>
        </p:blipFill>
        <p:spPr>
          <a:xfrm>
            <a:off x="3036887" y="2265362"/>
            <a:ext cx="5467351" cy="3314701"/>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352"/>
                                        </p:tgtEl>
                                        <p:attrNameLst>
                                          <p:attrName>style.visibility</p:attrName>
                                        </p:attrNameLst>
                                      </p:cBhvr>
                                      <p:to>
                                        <p:strVal val="visible"/>
                                      </p:to>
                                    </p:set>
                                    <p:animEffect filter="blinds(horizontal)" transition="in">
                                      <p:cBhvr>
                                        <p:cTn id="7" dur="500"/>
                                        <p:tgtEl>
                                          <p:spTgt spid="3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52" grpId="1"/>
    </p:bldLst>
  </p:timing>
</p:sld>
</file>

<file path=ppt/slides/slide3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5"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358" name="Group"/>
          <p:cNvGrpSpPr/>
          <p:nvPr/>
        </p:nvGrpSpPr>
        <p:grpSpPr>
          <a:xfrm>
            <a:off x="10625137" y="5580062"/>
            <a:ext cx="1566864" cy="1281113"/>
            <a:chOff x="0" y="0"/>
            <a:chExt cx="1566862" cy="1281112"/>
          </a:xfrm>
        </p:grpSpPr>
        <p:pic>
          <p:nvPicPr>
            <p:cNvPr id="356"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357"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359"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360" name="Basic feature extraction using text data - Number of stopwords"/>
          <p:cNvSpPr txBox="1"/>
          <p:nvPr/>
        </p:nvSpPr>
        <p:spPr>
          <a:xfrm>
            <a:off x="190182" y="207962"/>
            <a:ext cx="9215994"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Basic feature extraction using text data - Number of stopwords</a:t>
            </a:r>
          </a:p>
        </p:txBody>
      </p:sp>
      <p:sp>
        <p:nvSpPr>
          <p:cNvPr id="361" name="Generally, while solving an NLP problem, the first thing we do is to remove the stopwords. But sometimes calculating the number of stopwords can also give us some extra information which we might have been losing before."/>
          <p:cNvSpPr txBox="1"/>
          <p:nvPr/>
        </p:nvSpPr>
        <p:spPr>
          <a:xfrm>
            <a:off x="901700" y="1597025"/>
            <a:ext cx="10388600" cy="4005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6025">
              <a:spcBef>
                <a:spcPts val="300"/>
              </a:spcBef>
              <a:defRPr b="1" sz="1400">
                <a:solidFill>
                  <a:srgbClr val="FFFFFF"/>
                </a:solidFill>
                <a:latin typeface="Arial"/>
                <a:ea typeface="Arial"/>
                <a:cs typeface="Arial"/>
                <a:sym typeface="Arial"/>
              </a:defRPr>
            </a:lvl1pPr>
          </a:lstStyle>
          <a:p>
            <a:pPr/>
            <a:r>
              <a:t>Generally, while solving an NLP problem, the first thing we do is to remove the stopwords. But sometimes calculating the number of stopwords can also give us some extra information which we might have been losing before.</a:t>
            </a:r>
          </a:p>
        </p:txBody>
      </p:sp>
      <p:pic>
        <p:nvPicPr>
          <p:cNvPr id="362" name="image.png" descr="image.png"/>
          <p:cNvPicPr>
            <a:picLocks noChangeAspect="1"/>
          </p:cNvPicPr>
          <p:nvPr/>
        </p:nvPicPr>
        <p:blipFill>
          <a:blip r:embed="rId4">
            <a:extLst/>
          </a:blip>
          <a:stretch>
            <a:fillRect/>
          </a:stretch>
        </p:blipFill>
        <p:spPr>
          <a:xfrm>
            <a:off x="2149475" y="2159000"/>
            <a:ext cx="7505700" cy="3829050"/>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361"/>
                                        </p:tgtEl>
                                        <p:attrNameLst>
                                          <p:attrName>style.visibility</p:attrName>
                                        </p:attrNameLst>
                                      </p:cBhvr>
                                      <p:to>
                                        <p:strVal val="visible"/>
                                      </p:to>
                                    </p:set>
                                    <p:animEffect filter="blinds(horizontal)" transition="in">
                                      <p:cBhvr>
                                        <p:cTn id="7" dur="500"/>
                                        <p:tgtEl>
                                          <p:spTgt spid="36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61" grpId="1"/>
    </p:bldLst>
  </p:timing>
</p:sld>
</file>

<file path=ppt/slides/slide3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4"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367" name="Group"/>
          <p:cNvGrpSpPr/>
          <p:nvPr/>
        </p:nvGrpSpPr>
        <p:grpSpPr>
          <a:xfrm>
            <a:off x="10625137" y="5580062"/>
            <a:ext cx="1566864" cy="1281113"/>
            <a:chOff x="0" y="0"/>
            <a:chExt cx="1566862" cy="1281112"/>
          </a:xfrm>
        </p:grpSpPr>
        <p:pic>
          <p:nvPicPr>
            <p:cNvPr id="365"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366"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368"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369" name="Basic feature extraction using text data - Number of special characters"/>
          <p:cNvSpPr txBox="1"/>
          <p:nvPr/>
        </p:nvSpPr>
        <p:spPr>
          <a:xfrm>
            <a:off x="190182" y="207962"/>
            <a:ext cx="10335331"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Basic feature extraction using text data - Number of special characters</a:t>
            </a:r>
          </a:p>
        </p:txBody>
      </p:sp>
      <p:sp>
        <p:nvSpPr>
          <p:cNvPr id="370" name="One more interesting feature which we can extract from a tweet is calculating the number of hashtags or mentions present in it. This also helps in extracting extra information from our text data."/>
          <p:cNvSpPr txBox="1"/>
          <p:nvPr/>
        </p:nvSpPr>
        <p:spPr>
          <a:xfrm>
            <a:off x="901700" y="1597025"/>
            <a:ext cx="10388600" cy="4005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1216025">
              <a:spcBef>
                <a:spcPts val="300"/>
              </a:spcBef>
              <a:defRPr b="1" sz="1400">
                <a:solidFill>
                  <a:srgbClr val="FFFFFF"/>
                </a:solidFill>
                <a:latin typeface="Arial"/>
                <a:ea typeface="Arial"/>
                <a:cs typeface="Arial"/>
                <a:sym typeface="Arial"/>
              </a:defRPr>
            </a:pPr>
            <a:r>
              <a:t>One more interesting feature which we can extract from a tweet is calculating the number of </a:t>
            </a:r>
            <a:r>
              <a:rPr u="sng"/>
              <a:t>hashtags</a:t>
            </a:r>
            <a:r>
              <a:t> or </a:t>
            </a:r>
            <a:r>
              <a:rPr u="sng"/>
              <a:t>mentions</a:t>
            </a:r>
            <a:r>
              <a:t> present in it. This also helps in extracting extra information from our text data.</a:t>
            </a:r>
          </a:p>
        </p:txBody>
      </p:sp>
      <p:pic>
        <p:nvPicPr>
          <p:cNvPr id="371" name="image.png" descr="image.png"/>
          <p:cNvPicPr>
            <a:picLocks noChangeAspect="1"/>
          </p:cNvPicPr>
          <p:nvPr/>
        </p:nvPicPr>
        <p:blipFill>
          <a:blip r:embed="rId4">
            <a:extLst/>
          </a:blip>
          <a:stretch>
            <a:fillRect/>
          </a:stretch>
        </p:blipFill>
        <p:spPr>
          <a:xfrm>
            <a:off x="2009775" y="2589212"/>
            <a:ext cx="7924800" cy="2428876"/>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370"/>
                                        </p:tgtEl>
                                        <p:attrNameLst>
                                          <p:attrName>style.visibility</p:attrName>
                                        </p:attrNameLst>
                                      </p:cBhvr>
                                      <p:to>
                                        <p:strVal val="visible"/>
                                      </p:to>
                                    </p:set>
                                    <p:animEffect filter="blinds(horizontal)" transition="in">
                                      <p:cBhvr>
                                        <p:cTn id="7" dur="500"/>
                                        <p:tgtEl>
                                          <p:spTgt spid="37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70" grpId="1"/>
    </p:bldLst>
  </p:timing>
</p:sld>
</file>

<file path=ppt/slides/slide3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73"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376" name="Group"/>
          <p:cNvGrpSpPr/>
          <p:nvPr/>
        </p:nvGrpSpPr>
        <p:grpSpPr>
          <a:xfrm>
            <a:off x="10625137" y="5580062"/>
            <a:ext cx="1566864" cy="1281113"/>
            <a:chOff x="0" y="0"/>
            <a:chExt cx="1566862" cy="1281112"/>
          </a:xfrm>
        </p:grpSpPr>
        <p:pic>
          <p:nvPicPr>
            <p:cNvPr id="374"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375"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377"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378" name="Basic feature extraction using text data - Number of numerics"/>
          <p:cNvSpPr txBox="1"/>
          <p:nvPr/>
        </p:nvSpPr>
        <p:spPr>
          <a:xfrm>
            <a:off x="190182" y="207962"/>
            <a:ext cx="9030257"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Basic feature extraction using text data - Number of numerics</a:t>
            </a:r>
          </a:p>
        </p:txBody>
      </p:sp>
      <p:sp>
        <p:nvSpPr>
          <p:cNvPr id="379" name="Just like we calculated the number of words, we can also calculate the number of numerics which are present in the tweets."/>
          <p:cNvSpPr txBox="1"/>
          <p:nvPr/>
        </p:nvSpPr>
        <p:spPr>
          <a:xfrm>
            <a:off x="901700" y="1597025"/>
            <a:ext cx="10388600" cy="4005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6025">
              <a:spcBef>
                <a:spcPts val="300"/>
              </a:spcBef>
              <a:defRPr b="1" sz="1400">
                <a:solidFill>
                  <a:srgbClr val="FFFFFF"/>
                </a:solidFill>
                <a:latin typeface="Arial"/>
                <a:ea typeface="Arial"/>
                <a:cs typeface="Arial"/>
                <a:sym typeface="Arial"/>
              </a:defRPr>
            </a:lvl1pPr>
          </a:lstStyle>
          <a:p>
            <a:pPr/>
            <a:r>
              <a:t>Just like we calculated the number of words, we can also calculate the number of numerics which are present in the tweets.</a:t>
            </a:r>
          </a:p>
        </p:txBody>
      </p:sp>
      <p:pic>
        <p:nvPicPr>
          <p:cNvPr id="380" name="image.png" descr="image.png"/>
          <p:cNvPicPr>
            <a:picLocks noChangeAspect="1"/>
          </p:cNvPicPr>
          <p:nvPr/>
        </p:nvPicPr>
        <p:blipFill>
          <a:blip r:embed="rId4">
            <a:extLst/>
          </a:blip>
          <a:stretch>
            <a:fillRect/>
          </a:stretch>
        </p:blipFill>
        <p:spPr>
          <a:xfrm>
            <a:off x="2347912" y="2546350"/>
            <a:ext cx="7496176" cy="2505075"/>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379"/>
                                        </p:tgtEl>
                                        <p:attrNameLst>
                                          <p:attrName>style.visibility</p:attrName>
                                        </p:attrNameLst>
                                      </p:cBhvr>
                                      <p:to>
                                        <p:strVal val="visible"/>
                                      </p:to>
                                    </p:set>
                                    <p:animEffect filter="blinds(horizontal)" transition="in">
                                      <p:cBhvr>
                                        <p:cTn id="7" dur="500"/>
                                        <p:tgtEl>
                                          <p:spTgt spid="3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79" grpId="1"/>
    </p:bldLst>
  </p:timing>
</p:sld>
</file>

<file path=ppt/slides/slide3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82"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385" name="Group"/>
          <p:cNvGrpSpPr/>
          <p:nvPr/>
        </p:nvGrpSpPr>
        <p:grpSpPr>
          <a:xfrm>
            <a:off x="10625137" y="5580062"/>
            <a:ext cx="1566864" cy="1281113"/>
            <a:chOff x="0" y="0"/>
            <a:chExt cx="1566862" cy="1281112"/>
          </a:xfrm>
        </p:grpSpPr>
        <p:pic>
          <p:nvPicPr>
            <p:cNvPr id="383"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384"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386"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387" name="Basic feature extraction using text data - Number of Uppercase words"/>
          <p:cNvSpPr txBox="1"/>
          <p:nvPr/>
        </p:nvSpPr>
        <p:spPr>
          <a:xfrm>
            <a:off x="190182" y="207962"/>
            <a:ext cx="10215970"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Basic feature extraction using text data - Number of Uppercase words</a:t>
            </a:r>
          </a:p>
        </p:txBody>
      </p:sp>
      <p:sp>
        <p:nvSpPr>
          <p:cNvPr id="388" name="Anger or rage is quite often expressed by writing in UPPERCASE words which makes this a necessary operation to identify those words."/>
          <p:cNvSpPr txBox="1"/>
          <p:nvPr/>
        </p:nvSpPr>
        <p:spPr>
          <a:xfrm>
            <a:off x="1292225" y="1597025"/>
            <a:ext cx="9767888" cy="4005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6025">
              <a:spcBef>
                <a:spcPts val="300"/>
              </a:spcBef>
              <a:defRPr b="1" sz="1400">
                <a:solidFill>
                  <a:srgbClr val="FFFFFF"/>
                </a:solidFill>
                <a:latin typeface="Arial"/>
                <a:ea typeface="Arial"/>
                <a:cs typeface="Arial"/>
                <a:sym typeface="Arial"/>
              </a:defRPr>
            </a:lvl1pPr>
          </a:lstStyle>
          <a:p>
            <a:pPr/>
            <a:r>
              <a:t>Anger or rage is quite often expressed by writing in UPPERCASE words which makes this a necessary operation to identify those words.</a:t>
            </a:r>
          </a:p>
        </p:txBody>
      </p:sp>
      <p:pic>
        <p:nvPicPr>
          <p:cNvPr id="389" name="image.png" descr="image.png"/>
          <p:cNvPicPr>
            <a:picLocks noChangeAspect="1"/>
          </p:cNvPicPr>
          <p:nvPr/>
        </p:nvPicPr>
        <p:blipFill>
          <a:blip r:embed="rId4">
            <a:extLst/>
          </a:blip>
          <a:stretch>
            <a:fillRect/>
          </a:stretch>
        </p:blipFill>
        <p:spPr>
          <a:xfrm>
            <a:off x="2189162" y="2360612"/>
            <a:ext cx="7267576" cy="2628901"/>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388"/>
                                        </p:tgtEl>
                                        <p:attrNameLst>
                                          <p:attrName>style.visibility</p:attrName>
                                        </p:attrNameLst>
                                      </p:cBhvr>
                                      <p:to>
                                        <p:strVal val="visible"/>
                                      </p:to>
                                    </p:set>
                                    <p:animEffect filter="blinds(horizontal)" transition="in">
                                      <p:cBhvr>
                                        <p:cTn id="7" dur="500"/>
                                        <p:tgtEl>
                                          <p:spTgt spid="3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88" grpId="1"/>
    </p:bldLst>
  </p:timing>
</p:sld>
</file>

<file path=ppt/slides/slide3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1"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394" name="Group"/>
          <p:cNvGrpSpPr/>
          <p:nvPr/>
        </p:nvGrpSpPr>
        <p:grpSpPr>
          <a:xfrm>
            <a:off x="10625137" y="5580062"/>
            <a:ext cx="1566864" cy="1281113"/>
            <a:chOff x="0" y="0"/>
            <a:chExt cx="1566862" cy="1281112"/>
          </a:xfrm>
        </p:grpSpPr>
        <p:pic>
          <p:nvPicPr>
            <p:cNvPr id="392"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393"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395"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396" name="Basic Pre-processing of text data"/>
          <p:cNvSpPr txBox="1"/>
          <p:nvPr/>
        </p:nvSpPr>
        <p:spPr>
          <a:xfrm>
            <a:off x="190182" y="207962"/>
            <a:ext cx="4931679"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Basic Pre-processing of text data</a:t>
            </a:r>
          </a:p>
        </p:txBody>
      </p:sp>
      <p:sp>
        <p:nvSpPr>
          <p:cNvPr id="397" name="Lower casing…"/>
          <p:cNvSpPr txBox="1"/>
          <p:nvPr/>
        </p:nvSpPr>
        <p:spPr>
          <a:xfrm>
            <a:off x="1735137" y="2087562"/>
            <a:ext cx="6088063" cy="275521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400"/>
              </a:spcBef>
              <a:buSzPct val="100000"/>
              <a:buChar char="➢"/>
              <a:defRPr b="1" sz="2000">
                <a:solidFill>
                  <a:srgbClr val="FFFFFF"/>
                </a:solidFill>
                <a:latin typeface="Arial"/>
                <a:ea typeface="Arial"/>
                <a:cs typeface="Arial"/>
                <a:sym typeface="Arial"/>
              </a:defRPr>
            </a:pPr>
            <a:r>
              <a:t>Lower casing</a:t>
            </a:r>
          </a:p>
          <a:p>
            <a:pPr marL="342900" indent="-342900" defTabSz="1216025">
              <a:spcBef>
                <a:spcPts val="400"/>
              </a:spcBef>
              <a:buSzPct val="100000"/>
              <a:buChar char="➢"/>
              <a:defRPr b="1" sz="2000">
                <a:solidFill>
                  <a:srgbClr val="FFFFFF"/>
                </a:solidFill>
                <a:latin typeface="Arial"/>
                <a:ea typeface="Arial"/>
                <a:cs typeface="Arial"/>
                <a:sym typeface="Arial"/>
              </a:defRPr>
            </a:pPr>
            <a:r>
              <a:t>Punctuation and Stop words removal</a:t>
            </a:r>
          </a:p>
          <a:p>
            <a:pPr marL="342900" indent="-342900" defTabSz="1216025">
              <a:spcBef>
                <a:spcPts val="400"/>
              </a:spcBef>
              <a:buSzPct val="100000"/>
              <a:buChar char="➢"/>
              <a:defRPr b="1" sz="2000">
                <a:solidFill>
                  <a:srgbClr val="FFFFFF"/>
                </a:solidFill>
                <a:latin typeface="Arial"/>
                <a:ea typeface="Arial"/>
                <a:cs typeface="Arial"/>
                <a:sym typeface="Arial"/>
              </a:defRPr>
            </a:pPr>
            <a:r>
              <a:t>Frequent words removal</a:t>
            </a:r>
          </a:p>
          <a:p>
            <a:pPr marL="342900" indent="-342900" defTabSz="1216025">
              <a:spcBef>
                <a:spcPts val="400"/>
              </a:spcBef>
              <a:buSzPct val="100000"/>
              <a:buChar char="➢"/>
              <a:defRPr b="1" sz="2000">
                <a:solidFill>
                  <a:srgbClr val="FFFFFF"/>
                </a:solidFill>
                <a:latin typeface="Arial"/>
                <a:ea typeface="Arial"/>
                <a:cs typeface="Arial"/>
                <a:sym typeface="Arial"/>
              </a:defRPr>
            </a:pPr>
            <a:r>
              <a:t>Rare words removal</a:t>
            </a:r>
          </a:p>
          <a:p>
            <a:pPr marL="342900" indent="-342900" defTabSz="1216025">
              <a:spcBef>
                <a:spcPts val="400"/>
              </a:spcBef>
              <a:buSzPct val="100000"/>
              <a:buChar char="➢"/>
              <a:defRPr b="1" sz="2000">
                <a:solidFill>
                  <a:srgbClr val="FFFFFF"/>
                </a:solidFill>
                <a:latin typeface="Arial"/>
                <a:ea typeface="Arial"/>
                <a:cs typeface="Arial"/>
                <a:sym typeface="Arial"/>
              </a:defRPr>
            </a:pPr>
            <a:r>
              <a:t>Spelling correction</a:t>
            </a:r>
          </a:p>
          <a:p>
            <a:pPr marL="342900" indent="-342900" defTabSz="1216025">
              <a:spcBef>
                <a:spcPts val="400"/>
              </a:spcBef>
              <a:buSzPct val="100000"/>
              <a:buChar char="➢"/>
              <a:defRPr b="1" sz="2000">
                <a:solidFill>
                  <a:srgbClr val="FFFFFF"/>
                </a:solidFill>
                <a:latin typeface="Arial"/>
                <a:ea typeface="Arial"/>
                <a:cs typeface="Arial"/>
                <a:sym typeface="Arial"/>
              </a:defRPr>
            </a:pPr>
            <a:r>
              <a:t>Tokenization</a:t>
            </a:r>
          </a:p>
          <a:p>
            <a:pPr marL="342900" indent="-342900" defTabSz="1216025">
              <a:spcBef>
                <a:spcPts val="400"/>
              </a:spcBef>
              <a:buSzPct val="100000"/>
              <a:buChar char="➢"/>
              <a:defRPr b="1" sz="2000">
                <a:solidFill>
                  <a:srgbClr val="FFFFFF"/>
                </a:solidFill>
                <a:latin typeface="Arial"/>
                <a:ea typeface="Arial"/>
                <a:cs typeface="Arial"/>
                <a:sym typeface="Arial"/>
              </a:defRPr>
            </a:pPr>
            <a:r>
              <a:t>Stemming</a:t>
            </a:r>
          </a:p>
          <a:p>
            <a:pPr marL="342900" indent="-342900" defTabSz="1216025">
              <a:spcBef>
                <a:spcPts val="400"/>
              </a:spcBef>
              <a:buSzPct val="100000"/>
              <a:buChar char="➢"/>
              <a:defRPr b="1" sz="2000">
                <a:solidFill>
                  <a:srgbClr val="FFFFFF"/>
                </a:solidFill>
                <a:latin typeface="Arial"/>
                <a:ea typeface="Arial"/>
                <a:cs typeface="Arial"/>
                <a:sym typeface="Arial"/>
              </a:defRPr>
            </a:pPr>
            <a:r>
              <a:t>Lemmatization</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397"/>
                                        </p:tgtEl>
                                        <p:attrNameLst>
                                          <p:attrName>style.visibility</p:attrName>
                                        </p:attrNameLst>
                                      </p:cBhvr>
                                      <p:to>
                                        <p:strVal val="visible"/>
                                      </p:to>
                                    </p:set>
                                    <p:animEffect filter="blinds(horizontal)" transition="in">
                                      <p:cBhvr>
                                        <p:cTn id="7" dur="500"/>
                                        <p:tgtEl>
                                          <p:spTgt spid="39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97" grpId="1"/>
    </p:bldLst>
  </p:timing>
</p:sld>
</file>

<file path=ppt/slides/slide3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9"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402" name="Group"/>
          <p:cNvGrpSpPr/>
          <p:nvPr/>
        </p:nvGrpSpPr>
        <p:grpSpPr>
          <a:xfrm>
            <a:off x="10625137" y="5580062"/>
            <a:ext cx="1566864" cy="1281113"/>
            <a:chOff x="0" y="0"/>
            <a:chExt cx="1566862" cy="1281112"/>
          </a:xfrm>
        </p:grpSpPr>
        <p:pic>
          <p:nvPicPr>
            <p:cNvPr id="400"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401"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403"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404" name="Basic Pre-processing - Lower case"/>
          <p:cNvSpPr txBox="1"/>
          <p:nvPr/>
        </p:nvSpPr>
        <p:spPr>
          <a:xfrm>
            <a:off x="190182" y="207962"/>
            <a:ext cx="5152391"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Basic Pre-processing - Lower case</a:t>
            </a:r>
          </a:p>
        </p:txBody>
      </p:sp>
      <p:sp>
        <p:nvSpPr>
          <p:cNvPr id="405" name="The first pre-processing step which we will do is transform our tweets into lower case. This avoids having multiple copies of the same words. For example, while calculating the word count, ‘Analytics’ and ‘analytics’ will be taken as different words."/>
          <p:cNvSpPr txBox="1"/>
          <p:nvPr/>
        </p:nvSpPr>
        <p:spPr>
          <a:xfrm>
            <a:off x="695325" y="1685925"/>
            <a:ext cx="10515600" cy="4005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6025">
              <a:spcBef>
                <a:spcPts val="300"/>
              </a:spcBef>
              <a:defRPr b="1" sz="1400">
                <a:solidFill>
                  <a:srgbClr val="FFFFFF"/>
                </a:solidFill>
                <a:latin typeface="Arial"/>
                <a:ea typeface="Arial"/>
                <a:cs typeface="Arial"/>
                <a:sym typeface="Arial"/>
              </a:defRPr>
            </a:lvl1pPr>
          </a:lstStyle>
          <a:p>
            <a:pPr/>
            <a:r>
              <a:t>The first pre-processing step which we will do is transform our tweets into lower case. This avoids having multiple copies of the same words. For example, while calculating the word count, ‘Analytics’ and ‘analytics’ will be taken as different words.</a:t>
            </a:r>
          </a:p>
        </p:txBody>
      </p:sp>
      <p:pic>
        <p:nvPicPr>
          <p:cNvPr id="406" name="image.png" descr="image.png"/>
          <p:cNvPicPr>
            <a:picLocks noChangeAspect="1"/>
          </p:cNvPicPr>
          <p:nvPr/>
        </p:nvPicPr>
        <p:blipFill>
          <a:blip r:embed="rId4">
            <a:extLst/>
          </a:blip>
          <a:stretch>
            <a:fillRect/>
          </a:stretch>
        </p:blipFill>
        <p:spPr>
          <a:xfrm>
            <a:off x="2292350" y="2655887"/>
            <a:ext cx="7010400" cy="1857376"/>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405"/>
                                        </p:tgtEl>
                                        <p:attrNameLst>
                                          <p:attrName>style.visibility</p:attrName>
                                        </p:attrNameLst>
                                      </p:cBhvr>
                                      <p:to>
                                        <p:strVal val="visible"/>
                                      </p:to>
                                    </p:set>
                                    <p:animEffect filter="blinds(horizontal)" transition="in">
                                      <p:cBhvr>
                                        <p:cTn id="7" dur="500"/>
                                        <p:tgtEl>
                                          <p:spTgt spid="4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05" grpId="1"/>
    </p:bldLst>
  </p:timing>
</p:sld>
</file>

<file path=ppt/slides/slide3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8"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411" name="Group"/>
          <p:cNvGrpSpPr/>
          <p:nvPr/>
        </p:nvGrpSpPr>
        <p:grpSpPr>
          <a:xfrm>
            <a:off x="10625137" y="5580062"/>
            <a:ext cx="1566864" cy="1281113"/>
            <a:chOff x="0" y="0"/>
            <a:chExt cx="1566862" cy="1281112"/>
          </a:xfrm>
        </p:grpSpPr>
        <p:pic>
          <p:nvPicPr>
            <p:cNvPr id="409"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410"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412"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413" name="Basic Pre-processing - Removal of Punctuation and Stop Words"/>
          <p:cNvSpPr txBox="1"/>
          <p:nvPr/>
        </p:nvSpPr>
        <p:spPr>
          <a:xfrm>
            <a:off x="190182" y="207962"/>
            <a:ext cx="9396523"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Basic Pre-processing - Removal of Punctuation and Stop Words</a:t>
            </a:r>
          </a:p>
        </p:txBody>
      </p:sp>
      <p:sp>
        <p:nvSpPr>
          <p:cNvPr id="414" name="As we discussed earlier, stop words (or commonly occurring words) should be removed from the text data. For this purpose, we can either create a list of stopwords ourselves or we can use predefined libraries."/>
          <p:cNvSpPr txBox="1"/>
          <p:nvPr/>
        </p:nvSpPr>
        <p:spPr>
          <a:xfrm>
            <a:off x="695325" y="1685925"/>
            <a:ext cx="10515600" cy="4005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6025">
              <a:spcBef>
                <a:spcPts val="300"/>
              </a:spcBef>
              <a:defRPr b="1" sz="1400">
                <a:solidFill>
                  <a:srgbClr val="FFFFFF"/>
                </a:solidFill>
                <a:latin typeface="Arial"/>
                <a:ea typeface="Arial"/>
                <a:cs typeface="Arial"/>
                <a:sym typeface="Arial"/>
              </a:defRPr>
            </a:lvl1pPr>
          </a:lstStyle>
          <a:p>
            <a:pPr/>
            <a:r>
              <a:t>As we discussed earlier, stop words (or commonly occurring words) should be removed from the text data. For this purpose, we can either create a list of stopwords ourselves or we can use predefined libraries.</a:t>
            </a:r>
          </a:p>
        </p:txBody>
      </p:sp>
      <p:pic>
        <p:nvPicPr>
          <p:cNvPr id="415" name="image.png" descr="image.png"/>
          <p:cNvPicPr>
            <a:picLocks noChangeAspect="1"/>
          </p:cNvPicPr>
          <p:nvPr/>
        </p:nvPicPr>
        <p:blipFill>
          <a:blip r:embed="rId4">
            <a:extLst/>
          </a:blip>
          <a:stretch>
            <a:fillRect/>
          </a:stretch>
        </p:blipFill>
        <p:spPr>
          <a:xfrm>
            <a:off x="2124075" y="2686050"/>
            <a:ext cx="7658100" cy="2066925"/>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414"/>
                                        </p:tgtEl>
                                        <p:attrNameLst>
                                          <p:attrName>style.visibility</p:attrName>
                                        </p:attrNameLst>
                                      </p:cBhvr>
                                      <p:to>
                                        <p:strVal val="visible"/>
                                      </p:to>
                                    </p:set>
                                    <p:animEffect filter="blinds(horizontal)" transition="in">
                                      <p:cBhvr>
                                        <p:cTn id="7" dur="500"/>
                                        <p:tgtEl>
                                          <p:spTgt spid="4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14" grpId="1"/>
    </p:bldLst>
  </p:timing>
</p:sld>
</file>

<file path=ppt/slides/slide3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7"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420" name="Group"/>
          <p:cNvGrpSpPr/>
          <p:nvPr/>
        </p:nvGrpSpPr>
        <p:grpSpPr>
          <a:xfrm>
            <a:off x="10625137" y="5580062"/>
            <a:ext cx="1566864" cy="1281113"/>
            <a:chOff x="0" y="0"/>
            <a:chExt cx="1566862" cy="1281112"/>
          </a:xfrm>
        </p:grpSpPr>
        <p:pic>
          <p:nvPicPr>
            <p:cNvPr id="418"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419"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421"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422" name="Basic Pre-processing - Common word removal"/>
          <p:cNvSpPr txBox="1"/>
          <p:nvPr/>
        </p:nvSpPr>
        <p:spPr>
          <a:xfrm>
            <a:off x="190182" y="207962"/>
            <a:ext cx="6879244"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Basic Pre-processing - Common word removal</a:t>
            </a:r>
          </a:p>
        </p:txBody>
      </p:sp>
      <p:sp>
        <p:nvSpPr>
          <p:cNvPr id="423" name="Previously, we just removed commonly occurring words in a general sense. We can also remove commonly occurring words from our text data. First, let’s check the 10 most frequently occurring words in our text data , then take a call to remove or retain the"/>
          <p:cNvSpPr txBox="1"/>
          <p:nvPr/>
        </p:nvSpPr>
        <p:spPr>
          <a:xfrm>
            <a:off x="695325" y="1685925"/>
            <a:ext cx="10515600" cy="6037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6025">
              <a:spcBef>
                <a:spcPts val="300"/>
              </a:spcBef>
              <a:defRPr b="1" sz="1400">
                <a:solidFill>
                  <a:srgbClr val="FFFFFF"/>
                </a:solidFill>
                <a:latin typeface="Arial"/>
                <a:ea typeface="Arial"/>
                <a:cs typeface="Arial"/>
                <a:sym typeface="Arial"/>
              </a:defRPr>
            </a:lvl1pPr>
          </a:lstStyle>
          <a:p>
            <a:pPr/>
            <a:r>
              <a:t>Previously, we just removed commonly occurring words in a general sense. We can also remove commonly occurring words from our text data. First, let’s check the 10 most frequently occurring words in our text data , then take a call to remove or retain them.</a:t>
            </a:r>
          </a:p>
        </p:txBody>
      </p:sp>
      <p:pic>
        <p:nvPicPr>
          <p:cNvPr id="424" name="image.png" descr="image.png"/>
          <p:cNvPicPr>
            <a:picLocks noChangeAspect="1"/>
          </p:cNvPicPr>
          <p:nvPr/>
        </p:nvPicPr>
        <p:blipFill>
          <a:blip r:embed="rId4">
            <a:extLst/>
          </a:blip>
          <a:stretch>
            <a:fillRect/>
          </a:stretch>
        </p:blipFill>
        <p:spPr>
          <a:xfrm>
            <a:off x="3689350" y="2297112"/>
            <a:ext cx="4268788" cy="1933576"/>
          </a:xfrm>
          <a:prstGeom prst="rect">
            <a:avLst/>
          </a:prstGeom>
          <a:ln w="12700">
            <a:miter lim="400000"/>
          </a:ln>
        </p:spPr>
      </p:pic>
      <p:pic>
        <p:nvPicPr>
          <p:cNvPr id="425" name="image.png" descr="image.png"/>
          <p:cNvPicPr>
            <a:picLocks noChangeAspect="1"/>
          </p:cNvPicPr>
          <p:nvPr/>
        </p:nvPicPr>
        <p:blipFill>
          <a:blip r:embed="rId5">
            <a:extLst/>
          </a:blip>
          <a:stretch>
            <a:fillRect/>
          </a:stretch>
        </p:blipFill>
        <p:spPr>
          <a:xfrm>
            <a:off x="2682875" y="4340225"/>
            <a:ext cx="6538913" cy="1670050"/>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423"/>
                                        </p:tgtEl>
                                        <p:attrNameLst>
                                          <p:attrName>style.visibility</p:attrName>
                                        </p:attrNameLst>
                                      </p:cBhvr>
                                      <p:to>
                                        <p:strVal val="visible"/>
                                      </p:to>
                                    </p:set>
                                    <p:animEffect filter="blinds(horizontal)" transition="in">
                                      <p:cBhvr>
                                        <p:cTn id="7" dur="500"/>
                                        <p:tgtEl>
                                          <p:spTgt spid="42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23" grpId="1"/>
    </p:bldLst>
  </p:timing>
</p:sld>
</file>

<file path=ppt/slides/slide3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7"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430" name="Group"/>
          <p:cNvGrpSpPr/>
          <p:nvPr/>
        </p:nvGrpSpPr>
        <p:grpSpPr>
          <a:xfrm>
            <a:off x="10625137" y="5580062"/>
            <a:ext cx="1566864" cy="1281113"/>
            <a:chOff x="0" y="0"/>
            <a:chExt cx="1566862" cy="1281112"/>
          </a:xfrm>
        </p:grpSpPr>
        <p:pic>
          <p:nvPicPr>
            <p:cNvPr id="428"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429"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431"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432" name="Basic Pre-processing - Rare words removal"/>
          <p:cNvSpPr txBox="1"/>
          <p:nvPr/>
        </p:nvSpPr>
        <p:spPr>
          <a:xfrm>
            <a:off x="190182" y="207962"/>
            <a:ext cx="6405821"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Basic Pre-processing - Rare words removal</a:t>
            </a:r>
          </a:p>
        </p:txBody>
      </p:sp>
      <p:sp>
        <p:nvSpPr>
          <p:cNvPr id="433" name="Similarly, just as we removed the most common words, this time let’s remove rarely occurring words from the text. Because they’re so rare, the association between them and other words is dominated by noise. You can replace rare words with a more general "/>
          <p:cNvSpPr txBox="1"/>
          <p:nvPr/>
        </p:nvSpPr>
        <p:spPr>
          <a:xfrm>
            <a:off x="695325" y="1484312"/>
            <a:ext cx="10515600" cy="6037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6025">
              <a:spcBef>
                <a:spcPts val="300"/>
              </a:spcBef>
              <a:defRPr b="1" sz="1400">
                <a:solidFill>
                  <a:srgbClr val="FFFFFF"/>
                </a:solidFill>
                <a:latin typeface="Arial"/>
                <a:ea typeface="Arial"/>
                <a:cs typeface="Arial"/>
                <a:sym typeface="Arial"/>
              </a:defRPr>
            </a:lvl1pPr>
          </a:lstStyle>
          <a:p>
            <a:pPr/>
            <a:r>
              <a:t>Similarly, just as we removed the most common words, this time let’s remove rarely occurring words from the text. Because they’re so rare, the association between them and other words is dominated by noise. You can replace rare words with a more general form and then this will have higher counts</a:t>
            </a:r>
          </a:p>
        </p:txBody>
      </p:sp>
      <p:pic>
        <p:nvPicPr>
          <p:cNvPr id="434" name="image.png" descr="image.png"/>
          <p:cNvPicPr>
            <a:picLocks noChangeAspect="1"/>
          </p:cNvPicPr>
          <p:nvPr/>
        </p:nvPicPr>
        <p:blipFill>
          <a:blip r:embed="rId4">
            <a:extLst/>
          </a:blip>
          <a:stretch>
            <a:fillRect/>
          </a:stretch>
        </p:blipFill>
        <p:spPr>
          <a:xfrm>
            <a:off x="180975" y="2633662"/>
            <a:ext cx="4786313" cy="2132013"/>
          </a:xfrm>
          <a:prstGeom prst="rect">
            <a:avLst/>
          </a:prstGeom>
          <a:ln w="12700">
            <a:miter lim="400000"/>
          </a:ln>
        </p:spPr>
      </p:pic>
      <p:pic>
        <p:nvPicPr>
          <p:cNvPr id="435" name="image.png" descr="image.png"/>
          <p:cNvPicPr>
            <a:picLocks noChangeAspect="1"/>
          </p:cNvPicPr>
          <p:nvPr/>
        </p:nvPicPr>
        <p:blipFill>
          <a:blip r:embed="rId5">
            <a:extLst/>
          </a:blip>
          <a:stretch>
            <a:fillRect/>
          </a:stretch>
        </p:blipFill>
        <p:spPr>
          <a:xfrm>
            <a:off x="5275262" y="2781300"/>
            <a:ext cx="6656388" cy="1752600"/>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433"/>
                                        </p:tgtEl>
                                        <p:attrNameLst>
                                          <p:attrName>style.visibility</p:attrName>
                                        </p:attrNameLst>
                                      </p:cBhvr>
                                      <p:to>
                                        <p:strVal val="visible"/>
                                      </p:to>
                                    </p:set>
                                    <p:animEffect filter="blinds(horizontal)" transition="in">
                                      <p:cBhvr>
                                        <p:cTn id="7" dur="500"/>
                                        <p:tgtEl>
                                          <p:spTgt spid="4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33" grpId="1"/>
    </p:bldLst>
  </p:timing>
</p:sld>
</file>

<file path=ppt/slides/slide4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7"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440" name="Group"/>
          <p:cNvGrpSpPr/>
          <p:nvPr/>
        </p:nvGrpSpPr>
        <p:grpSpPr>
          <a:xfrm>
            <a:off x="10625137" y="5580062"/>
            <a:ext cx="1566864" cy="1281113"/>
            <a:chOff x="0" y="0"/>
            <a:chExt cx="1566862" cy="1281112"/>
          </a:xfrm>
        </p:grpSpPr>
        <p:pic>
          <p:nvPicPr>
            <p:cNvPr id="438"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439"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441"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442" name="Basic Pre-processing - Spelling correction"/>
          <p:cNvSpPr txBox="1"/>
          <p:nvPr/>
        </p:nvSpPr>
        <p:spPr>
          <a:xfrm>
            <a:off x="190182" y="207962"/>
            <a:ext cx="6252677"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Basic Pre-processing - Spelling correction</a:t>
            </a:r>
          </a:p>
        </p:txBody>
      </p:sp>
      <p:sp>
        <p:nvSpPr>
          <p:cNvPr id="443" name="We’ve all seen tweets with a plethora of spelling mistakes, spelling correction is a useful pre-processing step because this also will help us in reducing multiple copies of words."/>
          <p:cNvSpPr txBox="1"/>
          <p:nvPr/>
        </p:nvSpPr>
        <p:spPr>
          <a:xfrm>
            <a:off x="695325" y="1484312"/>
            <a:ext cx="10515600" cy="4005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1216025">
              <a:spcBef>
                <a:spcPts val="300"/>
              </a:spcBef>
              <a:defRPr b="1" sz="1400">
                <a:solidFill>
                  <a:srgbClr val="FFFFFF"/>
                </a:solidFill>
                <a:latin typeface="Arial"/>
                <a:ea typeface="Arial"/>
                <a:cs typeface="Arial"/>
                <a:sym typeface="Arial"/>
              </a:defRPr>
            </a:pPr>
            <a:r>
              <a:t>We’ve all seen tweets with a plethora of spelling mistakes, spelling correction is a useful pre-processing step because this also will help us in </a:t>
            </a:r>
            <a:r>
              <a:rPr u="sng"/>
              <a:t>reducing multiple copies of words.</a:t>
            </a:r>
          </a:p>
        </p:txBody>
      </p:sp>
      <p:pic>
        <p:nvPicPr>
          <p:cNvPr id="444" name="image.png" descr="image.png"/>
          <p:cNvPicPr>
            <a:picLocks noChangeAspect="1"/>
          </p:cNvPicPr>
          <p:nvPr/>
        </p:nvPicPr>
        <p:blipFill>
          <a:blip r:embed="rId4">
            <a:extLst/>
          </a:blip>
          <a:stretch>
            <a:fillRect/>
          </a:stretch>
        </p:blipFill>
        <p:spPr>
          <a:xfrm>
            <a:off x="2074862" y="2081212"/>
            <a:ext cx="6656388" cy="1754188"/>
          </a:xfrm>
          <a:prstGeom prst="rect">
            <a:avLst/>
          </a:prstGeom>
          <a:ln w="12700">
            <a:miter lim="400000"/>
          </a:ln>
        </p:spPr>
      </p:pic>
      <p:pic>
        <p:nvPicPr>
          <p:cNvPr id="445" name="image.png" descr="image.png"/>
          <p:cNvPicPr>
            <a:picLocks noChangeAspect="1"/>
          </p:cNvPicPr>
          <p:nvPr/>
        </p:nvPicPr>
        <p:blipFill>
          <a:blip r:embed="rId5">
            <a:extLst/>
          </a:blip>
          <a:stretch>
            <a:fillRect/>
          </a:stretch>
        </p:blipFill>
        <p:spPr>
          <a:xfrm>
            <a:off x="2468562" y="4011612"/>
            <a:ext cx="5726113" cy="1949451"/>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443"/>
                                        </p:tgtEl>
                                        <p:attrNameLst>
                                          <p:attrName>style.visibility</p:attrName>
                                        </p:attrNameLst>
                                      </p:cBhvr>
                                      <p:to>
                                        <p:strVal val="visible"/>
                                      </p:to>
                                    </p:set>
                                    <p:animEffect filter="blinds(horizontal)" transition="in">
                                      <p:cBhvr>
                                        <p:cTn id="7" dur="500"/>
                                        <p:tgtEl>
                                          <p:spTgt spid="44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43" grpId="1"/>
    </p:bldLst>
  </p:timing>
</p:sld>
</file>

<file path=ppt/slides/slide4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7"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450" name="Group"/>
          <p:cNvGrpSpPr/>
          <p:nvPr/>
        </p:nvGrpSpPr>
        <p:grpSpPr>
          <a:xfrm>
            <a:off x="10625137" y="5580062"/>
            <a:ext cx="1566864" cy="1281113"/>
            <a:chOff x="0" y="0"/>
            <a:chExt cx="1566862" cy="1281112"/>
          </a:xfrm>
        </p:grpSpPr>
        <p:pic>
          <p:nvPicPr>
            <p:cNvPr id="448" name="image.png" descr="image.png"/>
            <p:cNvPicPr>
              <a:picLocks noChangeAspect="1"/>
            </p:cNvPicPr>
            <p:nvPr/>
          </p:nvPicPr>
          <p:blipFill>
            <a:blip r:embed="rId3">
              <a:extLst/>
            </a:blip>
            <a:stretch>
              <a:fillRect/>
            </a:stretch>
          </p:blipFill>
          <p:spPr>
            <a:xfrm>
              <a:off x="-1" y="0"/>
              <a:ext cx="1566864" cy="1281113"/>
            </a:xfrm>
            <a:prstGeom prst="rect">
              <a:avLst/>
            </a:prstGeom>
            <a:ln w="12700" cap="flat">
              <a:noFill/>
              <a:miter lim="400000"/>
            </a:ln>
            <a:effectLst/>
          </p:spPr>
        </p:pic>
        <p:pic>
          <p:nvPicPr>
            <p:cNvPr id="449" name="image.png" descr="image.png"/>
            <p:cNvPicPr>
              <a:picLocks noChangeAspect="1"/>
            </p:cNvPicPr>
            <p:nvPr/>
          </p:nvPicPr>
          <p:blipFill>
            <a:blip r:embed="rId4">
              <a:extLst/>
            </a:blip>
            <a:srcRect l="0" t="0" r="0" b="6207"/>
            <a:stretch>
              <a:fillRect/>
            </a:stretch>
          </p:blipFill>
          <p:spPr>
            <a:xfrm>
              <a:off x="101332" y="44050"/>
              <a:ext cx="1365097" cy="865485"/>
            </a:xfrm>
            <a:prstGeom prst="rect">
              <a:avLst/>
            </a:prstGeom>
            <a:ln w="12700" cap="flat">
              <a:noFill/>
              <a:miter lim="400000"/>
            </a:ln>
            <a:effectLst/>
          </p:spPr>
        </p:pic>
      </p:grpSp>
      <p:sp>
        <p:nvSpPr>
          <p:cNvPr id="451"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452" name="Basic Pre-processing - Tokenization"/>
          <p:cNvSpPr txBox="1"/>
          <p:nvPr/>
        </p:nvSpPr>
        <p:spPr>
          <a:xfrm>
            <a:off x="190182" y="188912"/>
            <a:ext cx="5332324"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Basic Pre-processing - Tokenization</a:t>
            </a:r>
          </a:p>
        </p:txBody>
      </p:sp>
      <p:sp>
        <p:nvSpPr>
          <p:cNvPr id="453" name="Tokenization refers to breaking a sentence or text into individual words or subwords, called tokens."/>
          <p:cNvSpPr txBox="1"/>
          <p:nvPr/>
        </p:nvSpPr>
        <p:spPr>
          <a:xfrm>
            <a:off x="1125537" y="1914525"/>
            <a:ext cx="10515601" cy="1973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6025">
              <a:spcBef>
                <a:spcPts val="300"/>
              </a:spcBef>
              <a:defRPr b="1" sz="1400">
                <a:solidFill>
                  <a:srgbClr val="FFFFFF"/>
                </a:solidFill>
                <a:latin typeface="Arial"/>
                <a:ea typeface="Arial"/>
                <a:cs typeface="Arial"/>
                <a:sym typeface="Arial"/>
              </a:defRPr>
            </a:lvl1pPr>
          </a:lstStyle>
          <a:p>
            <a:pPr/>
            <a:r>
              <a:t>Tokenization refers to breaking a sentence or text into individual words or subwords, called tokens.</a:t>
            </a:r>
          </a:p>
        </p:txBody>
      </p:sp>
      <p:pic>
        <p:nvPicPr>
          <p:cNvPr id="454" name="image.png" descr="image.png"/>
          <p:cNvPicPr>
            <a:picLocks noChangeAspect="1"/>
          </p:cNvPicPr>
          <p:nvPr/>
        </p:nvPicPr>
        <p:blipFill>
          <a:blip r:embed="rId5">
            <a:extLst/>
          </a:blip>
          <a:stretch>
            <a:fillRect/>
          </a:stretch>
        </p:blipFill>
        <p:spPr>
          <a:xfrm>
            <a:off x="642937" y="2806700"/>
            <a:ext cx="10696576" cy="1419225"/>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453"/>
                                        </p:tgtEl>
                                        <p:attrNameLst>
                                          <p:attrName>style.visibility</p:attrName>
                                        </p:attrNameLst>
                                      </p:cBhvr>
                                      <p:to>
                                        <p:strVal val="visible"/>
                                      </p:to>
                                    </p:set>
                                    <p:animEffect filter="blinds(horizontal)" transition="in">
                                      <p:cBhvr>
                                        <p:cTn id="7" dur="500"/>
                                        <p:tgtEl>
                                          <p:spTgt spid="45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53" grpId="1"/>
    </p:bldLst>
  </p:timing>
</p:sld>
</file>

<file path=ppt/slides/slide4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58"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461" name="Group"/>
          <p:cNvGrpSpPr/>
          <p:nvPr/>
        </p:nvGrpSpPr>
        <p:grpSpPr>
          <a:xfrm>
            <a:off x="10625137" y="5580062"/>
            <a:ext cx="1566864" cy="1281113"/>
            <a:chOff x="0" y="0"/>
            <a:chExt cx="1566862" cy="1281112"/>
          </a:xfrm>
        </p:grpSpPr>
        <p:pic>
          <p:nvPicPr>
            <p:cNvPr id="459"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460"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462"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463" name="Basic Pre-processing - Stemming"/>
          <p:cNvSpPr txBox="1"/>
          <p:nvPr/>
        </p:nvSpPr>
        <p:spPr>
          <a:xfrm>
            <a:off x="190182" y="207962"/>
            <a:ext cx="4965463"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Basic Pre-processing - Stemming</a:t>
            </a:r>
          </a:p>
        </p:txBody>
      </p:sp>
      <p:sp>
        <p:nvSpPr>
          <p:cNvPr id="464" name="Stemming refers to the removal of suffices, like “ing”, “ly”, “s”, etc. by a simple rule-based approach. For this purpose, we will use PorterStemmer from the NLTK library.…"/>
          <p:cNvSpPr txBox="1"/>
          <p:nvPr/>
        </p:nvSpPr>
        <p:spPr>
          <a:xfrm>
            <a:off x="893762" y="1657350"/>
            <a:ext cx="10515601" cy="9350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1216025">
              <a:spcBef>
                <a:spcPts val="300"/>
              </a:spcBef>
              <a:defRPr b="1" sz="1400">
                <a:solidFill>
                  <a:srgbClr val="FFFFFF"/>
                </a:solidFill>
                <a:latin typeface="Arial"/>
                <a:ea typeface="Arial"/>
                <a:cs typeface="Arial"/>
                <a:sym typeface="Arial"/>
              </a:defRPr>
            </a:pPr>
            <a:r>
              <a:t>Stemming refers to the removal of suffices, like “ing”, “ly”, “s”, etc. by a simple rule-based approach. For this purpose, we will use PorterStemmer from the NLTK library.</a:t>
            </a:r>
          </a:p>
          <a:p>
            <a:pPr defTabSz="1216025">
              <a:spcBef>
                <a:spcPts val="600"/>
              </a:spcBef>
              <a:defRPr b="1" sz="1400">
                <a:solidFill>
                  <a:srgbClr val="FFFFFF"/>
                </a:solidFill>
                <a:latin typeface="Arial"/>
                <a:ea typeface="Arial"/>
                <a:cs typeface="Arial"/>
                <a:sym typeface="Arial"/>
              </a:defRPr>
            </a:pPr>
          </a:p>
          <a:p>
            <a:pPr defTabSz="1216025">
              <a:spcBef>
                <a:spcPts val="300"/>
              </a:spcBef>
              <a:defRPr b="1" sz="1400">
                <a:solidFill>
                  <a:srgbClr val="FFFFFF"/>
                </a:solidFill>
                <a:latin typeface="Arial"/>
                <a:ea typeface="Arial"/>
                <a:cs typeface="Arial"/>
                <a:sym typeface="Arial"/>
              </a:defRPr>
            </a:pPr>
            <a:r>
              <a:t>In the following example, </a:t>
            </a:r>
            <a:r>
              <a:rPr>
                <a:solidFill>
                  <a:srgbClr val="00B050"/>
                </a:solidFill>
              </a:rPr>
              <a:t>dysfunctional</a:t>
            </a:r>
            <a:r>
              <a:t> has been transformed into </a:t>
            </a:r>
            <a:r>
              <a:rPr>
                <a:solidFill>
                  <a:srgbClr val="00B050"/>
                </a:solidFill>
              </a:rPr>
              <a:t>dysfunct</a:t>
            </a:r>
            <a:r>
              <a:t>, among other changes.</a:t>
            </a:r>
          </a:p>
        </p:txBody>
      </p:sp>
      <p:pic>
        <p:nvPicPr>
          <p:cNvPr id="465" name="image.png" descr="image.png"/>
          <p:cNvPicPr>
            <a:picLocks noChangeAspect="1"/>
          </p:cNvPicPr>
          <p:nvPr/>
        </p:nvPicPr>
        <p:blipFill>
          <a:blip r:embed="rId4">
            <a:extLst/>
          </a:blip>
          <a:stretch>
            <a:fillRect/>
          </a:stretch>
        </p:blipFill>
        <p:spPr>
          <a:xfrm>
            <a:off x="2619375" y="3101975"/>
            <a:ext cx="6705600" cy="1981200"/>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464"/>
                                        </p:tgtEl>
                                        <p:attrNameLst>
                                          <p:attrName>style.visibility</p:attrName>
                                        </p:attrNameLst>
                                      </p:cBhvr>
                                      <p:to>
                                        <p:strVal val="visible"/>
                                      </p:to>
                                    </p:set>
                                    <p:animEffect filter="blinds(horizontal)" transition="in">
                                      <p:cBhvr>
                                        <p:cTn id="7" dur="500"/>
                                        <p:tgtEl>
                                          <p:spTgt spid="46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64" grpId="1"/>
    </p:bldLst>
  </p:timing>
</p:sld>
</file>

<file path=ppt/slides/slide4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67"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470" name="Group"/>
          <p:cNvGrpSpPr/>
          <p:nvPr/>
        </p:nvGrpSpPr>
        <p:grpSpPr>
          <a:xfrm>
            <a:off x="10625137" y="5580062"/>
            <a:ext cx="1566864" cy="1281113"/>
            <a:chOff x="0" y="0"/>
            <a:chExt cx="1566862" cy="1281112"/>
          </a:xfrm>
        </p:grpSpPr>
        <p:pic>
          <p:nvPicPr>
            <p:cNvPr id="468"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469"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471"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472" name="Basic Pre-processing - Lemmatization"/>
          <p:cNvSpPr txBox="1"/>
          <p:nvPr/>
        </p:nvSpPr>
        <p:spPr>
          <a:xfrm>
            <a:off x="190182" y="207962"/>
            <a:ext cx="5625962"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Basic Pre-processing - Lemmatization</a:t>
            </a:r>
          </a:p>
        </p:txBody>
      </p:sp>
      <p:sp>
        <p:nvSpPr>
          <p:cNvPr id="473" name="Lemmatization is a more effective option than stemming because it converts the word into its root word, rather than just stripping the suffices. It makes use of the vocabulary and does a morphological analysis to obtain the root word. Therefore, we usual"/>
          <p:cNvSpPr txBox="1"/>
          <p:nvPr/>
        </p:nvSpPr>
        <p:spPr>
          <a:xfrm>
            <a:off x="835025" y="1657350"/>
            <a:ext cx="10574338" cy="6037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1216025">
              <a:spcBef>
                <a:spcPts val="300"/>
              </a:spcBef>
              <a:defRPr b="1" sz="1400">
                <a:solidFill>
                  <a:srgbClr val="FFFFFF"/>
                </a:solidFill>
                <a:latin typeface="Arial"/>
                <a:ea typeface="Arial"/>
                <a:cs typeface="Arial"/>
                <a:sym typeface="Arial"/>
              </a:defRPr>
            </a:pPr>
            <a:r>
              <a:t>Lemmatization is a more effective option than stemming because it converts the word into its root word, rather than just stripping the suffices. It makes use of the vocabulary and does a morphological analysis to obtain the root word. Therefore, </a:t>
            </a:r>
            <a:r>
              <a:rPr>
                <a:solidFill>
                  <a:srgbClr val="00B050"/>
                </a:solidFill>
              </a:rPr>
              <a:t>we usually prefer using lemmatization over stemming</a:t>
            </a:r>
            <a:r>
              <a:t>.</a:t>
            </a:r>
          </a:p>
        </p:txBody>
      </p:sp>
      <p:pic>
        <p:nvPicPr>
          <p:cNvPr id="474" name="image.png" descr="image.png"/>
          <p:cNvPicPr>
            <a:picLocks noChangeAspect="1"/>
          </p:cNvPicPr>
          <p:nvPr/>
        </p:nvPicPr>
        <p:blipFill>
          <a:blip r:embed="rId4">
            <a:extLst/>
          </a:blip>
          <a:stretch>
            <a:fillRect/>
          </a:stretch>
        </p:blipFill>
        <p:spPr>
          <a:xfrm>
            <a:off x="1720850" y="2640012"/>
            <a:ext cx="8362950" cy="2752726"/>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473"/>
                                        </p:tgtEl>
                                        <p:attrNameLst>
                                          <p:attrName>style.visibility</p:attrName>
                                        </p:attrNameLst>
                                      </p:cBhvr>
                                      <p:to>
                                        <p:strVal val="visible"/>
                                      </p:to>
                                    </p:set>
                                    <p:animEffect filter="blinds(horizontal)" transition="in">
                                      <p:cBhvr>
                                        <p:cTn id="7" dur="500"/>
                                        <p:tgtEl>
                                          <p:spTgt spid="4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73" grpId="1"/>
    </p:bldLst>
  </p:timing>
</p:sld>
</file>

<file path=ppt/slides/slide4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76"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479" name="Group"/>
          <p:cNvGrpSpPr/>
          <p:nvPr/>
        </p:nvGrpSpPr>
        <p:grpSpPr>
          <a:xfrm>
            <a:off x="10625137" y="5580062"/>
            <a:ext cx="1566864" cy="1281113"/>
            <a:chOff x="0" y="0"/>
            <a:chExt cx="1566862" cy="1281112"/>
          </a:xfrm>
        </p:grpSpPr>
        <p:pic>
          <p:nvPicPr>
            <p:cNvPr id="477"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478"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480"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481" name="Advance Text Processing"/>
          <p:cNvSpPr txBox="1"/>
          <p:nvPr/>
        </p:nvSpPr>
        <p:spPr>
          <a:xfrm>
            <a:off x="190182" y="207962"/>
            <a:ext cx="3791507"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Advance Text Processing</a:t>
            </a:r>
          </a:p>
        </p:txBody>
      </p:sp>
      <p:sp>
        <p:nvSpPr>
          <p:cNvPr id="482" name="N-grams…"/>
          <p:cNvSpPr txBox="1"/>
          <p:nvPr/>
        </p:nvSpPr>
        <p:spPr>
          <a:xfrm>
            <a:off x="1814512" y="1935162"/>
            <a:ext cx="4440239" cy="340037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400"/>
              </a:spcBef>
              <a:buSzPct val="100000"/>
              <a:buChar char="➢"/>
              <a:defRPr b="1" sz="2000">
                <a:solidFill>
                  <a:srgbClr val="FFFFFF"/>
                </a:solidFill>
                <a:latin typeface="Arial"/>
                <a:ea typeface="Arial"/>
                <a:cs typeface="Arial"/>
                <a:sym typeface="Arial"/>
              </a:defRPr>
            </a:pPr>
            <a:r>
              <a:t>N-grams</a:t>
            </a:r>
          </a:p>
          <a:p>
            <a:pPr marL="342900" indent="-342900" defTabSz="1216025">
              <a:spcBef>
                <a:spcPts val="400"/>
              </a:spcBef>
              <a:buSzPct val="100000"/>
              <a:buChar char="➢"/>
              <a:defRPr b="1" sz="2000">
                <a:solidFill>
                  <a:srgbClr val="FFFFFF"/>
                </a:solidFill>
                <a:latin typeface="Arial"/>
                <a:ea typeface="Arial"/>
                <a:cs typeface="Arial"/>
                <a:sym typeface="Arial"/>
              </a:defRPr>
            </a:pPr>
            <a:r>
              <a:t>Term Frequency</a:t>
            </a:r>
          </a:p>
          <a:p>
            <a:pPr marL="342900" indent="-342900" defTabSz="1216025">
              <a:spcBef>
                <a:spcPts val="400"/>
              </a:spcBef>
              <a:buSzPct val="100000"/>
              <a:buChar char="➢"/>
              <a:defRPr b="1" sz="2000">
                <a:solidFill>
                  <a:srgbClr val="FFFFFF"/>
                </a:solidFill>
                <a:latin typeface="Arial"/>
                <a:ea typeface="Arial"/>
                <a:cs typeface="Arial"/>
                <a:sym typeface="Arial"/>
              </a:defRPr>
            </a:pPr>
            <a:r>
              <a:t>Inverse Document Frequency</a:t>
            </a:r>
          </a:p>
          <a:p>
            <a:pPr marL="342900" indent="-342900" defTabSz="1216025">
              <a:spcBef>
                <a:spcPts val="400"/>
              </a:spcBef>
              <a:buSzPct val="100000"/>
              <a:buChar char="➢"/>
              <a:defRPr b="1" sz="2000">
                <a:solidFill>
                  <a:srgbClr val="FFFFFF"/>
                </a:solidFill>
                <a:latin typeface="Arial"/>
                <a:ea typeface="Arial"/>
                <a:cs typeface="Arial"/>
                <a:sym typeface="Arial"/>
              </a:defRPr>
            </a:pPr>
            <a:r>
              <a:t>Term Frequency-Inverse Document Frequency (TF-IDF)</a:t>
            </a:r>
          </a:p>
          <a:p>
            <a:pPr marL="342900" indent="-342900" defTabSz="1216025">
              <a:spcBef>
                <a:spcPts val="400"/>
              </a:spcBef>
              <a:buSzPct val="100000"/>
              <a:buChar char="➢"/>
              <a:defRPr b="1" sz="2000">
                <a:solidFill>
                  <a:srgbClr val="FFFFFF"/>
                </a:solidFill>
                <a:latin typeface="Arial"/>
                <a:ea typeface="Arial"/>
                <a:cs typeface="Arial"/>
                <a:sym typeface="Arial"/>
              </a:defRPr>
            </a:pPr>
            <a:r>
              <a:t>Bag of Words</a:t>
            </a:r>
          </a:p>
          <a:p>
            <a:pPr marL="342900" indent="-342900" defTabSz="1216025">
              <a:spcBef>
                <a:spcPts val="400"/>
              </a:spcBef>
              <a:buSzPct val="100000"/>
              <a:buChar char="➢"/>
              <a:defRPr b="1" sz="2000">
                <a:solidFill>
                  <a:srgbClr val="00B050"/>
                </a:solidFill>
                <a:latin typeface="Arial"/>
                <a:ea typeface="Arial"/>
                <a:cs typeface="Arial"/>
                <a:sym typeface="Arial"/>
              </a:defRPr>
            </a:pPr>
            <a:r>
              <a:t>Named entity recognition</a:t>
            </a:r>
          </a:p>
          <a:p>
            <a:pPr marL="342900" indent="-342900" defTabSz="1216025">
              <a:spcBef>
                <a:spcPts val="400"/>
              </a:spcBef>
              <a:buSzPct val="100000"/>
              <a:buChar char="➢"/>
              <a:defRPr b="1" sz="2000">
                <a:solidFill>
                  <a:srgbClr val="00B050"/>
                </a:solidFill>
                <a:latin typeface="Arial"/>
                <a:ea typeface="Arial"/>
                <a:cs typeface="Arial"/>
                <a:sym typeface="Arial"/>
              </a:defRPr>
            </a:pPr>
            <a:r>
              <a:t>Coreference resolution</a:t>
            </a:r>
          </a:p>
          <a:p>
            <a:pPr marL="342900" indent="-342900" defTabSz="1216025">
              <a:spcBef>
                <a:spcPts val="400"/>
              </a:spcBef>
              <a:buSzPct val="100000"/>
              <a:buChar char="➢"/>
              <a:defRPr b="1" sz="2000">
                <a:solidFill>
                  <a:srgbClr val="00B050"/>
                </a:solidFill>
                <a:latin typeface="Arial"/>
                <a:ea typeface="Arial"/>
                <a:cs typeface="Arial"/>
                <a:sym typeface="Arial"/>
              </a:defRPr>
            </a:pPr>
            <a:r>
              <a:t>Collocation extraction</a:t>
            </a:r>
          </a:p>
          <a:p>
            <a:pPr marL="342900" indent="-342900" defTabSz="1216025">
              <a:spcBef>
                <a:spcPts val="400"/>
              </a:spcBef>
              <a:buSzPct val="100000"/>
              <a:buChar char="➢"/>
              <a:defRPr b="1" sz="2000">
                <a:solidFill>
                  <a:srgbClr val="00B050"/>
                </a:solidFill>
                <a:latin typeface="Arial"/>
                <a:ea typeface="Arial"/>
                <a:cs typeface="Arial"/>
                <a:sym typeface="Arial"/>
              </a:defRPr>
            </a:pPr>
            <a:r>
              <a:t>Relationship extraction</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482"/>
                                        </p:tgtEl>
                                        <p:attrNameLst>
                                          <p:attrName>style.visibility</p:attrName>
                                        </p:attrNameLst>
                                      </p:cBhvr>
                                      <p:to>
                                        <p:strVal val="visible"/>
                                      </p:to>
                                    </p:set>
                                    <p:animEffect filter="blinds(horizontal)" transition="in">
                                      <p:cBhvr>
                                        <p:cTn id="7" dur="500"/>
                                        <p:tgtEl>
                                          <p:spTgt spid="48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82" grpId="1"/>
    </p:bldLst>
  </p:timing>
</p:sld>
</file>

<file path=ppt/slides/slide4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84"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487" name="Group"/>
          <p:cNvGrpSpPr/>
          <p:nvPr/>
        </p:nvGrpSpPr>
        <p:grpSpPr>
          <a:xfrm>
            <a:off x="10625137" y="5580062"/>
            <a:ext cx="1566864" cy="1281113"/>
            <a:chOff x="0" y="0"/>
            <a:chExt cx="1566862" cy="1281112"/>
          </a:xfrm>
        </p:grpSpPr>
        <p:pic>
          <p:nvPicPr>
            <p:cNvPr id="485"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486"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488"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489" name="Advance Text Processing - N-grams"/>
          <p:cNvSpPr txBox="1"/>
          <p:nvPr/>
        </p:nvSpPr>
        <p:spPr>
          <a:xfrm>
            <a:off x="190182" y="207962"/>
            <a:ext cx="7079299" cy="459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latin typeface="Microsoft YaHei"/>
                <a:ea typeface="Microsoft YaHei"/>
                <a:cs typeface="Microsoft YaHei"/>
                <a:sym typeface="Microsoft YaHei"/>
              </a:defRPr>
            </a:lvl1pPr>
          </a:lstStyle>
          <a:p>
            <a:pPr/>
            <a:r>
              <a:t>Advance Text Processing - N-grams</a:t>
            </a:r>
          </a:p>
        </p:txBody>
      </p:sp>
      <p:sp>
        <p:nvSpPr>
          <p:cNvPr id="490" name="N-grams are the combination of multiple words used together. N-grams with N=1 are called unigrams. Similarly, bigrams (N=2), trigrams (N=3) and so on can also be used."/>
          <p:cNvSpPr txBox="1"/>
          <p:nvPr/>
        </p:nvSpPr>
        <p:spPr>
          <a:xfrm>
            <a:off x="835025" y="1560512"/>
            <a:ext cx="10574338" cy="400584"/>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6025">
              <a:spcBef>
                <a:spcPts val="300"/>
              </a:spcBef>
              <a:defRPr b="1" sz="1400">
                <a:solidFill>
                  <a:srgbClr val="FFFFFF"/>
                </a:solidFill>
                <a:latin typeface="Arial"/>
                <a:ea typeface="Arial"/>
                <a:cs typeface="Arial"/>
                <a:sym typeface="Arial"/>
              </a:defRPr>
            </a:lvl1pPr>
          </a:lstStyle>
          <a:p>
            <a:pPr/>
            <a:r>
              <a:t>N-grams are the combination of multiple words used together. N-grams with N=1 are called unigrams. Similarly, bigrams (N=2), trigrams (N=3) and so on can also be used.</a:t>
            </a:r>
          </a:p>
        </p:txBody>
      </p:sp>
      <p:pic>
        <p:nvPicPr>
          <p:cNvPr id="491" name="image.png" descr="image.png"/>
          <p:cNvPicPr>
            <a:picLocks noChangeAspect="1"/>
          </p:cNvPicPr>
          <p:nvPr/>
        </p:nvPicPr>
        <p:blipFill>
          <a:blip r:embed="rId4">
            <a:extLst/>
          </a:blip>
          <a:stretch>
            <a:fillRect/>
          </a:stretch>
        </p:blipFill>
        <p:spPr>
          <a:xfrm>
            <a:off x="3005137" y="2166937"/>
            <a:ext cx="5889626" cy="1938338"/>
          </a:xfrm>
          <a:prstGeom prst="rect">
            <a:avLst/>
          </a:prstGeom>
          <a:ln w="12700">
            <a:miter lim="400000"/>
          </a:ln>
        </p:spPr>
      </p:pic>
      <p:pic>
        <p:nvPicPr>
          <p:cNvPr id="492" name="image.png" descr="image.png"/>
          <p:cNvPicPr>
            <a:picLocks noChangeAspect="1"/>
          </p:cNvPicPr>
          <p:nvPr/>
        </p:nvPicPr>
        <p:blipFill>
          <a:blip r:embed="rId5">
            <a:extLst/>
          </a:blip>
          <a:stretch>
            <a:fillRect/>
          </a:stretch>
        </p:blipFill>
        <p:spPr>
          <a:xfrm>
            <a:off x="3944937" y="4327525"/>
            <a:ext cx="4010026" cy="1571625"/>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490"/>
                                        </p:tgtEl>
                                        <p:attrNameLst>
                                          <p:attrName>style.visibility</p:attrName>
                                        </p:attrNameLst>
                                      </p:cBhvr>
                                      <p:to>
                                        <p:strVal val="visible"/>
                                      </p:to>
                                    </p:set>
                                    <p:animEffect filter="blinds(horizontal)" transition="in">
                                      <p:cBhvr>
                                        <p:cTn id="7" dur="500"/>
                                        <p:tgtEl>
                                          <p:spTgt spid="4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490" grpId="1"/>
    </p:bldLst>
  </p:timing>
</p:sld>
</file>

<file path=ppt/slides/slide4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94"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497" name="Group"/>
          <p:cNvGrpSpPr/>
          <p:nvPr/>
        </p:nvGrpSpPr>
        <p:grpSpPr>
          <a:xfrm>
            <a:off x="10625137" y="5580062"/>
            <a:ext cx="1566864" cy="1281113"/>
            <a:chOff x="0" y="0"/>
            <a:chExt cx="1566862" cy="1281112"/>
          </a:xfrm>
        </p:grpSpPr>
        <p:pic>
          <p:nvPicPr>
            <p:cNvPr id="495" name="image.png" descr="image.png"/>
            <p:cNvPicPr>
              <a:picLocks noChangeAspect="1"/>
            </p:cNvPicPr>
            <p:nvPr/>
          </p:nvPicPr>
          <p:blipFill>
            <a:blip r:embed="rId3">
              <a:extLst/>
            </a:blip>
            <a:stretch>
              <a:fillRect/>
            </a:stretch>
          </p:blipFill>
          <p:spPr>
            <a:xfrm>
              <a:off x="-1" y="0"/>
              <a:ext cx="1566864" cy="1281113"/>
            </a:xfrm>
            <a:prstGeom prst="rect">
              <a:avLst/>
            </a:prstGeom>
            <a:ln w="12700" cap="flat">
              <a:noFill/>
              <a:miter lim="400000"/>
            </a:ln>
            <a:effectLst/>
          </p:spPr>
        </p:pic>
        <p:pic>
          <p:nvPicPr>
            <p:cNvPr id="496" name="image.png" descr="image.png"/>
            <p:cNvPicPr>
              <a:picLocks noChangeAspect="1"/>
            </p:cNvPicPr>
            <p:nvPr/>
          </p:nvPicPr>
          <p:blipFill>
            <a:blip r:embed="rId4">
              <a:extLst/>
            </a:blip>
            <a:srcRect l="0" t="0" r="0" b="6207"/>
            <a:stretch>
              <a:fillRect/>
            </a:stretch>
          </p:blipFill>
          <p:spPr>
            <a:xfrm>
              <a:off x="101332" y="44050"/>
              <a:ext cx="1365097" cy="865485"/>
            </a:xfrm>
            <a:prstGeom prst="rect">
              <a:avLst/>
            </a:prstGeom>
            <a:ln w="12700" cap="flat">
              <a:noFill/>
              <a:miter lim="400000"/>
            </a:ln>
            <a:effectLst/>
          </p:spPr>
        </p:pic>
      </p:grpSp>
      <p:sp>
        <p:nvSpPr>
          <p:cNvPr id="498"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499" name="Advance Text Processing - Term frequency"/>
          <p:cNvSpPr txBox="1"/>
          <p:nvPr/>
        </p:nvSpPr>
        <p:spPr>
          <a:xfrm>
            <a:off x="190182" y="207962"/>
            <a:ext cx="7079299" cy="459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latin typeface="Microsoft YaHei"/>
                <a:ea typeface="Microsoft YaHei"/>
                <a:cs typeface="Microsoft YaHei"/>
                <a:sym typeface="Microsoft YaHei"/>
              </a:defRPr>
            </a:lvl1pPr>
          </a:lstStyle>
          <a:p>
            <a:pPr/>
            <a:r>
              <a:t>Advance Text Processing - Term frequency</a:t>
            </a:r>
          </a:p>
        </p:txBody>
      </p:sp>
      <p:sp>
        <p:nvSpPr>
          <p:cNvPr id="500" name="The term frequency of a word in a document. There are several ways of calculating this frequency, with the simplest being a raw count of instances a word appears in a document. Then, there are ways to adjust the frequency, by length of a document, or by "/>
          <p:cNvSpPr txBox="1"/>
          <p:nvPr/>
        </p:nvSpPr>
        <p:spPr>
          <a:xfrm>
            <a:off x="835025" y="1560512"/>
            <a:ext cx="10574338" cy="1138200"/>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1216025">
              <a:spcBef>
                <a:spcPts val="300"/>
              </a:spcBef>
              <a:defRPr b="1" sz="1400">
                <a:solidFill>
                  <a:srgbClr val="FFFFFF"/>
                </a:solidFill>
                <a:latin typeface="Arial"/>
                <a:ea typeface="Arial"/>
                <a:cs typeface="Arial"/>
                <a:sym typeface="Arial"/>
              </a:defRPr>
            </a:pPr>
            <a:r>
              <a:t>The term frequency of a word in a document. There are several ways of calculating this frequency, with the simplest being a raw count of instances a word appears in a document. Then, there are ways to adjust the frequency, by length of a document, or by the raw frequency of the most frequent word in a document.:</a:t>
            </a:r>
          </a:p>
          <a:p>
            <a:pPr defTabSz="1216025">
              <a:spcBef>
                <a:spcPts val="600"/>
              </a:spcBef>
              <a:defRPr b="1" sz="1400">
                <a:solidFill>
                  <a:srgbClr val="FFFFFF"/>
                </a:solidFill>
                <a:latin typeface="Arial"/>
                <a:ea typeface="Arial"/>
                <a:cs typeface="Arial"/>
                <a:sym typeface="Arial"/>
              </a:defRPr>
            </a:pPr>
          </a:p>
          <a:p>
            <a:pPr defTabSz="1216025">
              <a:spcBef>
                <a:spcPts val="300"/>
              </a:spcBef>
              <a:defRPr b="1" sz="1400">
                <a:solidFill>
                  <a:srgbClr val="FFFFFF"/>
                </a:solidFill>
                <a:latin typeface="Arial"/>
                <a:ea typeface="Arial"/>
                <a:cs typeface="Arial"/>
                <a:sym typeface="Arial"/>
              </a:defRPr>
            </a:pPr>
            <a:r>
              <a:t>TF = Term Frequency (TF) is to just count the number of occurrence.</a:t>
            </a:r>
          </a:p>
        </p:txBody>
      </p:sp>
      <p:pic>
        <p:nvPicPr>
          <p:cNvPr id="501" name="image.png" descr="image.png"/>
          <p:cNvPicPr>
            <a:picLocks noChangeAspect="1"/>
          </p:cNvPicPr>
          <p:nvPr/>
        </p:nvPicPr>
        <p:blipFill>
          <a:blip r:embed="rId5">
            <a:extLst/>
          </a:blip>
          <a:stretch>
            <a:fillRect/>
          </a:stretch>
        </p:blipFill>
        <p:spPr>
          <a:xfrm>
            <a:off x="704850" y="2870200"/>
            <a:ext cx="5049838" cy="3249613"/>
          </a:xfrm>
          <a:prstGeom prst="rect">
            <a:avLst/>
          </a:prstGeom>
          <a:ln w="12700">
            <a:miter lim="400000"/>
          </a:ln>
        </p:spPr>
      </p:pic>
      <p:pic>
        <p:nvPicPr>
          <p:cNvPr id="502" name="image.png" descr="image.png"/>
          <p:cNvPicPr>
            <a:picLocks noChangeAspect="1"/>
          </p:cNvPicPr>
          <p:nvPr/>
        </p:nvPicPr>
        <p:blipFill>
          <a:blip r:embed="rId6">
            <a:extLst/>
          </a:blip>
          <a:stretch>
            <a:fillRect/>
          </a:stretch>
        </p:blipFill>
        <p:spPr>
          <a:xfrm>
            <a:off x="6321425" y="3206750"/>
            <a:ext cx="5680075" cy="1395413"/>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500"/>
                                        </p:tgtEl>
                                        <p:attrNameLst>
                                          <p:attrName>style.visibility</p:attrName>
                                        </p:attrNameLst>
                                      </p:cBhvr>
                                      <p:to>
                                        <p:strVal val="visible"/>
                                      </p:to>
                                    </p:set>
                                    <p:animEffect filter="blinds(horizontal)" transition="in">
                                      <p:cBhvr>
                                        <p:cTn id="7" dur="500"/>
                                        <p:tgtEl>
                                          <p:spTgt spid="5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00" grpId="1"/>
    </p:bldLst>
  </p:timing>
</p:sld>
</file>

<file path=ppt/slides/slide4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06"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509" name="Group"/>
          <p:cNvGrpSpPr/>
          <p:nvPr/>
        </p:nvGrpSpPr>
        <p:grpSpPr>
          <a:xfrm>
            <a:off x="10625137" y="5580062"/>
            <a:ext cx="1566864" cy="1281113"/>
            <a:chOff x="0" y="0"/>
            <a:chExt cx="1566862" cy="1281112"/>
          </a:xfrm>
        </p:grpSpPr>
        <p:pic>
          <p:nvPicPr>
            <p:cNvPr id="507" name="image.png" descr="image.png"/>
            <p:cNvPicPr>
              <a:picLocks noChangeAspect="1"/>
            </p:cNvPicPr>
            <p:nvPr/>
          </p:nvPicPr>
          <p:blipFill>
            <a:blip r:embed="rId3">
              <a:extLst/>
            </a:blip>
            <a:stretch>
              <a:fillRect/>
            </a:stretch>
          </p:blipFill>
          <p:spPr>
            <a:xfrm>
              <a:off x="-1" y="0"/>
              <a:ext cx="1566864" cy="1281113"/>
            </a:xfrm>
            <a:prstGeom prst="rect">
              <a:avLst/>
            </a:prstGeom>
            <a:ln w="12700" cap="flat">
              <a:noFill/>
              <a:miter lim="400000"/>
            </a:ln>
            <a:effectLst/>
          </p:spPr>
        </p:pic>
        <p:pic>
          <p:nvPicPr>
            <p:cNvPr id="508" name="image.png" descr="image.png"/>
            <p:cNvPicPr>
              <a:picLocks noChangeAspect="1"/>
            </p:cNvPicPr>
            <p:nvPr/>
          </p:nvPicPr>
          <p:blipFill>
            <a:blip r:embed="rId4">
              <a:extLst/>
            </a:blip>
            <a:srcRect l="0" t="0" r="0" b="6207"/>
            <a:stretch>
              <a:fillRect/>
            </a:stretch>
          </p:blipFill>
          <p:spPr>
            <a:xfrm>
              <a:off x="101332" y="44050"/>
              <a:ext cx="1365097" cy="865485"/>
            </a:xfrm>
            <a:prstGeom prst="rect">
              <a:avLst/>
            </a:prstGeom>
            <a:ln w="12700" cap="flat">
              <a:noFill/>
              <a:miter lim="400000"/>
            </a:ln>
            <a:effectLst/>
          </p:spPr>
        </p:pic>
      </p:grpSp>
      <p:sp>
        <p:nvSpPr>
          <p:cNvPr id="510"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511" name="Advance Text Processing - Inverse Document Frequency"/>
          <p:cNvSpPr txBox="1"/>
          <p:nvPr/>
        </p:nvSpPr>
        <p:spPr>
          <a:xfrm>
            <a:off x="190182" y="207962"/>
            <a:ext cx="8820786" cy="459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latin typeface="Microsoft YaHei"/>
                <a:ea typeface="Microsoft YaHei"/>
                <a:cs typeface="Microsoft YaHei"/>
                <a:sym typeface="Microsoft YaHei"/>
              </a:defRPr>
            </a:lvl1pPr>
          </a:lstStyle>
          <a:p>
            <a:pPr/>
            <a:r>
              <a:t>Advance Text Processing - Inverse Document Frequency</a:t>
            </a:r>
          </a:p>
        </p:txBody>
      </p:sp>
      <p:sp>
        <p:nvSpPr>
          <p:cNvPr id="512" name="The inverse document frequency of the word across a set of documents.…"/>
          <p:cNvSpPr txBox="1"/>
          <p:nvPr/>
        </p:nvSpPr>
        <p:spPr>
          <a:xfrm>
            <a:off x="520700" y="2017712"/>
            <a:ext cx="4133850" cy="2485416"/>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1216025">
              <a:spcBef>
                <a:spcPts val="300"/>
              </a:spcBef>
              <a:defRPr b="1" sz="1400">
                <a:solidFill>
                  <a:srgbClr val="FFFFFF"/>
                </a:solidFill>
                <a:latin typeface="Arial"/>
                <a:ea typeface="Arial"/>
                <a:cs typeface="Arial"/>
                <a:sym typeface="Arial"/>
              </a:defRPr>
            </a:pPr>
            <a:r>
              <a:t>The inverse document frequency of the word across a set of documents.</a:t>
            </a:r>
          </a:p>
          <a:p>
            <a:pPr defTabSz="1216025">
              <a:spcBef>
                <a:spcPts val="300"/>
              </a:spcBef>
              <a:buSzPct val="100000"/>
              <a:buFont typeface="Arial"/>
              <a:buChar char="•"/>
              <a:defRPr b="1" sz="1400">
                <a:solidFill>
                  <a:srgbClr val="FFFFFF"/>
                </a:solidFill>
                <a:latin typeface="Arial"/>
                <a:ea typeface="Arial"/>
                <a:cs typeface="Arial"/>
                <a:sym typeface="Arial"/>
              </a:defRPr>
            </a:pPr>
            <a:r>
              <a:t>How common or rare a word is in the entire document set. </a:t>
            </a:r>
          </a:p>
          <a:p>
            <a:pPr defTabSz="1216025">
              <a:spcBef>
                <a:spcPts val="300"/>
              </a:spcBef>
              <a:buSzPct val="100000"/>
              <a:buFont typeface="Arial"/>
              <a:buChar char="•"/>
              <a:defRPr b="1" sz="1400">
                <a:solidFill>
                  <a:srgbClr val="FFFFFF"/>
                </a:solidFill>
                <a:latin typeface="Arial"/>
                <a:ea typeface="Arial"/>
                <a:cs typeface="Arial"/>
                <a:sym typeface="Arial"/>
              </a:defRPr>
            </a:pPr>
            <a:r>
              <a:t>The closer it is to 0, the more common a word is. </a:t>
            </a:r>
          </a:p>
          <a:p>
            <a:pPr defTabSz="1216025">
              <a:spcBef>
                <a:spcPts val="600"/>
              </a:spcBef>
              <a:defRPr b="1" sz="1400">
                <a:solidFill>
                  <a:srgbClr val="FFFFFF"/>
                </a:solidFill>
                <a:latin typeface="Arial"/>
                <a:ea typeface="Arial"/>
                <a:cs typeface="Arial"/>
                <a:sym typeface="Arial"/>
              </a:defRPr>
            </a:pPr>
          </a:p>
          <a:p>
            <a:pPr defTabSz="1216025">
              <a:spcBef>
                <a:spcPts val="300"/>
              </a:spcBef>
              <a:defRPr b="1" sz="1400">
                <a:solidFill>
                  <a:srgbClr val="FFFFFF"/>
                </a:solidFill>
                <a:latin typeface="Arial"/>
                <a:ea typeface="Arial"/>
                <a:cs typeface="Arial"/>
                <a:sym typeface="Arial"/>
              </a:defRPr>
            </a:pPr>
            <a:r>
              <a:t>                       IDF = log(N/n)</a:t>
            </a:r>
          </a:p>
          <a:p>
            <a:pPr defTabSz="1216025">
              <a:spcBef>
                <a:spcPts val="300"/>
              </a:spcBef>
              <a:defRPr b="1" sz="1400">
                <a:solidFill>
                  <a:srgbClr val="FFFFFF"/>
                </a:solidFill>
                <a:latin typeface="Arial"/>
                <a:ea typeface="Arial"/>
                <a:cs typeface="Arial"/>
                <a:sym typeface="Arial"/>
              </a:defRPr>
            </a:pPr>
            <a:r>
              <a:t>where N is the total number of documents and n is the number of documents in which the word was present.</a:t>
            </a:r>
          </a:p>
        </p:txBody>
      </p:sp>
      <p:pic>
        <p:nvPicPr>
          <p:cNvPr id="513" name="image.png" descr="image.png"/>
          <p:cNvPicPr>
            <a:picLocks noChangeAspect="1"/>
          </p:cNvPicPr>
          <p:nvPr/>
        </p:nvPicPr>
        <p:blipFill>
          <a:blip r:embed="rId5">
            <a:extLst/>
          </a:blip>
          <a:stretch>
            <a:fillRect/>
          </a:stretch>
        </p:blipFill>
        <p:spPr>
          <a:xfrm>
            <a:off x="4957762" y="1519237"/>
            <a:ext cx="5781676" cy="4402138"/>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512"/>
                                        </p:tgtEl>
                                        <p:attrNameLst>
                                          <p:attrName>style.visibility</p:attrName>
                                        </p:attrNameLst>
                                      </p:cBhvr>
                                      <p:to>
                                        <p:strVal val="visible"/>
                                      </p:to>
                                    </p:set>
                                    <p:animEffect filter="blinds(horizontal)" transition="in">
                                      <p:cBhvr>
                                        <p:cTn id="7" dur="500"/>
                                        <p:tgtEl>
                                          <p:spTgt spid="51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12" grpId="1"/>
    </p:bldLst>
  </p:timing>
</p:sld>
</file>

<file path=ppt/slides/slide4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17"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520" name="Group"/>
          <p:cNvGrpSpPr/>
          <p:nvPr/>
        </p:nvGrpSpPr>
        <p:grpSpPr>
          <a:xfrm>
            <a:off x="10625137" y="5580062"/>
            <a:ext cx="1566864" cy="1281113"/>
            <a:chOff x="0" y="0"/>
            <a:chExt cx="1566862" cy="1281112"/>
          </a:xfrm>
        </p:grpSpPr>
        <p:pic>
          <p:nvPicPr>
            <p:cNvPr id="518"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519"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521"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522" name="Advance Text Processing - Term Frequency – Inverse Document Frequency (TF-IDF)"/>
          <p:cNvSpPr txBox="1"/>
          <p:nvPr/>
        </p:nvSpPr>
        <p:spPr>
          <a:xfrm>
            <a:off x="190182" y="207962"/>
            <a:ext cx="8820786" cy="828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latin typeface="Microsoft YaHei"/>
                <a:ea typeface="Microsoft YaHei"/>
                <a:cs typeface="Microsoft YaHei"/>
                <a:sym typeface="Microsoft YaHei"/>
              </a:defRPr>
            </a:lvl1pPr>
          </a:lstStyle>
          <a:p>
            <a:pPr/>
            <a:r>
              <a:t>Advance Text Processing - Term Frequency – Inverse Document Frequency (TF-IDF)</a:t>
            </a:r>
          </a:p>
        </p:txBody>
      </p:sp>
      <p:sp>
        <p:nvSpPr>
          <p:cNvPr id="523" name="TF-IDF = TF * IDF"/>
          <p:cNvSpPr txBox="1"/>
          <p:nvPr/>
        </p:nvSpPr>
        <p:spPr>
          <a:xfrm>
            <a:off x="2649537" y="2173287"/>
            <a:ext cx="2051051"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lvl1pPr defTabSz="1216025">
              <a:spcBef>
                <a:spcPts val="400"/>
              </a:spcBef>
              <a:defRPr b="1">
                <a:solidFill>
                  <a:srgbClr val="FFFFFF"/>
                </a:solidFill>
                <a:latin typeface="Arial"/>
                <a:ea typeface="Arial"/>
                <a:cs typeface="Arial"/>
                <a:sym typeface="Arial"/>
              </a:defRPr>
            </a:lvl1pPr>
          </a:lstStyle>
          <a:p>
            <a:pPr/>
            <a:r>
              <a:t>TF-IDF = TF * IDF</a:t>
            </a:r>
          </a:p>
        </p:txBody>
      </p:sp>
      <p:pic>
        <p:nvPicPr>
          <p:cNvPr id="524" name="image.png" descr="image.png"/>
          <p:cNvPicPr>
            <a:picLocks noChangeAspect="1"/>
          </p:cNvPicPr>
          <p:nvPr/>
        </p:nvPicPr>
        <p:blipFill>
          <a:blip r:embed="rId4">
            <a:extLst/>
          </a:blip>
          <a:stretch>
            <a:fillRect/>
          </a:stretch>
        </p:blipFill>
        <p:spPr>
          <a:xfrm>
            <a:off x="6927850" y="1374775"/>
            <a:ext cx="3602038" cy="4740275"/>
          </a:xfrm>
          <a:prstGeom prst="rect">
            <a:avLst/>
          </a:prstGeom>
          <a:ln w="12700">
            <a:miter lim="400000"/>
          </a:ln>
        </p:spPr>
      </p:pic>
      <p:sp>
        <p:nvSpPr>
          <p:cNvPr id="525" name="We can see that the TF-IDF has penalized words like ‘don’t’, ‘can’t’, and ‘use’ because they are commonly occurring words.…"/>
          <p:cNvSpPr txBox="1"/>
          <p:nvPr/>
        </p:nvSpPr>
        <p:spPr>
          <a:xfrm>
            <a:off x="1071562" y="2863849"/>
            <a:ext cx="5338763" cy="1341401"/>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1216025">
              <a:spcBef>
                <a:spcPts val="300"/>
              </a:spcBef>
              <a:defRPr b="1" sz="1400">
                <a:solidFill>
                  <a:srgbClr val="FFFFFF"/>
                </a:solidFill>
                <a:latin typeface="Arial"/>
                <a:ea typeface="Arial"/>
                <a:cs typeface="Arial"/>
                <a:sym typeface="Arial"/>
              </a:defRPr>
            </a:pPr>
            <a:r>
              <a:t>We can see that the TF-IDF has penalized words like ‘don’t’, ‘can’t’, and ‘use’ because they are commonly occurring words. </a:t>
            </a:r>
          </a:p>
          <a:p>
            <a:pPr defTabSz="1216025">
              <a:spcBef>
                <a:spcPts val="600"/>
              </a:spcBef>
              <a:defRPr b="1" sz="1400">
                <a:solidFill>
                  <a:srgbClr val="FFFFFF"/>
                </a:solidFill>
                <a:latin typeface="Arial"/>
                <a:ea typeface="Arial"/>
                <a:cs typeface="Arial"/>
                <a:sym typeface="Arial"/>
              </a:defRPr>
            </a:pPr>
          </a:p>
          <a:p>
            <a:pPr defTabSz="1216025">
              <a:spcBef>
                <a:spcPts val="300"/>
              </a:spcBef>
              <a:defRPr b="1" sz="1400">
                <a:solidFill>
                  <a:srgbClr val="FFFFFF"/>
                </a:solidFill>
                <a:latin typeface="Arial"/>
                <a:ea typeface="Arial"/>
                <a:cs typeface="Arial"/>
                <a:sym typeface="Arial"/>
              </a:defRPr>
            </a:pPr>
            <a:r>
              <a:t>However, it has given a high weight to “disappointed” since that will be very useful in determining the sentiment of the tweet.</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523"/>
                                        </p:tgtEl>
                                        <p:attrNameLst>
                                          <p:attrName>style.visibility</p:attrName>
                                        </p:attrNameLst>
                                      </p:cBhvr>
                                      <p:to>
                                        <p:strVal val="visible"/>
                                      </p:to>
                                    </p:set>
                                    <p:animEffect filter="blinds(horizontal)" transition="in">
                                      <p:cBhvr>
                                        <p:cTn id="7" dur="500"/>
                                        <p:tgtEl>
                                          <p:spTgt spid="523"/>
                                        </p:tgtEl>
                                      </p:cBhvr>
                                    </p:animEffect>
                                  </p:childTnLst>
                                </p:cTn>
                              </p:par>
                            </p:childTnLst>
                          </p:cTn>
                        </p:par>
                        <p:par>
                          <p:cTn id="8" fill="hold">
                            <p:stCondLst>
                              <p:cond delay="500"/>
                            </p:stCondLst>
                            <p:childTnLst>
                              <p:par>
                                <p:cTn id="9" presetClass="entr" nodeType="afterEffect" presetSubtype="10" presetID="3" grpId="2" fill="hold">
                                  <p:stCondLst>
                                    <p:cond delay="0"/>
                                  </p:stCondLst>
                                  <p:iterate type="el" backwards="0">
                                    <p:tmAbs val="0"/>
                                  </p:iterate>
                                  <p:childTnLst>
                                    <p:set>
                                      <p:cBhvr>
                                        <p:cTn id="10" fill="hold"/>
                                        <p:tgtEl>
                                          <p:spTgt spid="525"/>
                                        </p:tgtEl>
                                        <p:attrNameLst>
                                          <p:attrName>style.visibility</p:attrName>
                                        </p:attrNameLst>
                                      </p:cBhvr>
                                      <p:to>
                                        <p:strVal val="visible"/>
                                      </p:to>
                                    </p:set>
                                    <p:animEffect filter="blinds(horizontal)" transition="in">
                                      <p:cBhvr>
                                        <p:cTn id="11" dur="500"/>
                                        <p:tgtEl>
                                          <p:spTgt spid="52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25" grpId="2"/>
      <p:bldP build="whole" bldLvl="1" animBg="1" rev="0" advAuto="0" spid="523" grpId="1"/>
    </p:bldLst>
  </p:timing>
</p:sld>
</file>

<file path=ppt/slides/slide4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27"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530" name="Group"/>
          <p:cNvGrpSpPr/>
          <p:nvPr/>
        </p:nvGrpSpPr>
        <p:grpSpPr>
          <a:xfrm>
            <a:off x="10625137" y="5580062"/>
            <a:ext cx="1566864" cy="1281113"/>
            <a:chOff x="0" y="0"/>
            <a:chExt cx="1566862" cy="1281112"/>
          </a:xfrm>
        </p:grpSpPr>
        <p:pic>
          <p:nvPicPr>
            <p:cNvPr id="528" name="image.png" descr="image.png"/>
            <p:cNvPicPr>
              <a:picLocks noChangeAspect="1"/>
            </p:cNvPicPr>
            <p:nvPr/>
          </p:nvPicPr>
          <p:blipFill>
            <a:blip r:embed="rId3">
              <a:extLst/>
            </a:blip>
            <a:stretch>
              <a:fillRect/>
            </a:stretch>
          </p:blipFill>
          <p:spPr>
            <a:xfrm>
              <a:off x="-1" y="0"/>
              <a:ext cx="1566864" cy="1281113"/>
            </a:xfrm>
            <a:prstGeom prst="rect">
              <a:avLst/>
            </a:prstGeom>
            <a:ln w="12700" cap="flat">
              <a:noFill/>
              <a:miter lim="400000"/>
            </a:ln>
            <a:effectLst/>
          </p:spPr>
        </p:pic>
        <p:pic>
          <p:nvPicPr>
            <p:cNvPr id="529" name="image.png" descr="image.png"/>
            <p:cNvPicPr>
              <a:picLocks noChangeAspect="1"/>
            </p:cNvPicPr>
            <p:nvPr/>
          </p:nvPicPr>
          <p:blipFill>
            <a:blip r:embed="rId4">
              <a:extLst/>
            </a:blip>
            <a:srcRect l="0" t="0" r="0" b="6207"/>
            <a:stretch>
              <a:fillRect/>
            </a:stretch>
          </p:blipFill>
          <p:spPr>
            <a:xfrm>
              <a:off x="101332" y="44050"/>
              <a:ext cx="1365097" cy="865485"/>
            </a:xfrm>
            <a:prstGeom prst="rect">
              <a:avLst/>
            </a:prstGeom>
            <a:ln w="12700" cap="flat">
              <a:noFill/>
              <a:miter lim="400000"/>
            </a:ln>
            <a:effectLst/>
          </p:spPr>
        </p:pic>
      </p:grpSp>
      <p:sp>
        <p:nvSpPr>
          <p:cNvPr id="531"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532" name="Advance Text Processing - Term Frequency – Inverse Document Frequency (TF-IDF)"/>
          <p:cNvSpPr txBox="1"/>
          <p:nvPr/>
        </p:nvSpPr>
        <p:spPr>
          <a:xfrm>
            <a:off x="190182" y="207962"/>
            <a:ext cx="8820786" cy="8280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latin typeface="Microsoft YaHei"/>
                <a:ea typeface="Microsoft YaHei"/>
                <a:cs typeface="Microsoft YaHei"/>
                <a:sym typeface="Microsoft YaHei"/>
              </a:defRPr>
            </a:lvl1pPr>
          </a:lstStyle>
          <a:p>
            <a:pPr/>
            <a:r>
              <a:t>Advance Text Processing - Term Frequency – Inverse Document Frequency (TF-IDF)</a:t>
            </a:r>
          </a:p>
        </p:txBody>
      </p:sp>
      <p:sp>
        <p:nvSpPr>
          <p:cNvPr id="533" name="Calculating TF-IDF with sklearn"/>
          <p:cNvSpPr txBox="1"/>
          <p:nvPr/>
        </p:nvSpPr>
        <p:spPr>
          <a:xfrm>
            <a:off x="1681162" y="1806575"/>
            <a:ext cx="7280276"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1216025">
              <a:spcBef>
                <a:spcPts val="400"/>
              </a:spcBef>
              <a:defRPr b="1">
                <a:solidFill>
                  <a:srgbClr val="FFFFFF"/>
                </a:solidFill>
                <a:latin typeface="Arial"/>
                <a:ea typeface="Arial"/>
                <a:cs typeface="Arial"/>
                <a:sym typeface="Arial"/>
              </a:defRPr>
            </a:pPr>
            <a:r>
              <a:t>Calculating TF-IDF with </a:t>
            </a:r>
            <a:r>
              <a:rPr i="1">
                <a:solidFill>
                  <a:srgbClr val="FF0000"/>
                </a:solidFill>
              </a:rPr>
              <a:t>sklearn</a:t>
            </a:r>
          </a:p>
        </p:txBody>
      </p:sp>
      <p:pic>
        <p:nvPicPr>
          <p:cNvPr id="534" name="image.png" descr="image.png"/>
          <p:cNvPicPr>
            <a:picLocks noChangeAspect="1"/>
          </p:cNvPicPr>
          <p:nvPr/>
        </p:nvPicPr>
        <p:blipFill>
          <a:blip r:embed="rId5">
            <a:extLst/>
          </a:blip>
          <a:stretch>
            <a:fillRect/>
          </a:stretch>
        </p:blipFill>
        <p:spPr>
          <a:xfrm>
            <a:off x="509587" y="2416175"/>
            <a:ext cx="10485438" cy="3057525"/>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533"/>
                                        </p:tgtEl>
                                        <p:attrNameLst>
                                          <p:attrName>style.visibility</p:attrName>
                                        </p:attrNameLst>
                                      </p:cBhvr>
                                      <p:to>
                                        <p:strVal val="visible"/>
                                      </p:to>
                                    </p:set>
                                    <p:animEffect filter="blinds(horizontal)" transition="in">
                                      <p:cBhvr>
                                        <p:cTn id="7" dur="500"/>
                                        <p:tgtEl>
                                          <p:spTgt spid="5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33" grpId="1"/>
    </p:bldLst>
  </p:timing>
</p:sld>
</file>

<file path=ppt/slides/slide5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38"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541" name="Group"/>
          <p:cNvGrpSpPr/>
          <p:nvPr/>
        </p:nvGrpSpPr>
        <p:grpSpPr>
          <a:xfrm>
            <a:off x="10625137" y="5580062"/>
            <a:ext cx="1566864" cy="1281113"/>
            <a:chOff x="0" y="0"/>
            <a:chExt cx="1566862" cy="1281112"/>
          </a:xfrm>
        </p:grpSpPr>
        <p:pic>
          <p:nvPicPr>
            <p:cNvPr id="539" name="image.png" descr="image.png"/>
            <p:cNvPicPr>
              <a:picLocks noChangeAspect="1"/>
            </p:cNvPicPr>
            <p:nvPr/>
          </p:nvPicPr>
          <p:blipFill>
            <a:blip r:embed="rId3">
              <a:extLst/>
            </a:blip>
            <a:stretch>
              <a:fillRect/>
            </a:stretch>
          </p:blipFill>
          <p:spPr>
            <a:xfrm>
              <a:off x="-1" y="0"/>
              <a:ext cx="1566864" cy="1281113"/>
            </a:xfrm>
            <a:prstGeom prst="rect">
              <a:avLst/>
            </a:prstGeom>
            <a:ln w="12700" cap="flat">
              <a:noFill/>
              <a:miter lim="400000"/>
            </a:ln>
            <a:effectLst/>
          </p:spPr>
        </p:pic>
        <p:pic>
          <p:nvPicPr>
            <p:cNvPr id="540" name="image.png" descr="image.png"/>
            <p:cNvPicPr>
              <a:picLocks noChangeAspect="1"/>
            </p:cNvPicPr>
            <p:nvPr/>
          </p:nvPicPr>
          <p:blipFill>
            <a:blip r:embed="rId4">
              <a:extLst/>
            </a:blip>
            <a:srcRect l="0" t="0" r="0" b="6207"/>
            <a:stretch>
              <a:fillRect/>
            </a:stretch>
          </p:blipFill>
          <p:spPr>
            <a:xfrm>
              <a:off x="101332" y="44050"/>
              <a:ext cx="1365097" cy="865485"/>
            </a:xfrm>
            <a:prstGeom prst="rect">
              <a:avLst/>
            </a:prstGeom>
            <a:ln w="12700" cap="flat">
              <a:noFill/>
              <a:miter lim="400000"/>
            </a:ln>
            <a:effectLst/>
          </p:spPr>
        </p:pic>
      </p:grpSp>
      <p:sp>
        <p:nvSpPr>
          <p:cNvPr id="542"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543" name="Advance Text Processing - Bag of Words"/>
          <p:cNvSpPr txBox="1"/>
          <p:nvPr/>
        </p:nvSpPr>
        <p:spPr>
          <a:xfrm>
            <a:off x="190182" y="207962"/>
            <a:ext cx="8820786" cy="4597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2400">
                <a:latin typeface="Microsoft YaHei"/>
                <a:ea typeface="Microsoft YaHei"/>
                <a:cs typeface="Microsoft YaHei"/>
                <a:sym typeface="Microsoft YaHei"/>
              </a:defRPr>
            </a:lvl1pPr>
          </a:lstStyle>
          <a:p>
            <a:pPr/>
            <a:r>
              <a:t>Advance Text Processing - Bag of Words</a:t>
            </a:r>
          </a:p>
        </p:txBody>
      </p:sp>
      <p:sp>
        <p:nvSpPr>
          <p:cNvPr id="544" name="Bag of Words (BoW) refers to the representation of text which describes the presence of words within the text data.…"/>
          <p:cNvSpPr txBox="1"/>
          <p:nvPr/>
        </p:nvSpPr>
        <p:spPr>
          <a:xfrm>
            <a:off x="733425" y="2112962"/>
            <a:ext cx="3090863" cy="179047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285750" indent="-285750" defTabSz="1216025">
              <a:spcBef>
                <a:spcPts val="300"/>
              </a:spcBef>
              <a:buSzPct val="100000"/>
              <a:buFont typeface="Arial"/>
              <a:buChar char="•"/>
              <a:defRPr b="1" sz="1400">
                <a:solidFill>
                  <a:srgbClr val="FFFFFF"/>
                </a:solidFill>
                <a:latin typeface="Arial"/>
                <a:ea typeface="Arial"/>
                <a:cs typeface="Arial"/>
                <a:sym typeface="Arial"/>
              </a:defRPr>
            </a:pPr>
            <a:r>
              <a:t>Bag of Words (BoW) refers to the representation of text which describes the presence of words within the text data.</a:t>
            </a:r>
          </a:p>
          <a:p>
            <a:pPr marL="285750" indent="-285750" defTabSz="1216025">
              <a:spcBef>
                <a:spcPts val="600"/>
              </a:spcBef>
              <a:buSzPct val="100000"/>
              <a:buFont typeface="Arial"/>
              <a:buChar char="•"/>
              <a:defRPr b="1" sz="1400">
                <a:solidFill>
                  <a:srgbClr val="FFFFFF"/>
                </a:solidFill>
                <a:latin typeface="Arial"/>
                <a:ea typeface="Arial"/>
                <a:cs typeface="Arial"/>
                <a:sym typeface="Arial"/>
              </a:defRPr>
            </a:pPr>
          </a:p>
          <a:p>
            <a:pPr marL="285750" indent="-285750" defTabSz="1216025">
              <a:spcBef>
                <a:spcPts val="300"/>
              </a:spcBef>
              <a:buSzPct val="100000"/>
              <a:buFont typeface="Arial"/>
              <a:buChar char="•"/>
              <a:defRPr b="1" sz="1400">
                <a:solidFill>
                  <a:srgbClr val="FFFFFF"/>
                </a:solidFill>
                <a:latin typeface="Arial"/>
                <a:ea typeface="Arial"/>
                <a:cs typeface="Arial"/>
                <a:sym typeface="Arial"/>
              </a:defRPr>
            </a:pPr>
            <a:r>
              <a:t>Two similar texts containing similar kinds of words, </a:t>
            </a:r>
          </a:p>
          <a:p>
            <a:pPr marL="285750" indent="-285750" defTabSz="1216025">
              <a:spcBef>
                <a:spcPts val="300"/>
              </a:spcBef>
              <a:defRPr b="1" sz="1400">
                <a:solidFill>
                  <a:srgbClr val="FFFFFF"/>
                </a:solidFill>
                <a:latin typeface="Arial"/>
                <a:ea typeface="Arial"/>
                <a:cs typeface="Arial"/>
                <a:sym typeface="Arial"/>
              </a:defRPr>
            </a:pPr>
            <a:r>
              <a:t>=&gt; will have similar bags of words</a:t>
            </a:r>
          </a:p>
        </p:txBody>
      </p:sp>
      <p:pic>
        <p:nvPicPr>
          <p:cNvPr id="545" name="image.png" descr="image.png"/>
          <p:cNvPicPr>
            <a:picLocks noChangeAspect="1"/>
          </p:cNvPicPr>
          <p:nvPr/>
        </p:nvPicPr>
        <p:blipFill>
          <a:blip r:embed="rId5">
            <a:extLst/>
          </a:blip>
          <a:stretch>
            <a:fillRect/>
          </a:stretch>
        </p:blipFill>
        <p:spPr>
          <a:xfrm>
            <a:off x="4318000" y="1338262"/>
            <a:ext cx="5518150" cy="4697413"/>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544"/>
                                        </p:tgtEl>
                                        <p:attrNameLst>
                                          <p:attrName>style.visibility</p:attrName>
                                        </p:attrNameLst>
                                      </p:cBhvr>
                                      <p:to>
                                        <p:strVal val="visible"/>
                                      </p:to>
                                    </p:set>
                                    <p:animEffect filter="blinds(horizontal)" transition="in">
                                      <p:cBhvr>
                                        <p:cTn id="7" dur="500"/>
                                        <p:tgtEl>
                                          <p:spTgt spid="5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44" grpId="1"/>
    </p:bldLst>
  </p:timing>
</p:sld>
</file>

<file path=ppt/slides/slide5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549" name="image.png" descr="image.png"/>
          <p:cNvPicPr>
            <a:picLocks noChangeAspect="1"/>
          </p:cNvPicPr>
          <p:nvPr/>
        </p:nvPicPr>
        <p:blipFill>
          <a:blip r:embed="rId2">
            <a:extLst/>
          </a:blip>
          <a:stretch>
            <a:fillRect/>
          </a:stretch>
        </p:blipFill>
        <p:spPr>
          <a:xfrm>
            <a:off x="2632075" y="354012"/>
            <a:ext cx="7481888" cy="3743326"/>
          </a:xfrm>
          <a:prstGeom prst="rect">
            <a:avLst/>
          </a:prstGeom>
          <a:ln w="12700">
            <a:miter lim="400000"/>
          </a:ln>
        </p:spPr>
      </p:pic>
      <p:sp>
        <p:nvSpPr>
          <p:cNvPr id="550" name="Rectangle"/>
          <p:cNvSpPr/>
          <p:nvPr/>
        </p:nvSpPr>
        <p:spPr>
          <a:xfrm>
            <a:off x="0" y="4902200"/>
            <a:ext cx="12192000" cy="1955800"/>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551" name="5"/>
          <p:cNvSpPr txBox="1"/>
          <p:nvPr/>
        </p:nvSpPr>
        <p:spPr>
          <a:xfrm>
            <a:off x="45720" y="1571625"/>
            <a:ext cx="1403985" cy="53365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34400">
                <a:solidFill>
                  <a:srgbClr val="1C4885"/>
                </a:solidFill>
                <a:latin typeface="Microsoft YaHei"/>
                <a:ea typeface="Microsoft YaHei"/>
                <a:cs typeface="Microsoft YaHei"/>
                <a:sym typeface="Microsoft YaHei"/>
              </a:defRPr>
            </a:lvl1pPr>
          </a:lstStyle>
          <a:p>
            <a:pPr/>
            <a:r>
              <a:t>5</a:t>
            </a:r>
          </a:p>
        </p:txBody>
      </p:sp>
      <p:sp>
        <p:nvSpPr>
          <p:cNvPr id="552" name="Regular Expression"/>
          <p:cNvSpPr txBox="1"/>
          <p:nvPr/>
        </p:nvSpPr>
        <p:spPr>
          <a:xfrm>
            <a:off x="2544444" y="3832225"/>
            <a:ext cx="9370062" cy="9169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5400">
                <a:solidFill>
                  <a:srgbClr val="1C4885"/>
                </a:solidFill>
                <a:latin typeface="Microsoft YaHei"/>
                <a:ea typeface="Microsoft YaHei"/>
                <a:cs typeface="Microsoft YaHei"/>
                <a:sym typeface="Microsoft YaHei"/>
              </a:defRPr>
            </a:lvl1pPr>
          </a:lstStyle>
          <a:p>
            <a:pPr/>
            <a:r>
              <a:t>Regular Expression</a:t>
            </a:r>
          </a:p>
        </p:txBody>
      </p:sp>
      <p:grpSp>
        <p:nvGrpSpPr>
          <p:cNvPr id="555" name="Group"/>
          <p:cNvGrpSpPr/>
          <p:nvPr/>
        </p:nvGrpSpPr>
        <p:grpSpPr>
          <a:xfrm>
            <a:off x="6804024" y="3178174"/>
            <a:ext cx="5578477" cy="3481389"/>
            <a:chOff x="0" y="0"/>
            <a:chExt cx="5578475" cy="3481387"/>
          </a:xfrm>
        </p:grpSpPr>
        <p:pic>
          <p:nvPicPr>
            <p:cNvPr id="553" name="image.png" descr="image.png"/>
            <p:cNvPicPr>
              <a:picLocks noChangeAspect="1"/>
            </p:cNvPicPr>
            <p:nvPr/>
          </p:nvPicPr>
          <p:blipFill>
            <a:blip r:embed="rId3">
              <a:extLst/>
            </a:blip>
            <a:srcRect l="0" t="0" r="0" b="52040"/>
            <a:stretch>
              <a:fillRect/>
            </a:stretch>
          </p:blipFill>
          <p:spPr>
            <a:xfrm>
              <a:off x="6646" y="0"/>
              <a:ext cx="5571830" cy="1720707"/>
            </a:xfrm>
            <a:prstGeom prst="rect">
              <a:avLst/>
            </a:prstGeom>
            <a:ln w="12700" cap="flat">
              <a:noFill/>
              <a:miter lim="400000"/>
            </a:ln>
            <a:effectLst/>
          </p:spPr>
        </p:pic>
        <p:pic>
          <p:nvPicPr>
            <p:cNvPr id="554" name="image.png" descr="image.png"/>
            <p:cNvPicPr>
              <a:picLocks noChangeAspect="1"/>
            </p:cNvPicPr>
            <p:nvPr/>
          </p:nvPicPr>
          <p:blipFill>
            <a:blip r:embed="rId3">
              <a:extLst/>
            </a:blip>
            <a:srcRect l="0" t="50633" r="2627" b="0"/>
            <a:stretch>
              <a:fillRect/>
            </a:stretch>
          </p:blipFill>
          <p:spPr>
            <a:xfrm>
              <a:off x="-1" y="1710252"/>
              <a:ext cx="5425464" cy="1771136"/>
            </a:xfrm>
            <a:prstGeom prst="rect">
              <a:avLst/>
            </a:prstGeom>
            <a:ln w="12700" cap="flat">
              <a:noFill/>
              <a:miter lim="400000"/>
            </a:ln>
            <a:effectLst/>
          </p:spPr>
        </p:pic>
      </p:grpSp>
      <p:sp>
        <p:nvSpPr>
          <p:cNvPr id="556" name="Shape"/>
          <p:cNvSpPr/>
          <p:nvPr/>
        </p:nvSpPr>
        <p:spPr>
          <a:xfrm>
            <a:off x="428625" y="4899025"/>
            <a:ext cx="2082800" cy="976313"/>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4292" y="0"/>
                </a:moveTo>
                <a:lnTo>
                  <a:pt x="21600" y="0"/>
                </a:lnTo>
                <a:lnTo>
                  <a:pt x="21401" y="4389"/>
                </a:lnTo>
                <a:cubicBezTo>
                  <a:pt x="20954" y="9033"/>
                  <a:pt x="19837" y="12819"/>
                  <a:pt x="18050" y="15746"/>
                </a:cubicBezTo>
                <a:cubicBezTo>
                  <a:pt x="15667" y="19649"/>
                  <a:pt x="12491" y="21600"/>
                  <a:pt x="8521" y="21600"/>
                </a:cubicBezTo>
                <a:cubicBezTo>
                  <a:pt x="4995" y="21600"/>
                  <a:pt x="2154" y="20357"/>
                  <a:pt x="0" y="17870"/>
                </a:cubicBezTo>
                <a:lnTo>
                  <a:pt x="0" y="4415"/>
                </a:lnTo>
                <a:cubicBezTo>
                  <a:pt x="2287" y="8066"/>
                  <a:pt x="4958" y="9892"/>
                  <a:pt x="8012" y="9892"/>
                </a:cubicBezTo>
                <a:cubicBezTo>
                  <a:pt x="9945" y="9892"/>
                  <a:pt x="11480" y="8979"/>
                  <a:pt x="12616" y="7154"/>
                </a:cubicBezTo>
                <a:cubicBezTo>
                  <a:pt x="13468" y="5784"/>
                  <a:pt x="14001" y="3982"/>
                  <a:pt x="14214" y="1745"/>
                </a:cubicBezTo>
                <a:lnTo>
                  <a:pt x="14292" y="0"/>
                </a:lnTo>
                <a:close/>
              </a:path>
            </a:pathLst>
          </a:custGeom>
          <a:solidFill>
            <a:srgbClr val="FFFFFF"/>
          </a:solidFill>
          <a:ln w="12700">
            <a:miter lim="400000"/>
          </a:ln>
        </p:spPr>
        <p:txBody>
          <a:bodyPr lIns="45719" rIns="45719"/>
          <a:lstStyle/>
          <a:p>
            <a:pPr/>
          </a:p>
        </p:txBody>
      </p:sp>
      <p:sp>
        <p:nvSpPr>
          <p:cNvPr id="557"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558"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slides/slide5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0"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563" name="Group"/>
          <p:cNvGrpSpPr/>
          <p:nvPr/>
        </p:nvGrpSpPr>
        <p:grpSpPr>
          <a:xfrm>
            <a:off x="10625137" y="5580062"/>
            <a:ext cx="1566864" cy="1281113"/>
            <a:chOff x="0" y="0"/>
            <a:chExt cx="1566862" cy="1281112"/>
          </a:xfrm>
        </p:grpSpPr>
        <p:pic>
          <p:nvPicPr>
            <p:cNvPr id="561"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562"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564"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565" name="Regular Expression in NLP"/>
          <p:cNvSpPr txBox="1"/>
          <p:nvPr/>
        </p:nvSpPr>
        <p:spPr>
          <a:xfrm>
            <a:off x="190182" y="207962"/>
            <a:ext cx="4016684"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Regular Expression in NLP</a:t>
            </a:r>
          </a:p>
        </p:txBody>
      </p:sp>
      <p:sp>
        <p:nvSpPr>
          <p:cNvPr id="566" name="A RegEx, or Regular Expression, is a sequence of characters that forms a search pattern.…"/>
          <p:cNvSpPr txBox="1"/>
          <p:nvPr/>
        </p:nvSpPr>
        <p:spPr>
          <a:xfrm>
            <a:off x="1365250" y="1404937"/>
            <a:ext cx="9259888" cy="3351603"/>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marL="342900" indent="-342900" defTabSz="1216025">
              <a:spcBef>
                <a:spcPts val="400"/>
              </a:spcBef>
              <a:buSzPct val="100000"/>
              <a:buChar char="➢"/>
              <a:defRPr b="1" sz="2000">
                <a:solidFill>
                  <a:srgbClr val="FFFFFF"/>
                </a:solidFill>
                <a:latin typeface="Arial"/>
                <a:ea typeface="Arial"/>
                <a:cs typeface="Arial"/>
                <a:sym typeface="Arial"/>
              </a:defRPr>
            </a:pPr>
            <a:r>
              <a:t>A </a:t>
            </a:r>
            <a:r>
              <a:rPr>
                <a:solidFill>
                  <a:srgbClr val="00B050"/>
                </a:solidFill>
              </a:rPr>
              <a:t>RegEx</a:t>
            </a:r>
            <a:r>
              <a:t>, or </a:t>
            </a:r>
            <a:r>
              <a:rPr>
                <a:solidFill>
                  <a:srgbClr val="00B050"/>
                </a:solidFill>
              </a:rPr>
              <a:t>Regular Expression</a:t>
            </a:r>
            <a:r>
              <a:t>, is a sequence of characters that forms a </a:t>
            </a:r>
            <a:r>
              <a:rPr u="sng"/>
              <a:t>search pattern</a:t>
            </a:r>
            <a:r>
              <a:t>.</a:t>
            </a:r>
          </a:p>
          <a:p>
            <a:pPr marL="342900" indent="-342900" defTabSz="1216025">
              <a:spcBef>
                <a:spcPts val="400"/>
              </a:spcBef>
              <a:buSzPct val="100000"/>
              <a:buChar char="➢"/>
              <a:defRPr b="1" sz="2000">
                <a:solidFill>
                  <a:srgbClr val="00B050"/>
                </a:solidFill>
                <a:latin typeface="Arial"/>
                <a:ea typeface="Arial"/>
                <a:cs typeface="Arial"/>
                <a:sym typeface="Arial"/>
              </a:defRPr>
            </a:pPr>
            <a:r>
              <a:t>RegEx</a:t>
            </a:r>
            <a:r>
              <a:rPr>
                <a:solidFill>
                  <a:srgbClr val="FFFFFF"/>
                </a:solidFill>
              </a:rPr>
              <a:t> can be used to check if a string contains the specified search pattern (for example, email, phone number, date, hashtag, url, etc).</a:t>
            </a:r>
            <a:endParaRPr>
              <a:solidFill>
                <a:srgbClr val="FFFFFF"/>
              </a:solidFill>
            </a:endParaRPr>
          </a:p>
          <a:p>
            <a:pPr marL="342900" indent="-342900" defTabSz="1216025">
              <a:spcBef>
                <a:spcPts val="400"/>
              </a:spcBef>
              <a:buSzPct val="100000"/>
              <a:buChar char="➢"/>
              <a:defRPr b="1" sz="2000">
                <a:solidFill>
                  <a:srgbClr val="FFFFFF"/>
                </a:solidFill>
                <a:latin typeface="Arial"/>
                <a:ea typeface="Arial"/>
                <a:cs typeface="Arial"/>
                <a:sym typeface="Arial"/>
              </a:defRPr>
            </a:pPr>
            <a:r>
              <a:t>Python has a built-in package called </a:t>
            </a:r>
            <a:r>
              <a:rPr i="1">
                <a:solidFill>
                  <a:srgbClr val="FF0000"/>
                </a:solidFill>
              </a:rPr>
              <a:t>re</a:t>
            </a:r>
            <a:r>
              <a:t>, which can be used to work with Regular Expressions.</a:t>
            </a:r>
          </a:p>
          <a:p>
            <a:pPr marL="342900" indent="-342900" defTabSz="1216025">
              <a:spcBef>
                <a:spcPts val="400"/>
              </a:spcBef>
              <a:buSzPct val="100000"/>
              <a:buChar char="➢"/>
              <a:defRPr b="1" i="1" sz="2000">
                <a:solidFill>
                  <a:srgbClr val="FF0000"/>
                </a:solidFill>
                <a:latin typeface="Arial"/>
                <a:ea typeface="Arial"/>
                <a:cs typeface="Arial"/>
                <a:sym typeface="Arial"/>
              </a:defRPr>
            </a:pPr>
            <a:r>
              <a:t>import re</a:t>
            </a:r>
          </a:p>
          <a:p>
            <a:pPr marL="342900" indent="-342900" defTabSz="1216025">
              <a:spcBef>
                <a:spcPts val="600"/>
              </a:spcBef>
              <a:buSzPct val="100000"/>
              <a:buChar char="➢"/>
              <a:defRPr b="1" sz="2000">
                <a:solidFill>
                  <a:srgbClr val="FFFFFF"/>
                </a:solidFill>
                <a:latin typeface="Arial"/>
                <a:ea typeface="Arial"/>
                <a:cs typeface="Arial"/>
                <a:sym typeface="Arial"/>
              </a:defRPr>
            </a:pPr>
          </a:p>
          <a:p>
            <a:pPr marL="342900" indent="-342900" defTabSz="1216025">
              <a:spcBef>
                <a:spcPts val="600"/>
              </a:spcBef>
              <a:buSzPct val="100000"/>
              <a:buChar char="➢"/>
              <a:defRPr b="1" sz="2000">
                <a:solidFill>
                  <a:srgbClr val="FFFFFF"/>
                </a:solidFill>
                <a:latin typeface="Arial"/>
                <a:ea typeface="Arial"/>
                <a:cs typeface="Arial"/>
                <a:sym typeface="Arial"/>
              </a:defRPr>
            </a:pPr>
          </a:p>
        </p:txBody>
      </p:sp>
      <p:pic>
        <p:nvPicPr>
          <p:cNvPr id="567" name="image.png" descr="image.png"/>
          <p:cNvPicPr>
            <a:picLocks noChangeAspect="1"/>
          </p:cNvPicPr>
          <p:nvPr/>
        </p:nvPicPr>
        <p:blipFill>
          <a:blip r:embed="rId4">
            <a:extLst/>
          </a:blip>
          <a:stretch>
            <a:fillRect/>
          </a:stretch>
        </p:blipFill>
        <p:spPr>
          <a:xfrm>
            <a:off x="3033712" y="3835400"/>
            <a:ext cx="4921251" cy="2033588"/>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566"/>
                                        </p:tgtEl>
                                        <p:attrNameLst>
                                          <p:attrName>style.visibility</p:attrName>
                                        </p:attrNameLst>
                                      </p:cBhvr>
                                      <p:to>
                                        <p:strVal val="visible"/>
                                      </p:to>
                                    </p:set>
                                    <p:animEffect filter="blinds(horizontal)" transition="in">
                                      <p:cBhvr>
                                        <p:cTn id="7" dur="500"/>
                                        <p:tgtEl>
                                          <p:spTgt spid="5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66" grpId="1"/>
    </p:bldLst>
  </p:timing>
</p:sld>
</file>

<file path=ppt/slides/slide5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69"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572" name="Group"/>
          <p:cNvGrpSpPr/>
          <p:nvPr/>
        </p:nvGrpSpPr>
        <p:grpSpPr>
          <a:xfrm>
            <a:off x="10625137" y="5580062"/>
            <a:ext cx="1566864" cy="1281113"/>
            <a:chOff x="0" y="0"/>
            <a:chExt cx="1566862" cy="1281112"/>
          </a:xfrm>
        </p:grpSpPr>
        <p:pic>
          <p:nvPicPr>
            <p:cNvPr id="570"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571"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573"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574" name="RegEx Functions"/>
          <p:cNvSpPr txBox="1"/>
          <p:nvPr/>
        </p:nvSpPr>
        <p:spPr>
          <a:xfrm>
            <a:off x="190182" y="207962"/>
            <a:ext cx="2593589"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RegEx Functions</a:t>
            </a:r>
          </a:p>
        </p:txBody>
      </p:sp>
      <p:pic>
        <p:nvPicPr>
          <p:cNvPr id="575" name="image.png" descr="image.png"/>
          <p:cNvPicPr>
            <a:picLocks noChangeAspect="1"/>
          </p:cNvPicPr>
          <p:nvPr/>
        </p:nvPicPr>
        <p:blipFill>
          <a:blip r:embed="rId4">
            <a:extLst/>
          </a:blip>
          <a:stretch>
            <a:fillRect/>
          </a:stretch>
        </p:blipFill>
        <p:spPr>
          <a:xfrm>
            <a:off x="144462" y="1501775"/>
            <a:ext cx="6467476" cy="2100263"/>
          </a:xfrm>
          <a:prstGeom prst="rect">
            <a:avLst/>
          </a:prstGeom>
          <a:ln w="12700">
            <a:miter lim="400000"/>
          </a:ln>
        </p:spPr>
      </p:pic>
      <p:sp>
        <p:nvSpPr>
          <p:cNvPr id="576" name="Usage: re.findall(), re.search(), re.split, re.sub()"/>
          <p:cNvSpPr txBox="1"/>
          <p:nvPr/>
        </p:nvSpPr>
        <p:spPr>
          <a:xfrm>
            <a:off x="6870700" y="2166937"/>
            <a:ext cx="5994400" cy="259222"/>
          </a:xfrm>
          <a:prstGeom prst="rect">
            <a:avLst/>
          </a:prstGeom>
          <a:ln w="12700">
            <a:miter lim="400000"/>
          </a:ln>
          <a:extLst>
            <a:ext uri="{C572A759-6A51-4108-AA02-DFA0A04FC94B}">
              <ma14:wrappingTextBoxFlag xmlns:ma14="http://schemas.microsoft.com/office/mac/drawingml/2011/main" val="1"/>
            </a:ext>
          </a:extLst>
        </p:spPr>
        <p:txBody>
          <a:bodyPr lIns="0" tIns="0" rIns="0" bIns="0">
            <a:spAutoFit/>
          </a:bodyPr>
          <a:lstStyle/>
          <a:p>
            <a:pPr defTabSz="1216025">
              <a:spcBef>
                <a:spcPts val="400"/>
              </a:spcBef>
              <a:defRPr b="1">
                <a:solidFill>
                  <a:srgbClr val="FFFFFF"/>
                </a:solidFill>
                <a:latin typeface="Arial"/>
                <a:ea typeface="Arial"/>
                <a:cs typeface="Arial"/>
                <a:sym typeface="Arial"/>
              </a:defRPr>
            </a:pPr>
            <a:r>
              <a:t>Usage: </a:t>
            </a:r>
            <a:r>
              <a:rPr i="1">
                <a:solidFill>
                  <a:srgbClr val="FF0000"/>
                </a:solidFill>
              </a:rPr>
              <a:t>re.findall(), re.search(), re.split, re.sub()</a:t>
            </a:r>
          </a:p>
        </p:txBody>
      </p:sp>
      <p:pic>
        <p:nvPicPr>
          <p:cNvPr id="577" name="image.png" descr="image.png"/>
          <p:cNvPicPr>
            <a:picLocks noChangeAspect="1"/>
          </p:cNvPicPr>
          <p:nvPr/>
        </p:nvPicPr>
        <p:blipFill>
          <a:blip r:embed="rId5">
            <a:extLst/>
          </a:blip>
          <a:stretch>
            <a:fillRect/>
          </a:stretch>
        </p:blipFill>
        <p:spPr>
          <a:xfrm>
            <a:off x="71437" y="3924300"/>
            <a:ext cx="2932113" cy="1871663"/>
          </a:xfrm>
          <a:prstGeom prst="rect">
            <a:avLst/>
          </a:prstGeom>
          <a:ln w="12700">
            <a:miter lim="400000"/>
          </a:ln>
        </p:spPr>
      </p:pic>
      <p:pic>
        <p:nvPicPr>
          <p:cNvPr id="578" name="image.png" descr="image.png"/>
          <p:cNvPicPr>
            <a:picLocks noChangeAspect="1"/>
          </p:cNvPicPr>
          <p:nvPr/>
        </p:nvPicPr>
        <p:blipFill>
          <a:blip r:embed="rId6">
            <a:extLst/>
          </a:blip>
          <a:stretch>
            <a:fillRect/>
          </a:stretch>
        </p:blipFill>
        <p:spPr>
          <a:xfrm>
            <a:off x="3103562" y="4314825"/>
            <a:ext cx="2170113" cy="960438"/>
          </a:xfrm>
          <a:prstGeom prst="rect">
            <a:avLst/>
          </a:prstGeom>
          <a:ln w="12700">
            <a:miter lim="400000"/>
          </a:ln>
        </p:spPr>
      </p:pic>
      <p:pic>
        <p:nvPicPr>
          <p:cNvPr id="579" name="image.png" descr="image.png"/>
          <p:cNvPicPr>
            <a:picLocks noChangeAspect="1"/>
          </p:cNvPicPr>
          <p:nvPr/>
        </p:nvPicPr>
        <p:blipFill>
          <a:blip r:embed="rId7">
            <a:extLst/>
          </a:blip>
          <a:stretch>
            <a:fillRect/>
          </a:stretch>
        </p:blipFill>
        <p:spPr>
          <a:xfrm>
            <a:off x="5462587" y="4162425"/>
            <a:ext cx="3432176" cy="1177925"/>
          </a:xfrm>
          <a:prstGeom prst="rect">
            <a:avLst/>
          </a:prstGeom>
          <a:ln w="12700">
            <a:miter lim="400000"/>
          </a:ln>
        </p:spPr>
      </p:pic>
      <p:pic>
        <p:nvPicPr>
          <p:cNvPr id="580" name="image.png" descr="image.png"/>
          <p:cNvPicPr>
            <a:picLocks noChangeAspect="1"/>
          </p:cNvPicPr>
          <p:nvPr/>
        </p:nvPicPr>
        <p:blipFill>
          <a:blip r:embed="rId8">
            <a:extLst/>
          </a:blip>
          <a:stretch>
            <a:fillRect/>
          </a:stretch>
        </p:blipFill>
        <p:spPr>
          <a:xfrm>
            <a:off x="8994775" y="4067175"/>
            <a:ext cx="3097213" cy="1419225"/>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576"/>
                                        </p:tgtEl>
                                        <p:attrNameLst>
                                          <p:attrName>style.visibility</p:attrName>
                                        </p:attrNameLst>
                                      </p:cBhvr>
                                      <p:to>
                                        <p:strVal val="visible"/>
                                      </p:to>
                                    </p:set>
                                    <p:animEffect filter="blinds(horizontal)" transition="in">
                                      <p:cBhvr>
                                        <p:cTn id="7" dur="500"/>
                                        <p:tgtEl>
                                          <p:spTgt spid="57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576" grpId="1"/>
    </p:bldLst>
  </p:timing>
</p:sld>
</file>

<file path=ppt/slides/slide5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82"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585" name="Group"/>
          <p:cNvGrpSpPr/>
          <p:nvPr/>
        </p:nvGrpSpPr>
        <p:grpSpPr>
          <a:xfrm>
            <a:off x="10625137" y="5580062"/>
            <a:ext cx="1566864" cy="1281113"/>
            <a:chOff x="0" y="0"/>
            <a:chExt cx="1566862" cy="1281112"/>
          </a:xfrm>
        </p:grpSpPr>
        <p:pic>
          <p:nvPicPr>
            <p:cNvPr id="583"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584"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586"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587" name="Metacharacters"/>
          <p:cNvSpPr txBox="1"/>
          <p:nvPr/>
        </p:nvSpPr>
        <p:spPr>
          <a:xfrm>
            <a:off x="190182" y="207962"/>
            <a:ext cx="2340581"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Metacharacters</a:t>
            </a:r>
          </a:p>
        </p:txBody>
      </p:sp>
      <p:pic>
        <p:nvPicPr>
          <p:cNvPr id="588" name="image.png" descr="image.png"/>
          <p:cNvPicPr>
            <a:picLocks noChangeAspect="1"/>
          </p:cNvPicPr>
          <p:nvPr/>
        </p:nvPicPr>
        <p:blipFill>
          <a:blip r:embed="rId4">
            <a:extLst/>
          </a:blip>
          <a:stretch>
            <a:fillRect/>
          </a:stretch>
        </p:blipFill>
        <p:spPr>
          <a:xfrm>
            <a:off x="590550" y="1539875"/>
            <a:ext cx="11010900" cy="4048125"/>
          </a:xfrm>
          <a:prstGeom prst="rect">
            <a:avLst/>
          </a:prstGeom>
          <a:ln w="12700">
            <a:miter lim="400000"/>
          </a:ln>
        </p:spPr>
      </p:pic>
    </p:spTree>
  </p:cSld>
  <p:clrMapOvr>
    <a:masterClrMapping/>
  </p:clrMapOvr>
  <p:transition xmlns:p14="http://schemas.microsoft.com/office/powerpoint/2010/main" spd="med" advClick="1"/>
</p:sld>
</file>

<file path=ppt/slides/slide5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90"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593" name="Group"/>
          <p:cNvGrpSpPr/>
          <p:nvPr/>
        </p:nvGrpSpPr>
        <p:grpSpPr>
          <a:xfrm>
            <a:off x="10625137" y="5580062"/>
            <a:ext cx="1566864" cy="1281113"/>
            <a:chOff x="0" y="0"/>
            <a:chExt cx="1566862" cy="1281112"/>
          </a:xfrm>
        </p:grpSpPr>
        <p:pic>
          <p:nvPicPr>
            <p:cNvPr id="591"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592"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594"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595" name="Special Sequences"/>
          <p:cNvSpPr txBox="1"/>
          <p:nvPr/>
        </p:nvSpPr>
        <p:spPr>
          <a:xfrm>
            <a:off x="190182" y="207962"/>
            <a:ext cx="2865647"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Special Sequences</a:t>
            </a:r>
          </a:p>
        </p:txBody>
      </p:sp>
      <p:pic>
        <p:nvPicPr>
          <p:cNvPr id="596" name="image.png" descr="image.png"/>
          <p:cNvPicPr>
            <a:picLocks noChangeAspect="1"/>
          </p:cNvPicPr>
          <p:nvPr/>
        </p:nvPicPr>
        <p:blipFill>
          <a:blip r:embed="rId4">
            <a:extLst/>
          </a:blip>
          <a:stretch>
            <a:fillRect/>
          </a:stretch>
        </p:blipFill>
        <p:spPr>
          <a:xfrm>
            <a:off x="190500" y="1479550"/>
            <a:ext cx="10244138" cy="4479925"/>
          </a:xfrm>
          <a:prstGeom prst="rect">
            <a:avLst/>
          </a:prstGeom>
          <a:ln w="12700">
            <a:miter lim="400000"/>
          </a:ln>
        </p:spPr>
      </p:pic>
    </p:spTree>
  </p:cSld>
  <p:clrMapOvr>
    <a:masterClrMapping/>
  </p:clrMapOvr>
  <p:transition xmlns:p14="http://schemas.microsoft.com/office/powerpoint/2010/main" spd="med" advClick="1"/>
</p:sld>
</file>

<file path=ppt/slides/slide5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598"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601" name="Group"/>
          <p:cNvGrpSpPr/>
          <p:nvPr/>
        </p:nvGrpSpPr>
        <p:grpSpPr>
          <a:xfrm>
            <a:off x="10625137" y="5580062"/>
            <a:ext cx="1566864" cy="1281113"/>
            <a:chOff x="0" y="0"/>
            <a:chExt cx="1566862" cy="1281112"/>
          </a:xfrm>
        </p:grpSpPr>
        <p:pic>
          <p:nvPicPr>
            <p:cNvPr id="599"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600"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602"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603" name="Sets"/>
          <p:cNvSpPr txBox="1"/>
          <p:nvPr/>
        </p:nvSpPr>
        <p:spPr>
          <a:xfrm>
            <a:off x="190182" y="207962"/>
            <a:ext cx="747971"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Sets</a:t>
            </a:r>
          </a:p>
        </p:txBody>
      </p:sp>
      <p:pic>
        <p:nvPicPr>
          <p:cNvPr id="604" name="image.png" descr="image.png"/>
          <p:cNvPicPr>
            <a:picLocks noChangeAspect="1"/>
          </p:cNvPicPr>
          <p:nvPr/>
        </p:nvPicPr>
        <p:blipFill>
          <a:blip r:embed="rId4">
            <a:extLst/>
          </a:blip>
          <a:stretch>
            <a:fillRect/>
          </a:stretch>
        </p:blipFill>
        <p:spPr>
          <a:xfrm>
            <a:off x="923925" y="1654175"/>
            <a:ext cx="10344150" cy="3600450"/>
          </a:xfrm>
          <a:prstGeom prst="rect">
            <a:avLst/>
          </a:prstGeom>
          <a:ln w="12700">
            <a:miter lim="400000"/>
          </a:ln>
        </p:spPr>
      </p:pic>
    </p:spTree>
  </p:cSld>
  <p:clrMapOvr>
    <a:masterClrMapping/>
  </p:clrMapOvr>
  <p:transition xmlns:p14="http://schemas.microsoft.com/office/powerpoint/2010/main" spd="med" advClick="1"/>
</p:sld>
</file>

<file path=ppt/slides/slide5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06"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609" name="Group"/>
          <p:cNvGrpSpPr/>
          <p:nvPr/>
        </p:nvGrpSpPr>
        <p:grpSpPr>
          <a:xfrm>
            <a:off x="10625137" y="5580062"/>
            <a:ext cx="1566864" cy="1281113"/>
            <a:chOff x="0" y="0"/>
            <a:chExt cx="1566862" cy="1281112"/>
          </a:xfrm>
        </p:grpSpPr>
        <p:pic>
          <p:nvPicPr>
            <p:cNvPr id="607"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608"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610"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611" name="Examples - extract emails by RegEx"/>
          <p:cNvSpPr txBox="1"/>
          <p:nvPr/>
        </p:nvSpPr>
        <p:spPr>
          <a:xfrm>
            <a:off x="190182" y="207962"/>
            <a:ext cx="5305237"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Examples - extract emails by RegEx</a:t>
            </a:r>
          </a:p>
        </p:txBody>
      </p:sp>
      <p:pic>
        <p:nvPicPr>
          <p:cNvPr id="612" name="image.png" descr="image.png"/>
          <p:cNvPicPr>
            <a:picLocks noChangeAspect="1"/>
          </p:cNvPicPr>
          <p:nvPr/>
        </p:nvPicPr>
        <p:blipFill>
          <a:blip r:embed="rId4">
            <a:extLst/>
          </a:blip>
          <a:stretch>
            <a:fillRect/>
          </a:stretch>
        </p:blipFill>
        <p:spPr>
          <a:xfrm>
            <a:off x="1674812" y="1622425"/>
            <a:ext cx="7496176" cy="4221163"/>
          </a:xfrm>
          <a:prstGeom prst="rect">
            <a:avLst/>
          </a:prstGeom>
          <a:ln w="12700">
            <a:miter lim="400000"/>
          </a:ln>
        </p:spPr>
      </p:pic>
    </p:spTree>
  </p:cSld>
  <p:clrMapOvr>
    <a:masterClrMapping/>
  </p:clrMapOvr>
  <p:transition xmlns:p14="http://schemas.microsoft.com/office/powerpoint/2010/main" spd="med" advClick="1"/>
</p:sld>
</file>

<file path=ppt/slides/slide5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14"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617" name="Group"/>
          <p:cNvGrpSpPr/>
          <p:nvPr/>
        </p:nvGrpSpPr>
        <p:grpSpPr>
          <a:xfrm>
            <a:off x="10625137" y="5580062"/>
            <a:ext cx="1566864" cy="1281113"/>
            <a:chOff x="0" y="0"/>
            <a:chExt cx="1566862" cy="1281112"/>
          </a:xfrm>
        </p:grpSpPr>
        <p:pic>
          <p:nvPicPr>
            <p:cNvPr id="615"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616"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618"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619" name="Examples - extract phone number by RegEx"/>
          <p:cNvSpPr txBox="1"/>
          <p:nvPr/>
        </p:nvSpPr>
        <p:spPr>
          <a:xfrm>
            <a:off x="190182" y="207962"/>
            <a:ext cx="6472943"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Examples - extract phone number by RegEx</a:t>
            </a:r>
          </a:p>
        </p:txBody>
      </p:sp>
      <p:pic>
        <p:nvPicPr>
          <p:cNvPr id="620" name="image.png" descr="image.png"/>
          <p:cNvPicPr>
            <a:picLocks noChangeAspect="1"/>
          </p:cNvPicPr>
          <p:nvPr/>
        </p:nvPicPr>
        <p:blipFill>
          <a:blip r:embed="rId4">
            <a:extLst/>
          </a:blip>
          <a:stretch>
            <a:fillRect/>
          </a:stretch>
        </p:blipFill>
        <p:spPr>
          <a:xfrm>
            <a:off x="1028700" y="1819275"/>
            <a:ext cx="10134600" cy="3219450"/>
          </a:xfrm>
          <a:prstGeom prst="rect">
            <a:avLst/>
          </a:prstGeom>
          <a:ln w="12700">
            <a:miter lim="400000"/>
          </a:ln>
        </p:spPr>
      </p:pic>
    </p:spTree>
  </p:cSld>
  <p:clrMapOvr>
    <a:masterClrMapping/>
  </p:clrMapOvr>
  <p:transition xmlns:p14="http://schemas.microsoft.com/office/powerpoint/2010/main" spd="med" advClick="1"/>
</p:sld>
</file>

<file path=ppt/slides/slide5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22"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625" name="Group"/>
          <p:cNvGrpSpPr/>
          <p:nvPr/>
        </p:nvGrpSpPr>
        <p:grpSpPr>
          <a:xfrm>
            <a:off x="10625137" y="5580062"/>
            <a:ext cx="1566864" cy="1281113"/>
            <a:chOff x="0" y="0"/>
            <a:chExt cx="1566862" cy="1281112"/>
          </a:xfrm>
        </p:grpSpPr>
        <p:pic>
          <p:nvPicPr>
            <p:cNvPr id="623"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624"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626"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627" name="Examples - extract date by RegEx"/>
          <p:cNvSpPr txBox="1"/>
          <p:nvPr/>
        </p:nvSpPr>
        <p:spPr>
          <a:xfrm>
            <a:off x="190182" y="207962"/>
            <a:ext cx="4983025"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Examples - extract date by RegEx</a:t>
            </a:r>
          </a:p>
        </p:txBody>
      </p:sp>
      <p:pic>
        <p:nvPicPr>
          <p:cNvPr id="628" name="image.png" descr="image.png"/>
          <p:cNvPicPr>
            <a:picLocks noChangeAspect="1"/>
          </p:cNvPicPr>
          <p:nvPr/>
        </p:nvPicPr>
        <p:blipFill>
          <a:blip r:embed="rId4">
            <a:extLst/>
          </a:blip>
          <a:stretch>
            <a:fillRect/>
          </a:stretch>
        </p:blipFill>
        <p:spPr>
          <a:xfrm>
            <a:off x="504825" y="1866900"/>
            <a:ext cx="11182350" cy="3124200"/>
          </a:xfrm>
          <a:prstGeom prst="rect">
            <a:avLst/>
          </a:prstGeom>
          <a:ln w="12700">
            <a:miter lim="400000"/>
          </a:ln>
        </p:spPr>
      </p:pic>
    </p:spTree>
  </p:cSld>
  <p:clrMapOvr>
    <a:masterClrMapping/>
  </p:clrMapOvr>
  <p:transition xmlns:p14="http://schemas.microsoft.com/office/powerpoint/2010/main" spd="med" advClick="1"/>
</p:sld>
</file>

<file path=ppt/slides/slide6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0"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633" name="Group"/>
          <p:cNvGrpSpPr/>
          <p:nvPr/>
        </p:nvGrpSpPr>
        <p:grpSpPr>
          <a:xfrm>
            <a:off x="10625137" y="5580062"/>
            <a:ext cx="1566864" cy="1281113"/>
            <a:chOff x="0" y="0"/>
            <a:chExt cx="1566862" cy="1281112"/>
          </a:xfrm>
        </p:grpSpPr>
        <p:pic>
          <p:nvPicPr>
            <p:cNvPr id="631"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632"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634"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635" name="Examples - extract hashtags by RegEx"/>
          <p:cNvSpPr txBox="1"/>
          <p:nvPr/>
        </p:nvSpPr>
        <p:spPr>
          <a:xfrm>
            <a:off x="190182" y="207962"/>
            <a:ext cx="5694423"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Examples - extract hashtags by RegEx</a:t>
            </a:r>
          </a:p>
        </p:txBody>
      </p:sp>
      <p:pic>
        <p:nvPicPr>
          <p:cNvPr id="636" name="image.png" descr="image.png"/>
          <p:cNvPicPr>
            <a:picLocks noChangeAspect="1"/>
          </p:cNvPicPr>
          <p:nvPr/>
        </p:nvPicPr>
        <p:blipFill>
          <a:blip r:embed="rId4">
            <a:extLst/>
          </a:blip>
          <a:stretch>
            <a:fillRect/>
          </a:stretch>
        </p:blipFill>
        <p:spPr>
          <a:xfrm>
            <a:off x="577850" y="1595437"/>
            <a:ext cx="9858375" cy="4029076"/>
          </a:xfrm>
          <a:prstGeom prst="rect">
            <a:avLst/>
          </a:prstGeom>
          <a:ln w="12700">
            <a:miter lim="400000"/>
          </a:ln>
        </p:spPr>
      </p:pic>
    </p:spTree>
  </p:cSld>
  <p:clrMapOvr>
    <a:masterClrMapping/>
  </p:clrMapOvr>
  <p:transition xmlns:p14="http://schemas.microsoft.com/office/powerpoint/2010/main" spd="med" advClick="1"/>
</p:sld>
</file>

<file path=ppt/slides/slide6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38"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641" name="Group"/>
          <p:cNvGrpSpPr/>
          <p:nvPr/>
        </p:nvGrpSpPr>
        <p:grpSpPr>
          <a:xfrm>
            <a:off x="10625137" y="5580062"/>
            <a:ext cx="1566864" cy="1281113"/>
            <a:chOff x="0" y="0"/>
            <a:chExt cx="1566862" cy="1281112"/>
          </a:xfrm>
        </p:grpSpPr>
        <p:pic>
          <p:nvPicPr>
            <p:cNvPr id="639"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640"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642"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643" name="Examples - extract urls by RegEx"/>
          <p:cNvSpPr txBox="1"/>
          <p:nvPr/>
        </p:nvSpPr>
        <p:spPr>
          <a:xfrm>
            <a:off x="190182" y="207962"/>
            <a:ext cx="4915308"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Examples - extract urls by RegEx</a:t>
            </a:r>
          </a:p>
        </p:txBody>
      </p:sp>
      <p:pic>
        <p:nvPicPr>
          <p:cNvPr id="644" name="image.png" descr="image.png"/>
          <p:cNvPicPr>
            <a:picLocks noChangeAspect="1"/>
          </p:cNvPicPr>
          <p:nvPr/>
        </p:nvPicPr>
        <p:blipFill>
          <a:blip r:embed="rId4">
            <a:extLst/>
          </a:blip>
          <a:stretch>
            <a:fillRect/>
          </a:stretch>
        </p:blipFill>
        <p:spPr>
          <a:xfrm>
            <a:off x="57150" y="1681162"/>
            <a:ext cx="12077700" cy="3495676"/>
          </a:xfrm>
          <a:prstGeom prst="rect">
            <a:avLst/>
          </a:prstGeom>
          <a:ln w="12700">
            <a:miter lim="400000"/>
          </a:ln>
        </p:spPr>
      </p:pic>
    </p:spTree>
  </p:cSld>
  <p:clrMapOvr>
    <a:masterClrMapping/>
  </p:clrMapOvr>
  <p:transition xmlns:p14="http://schemas.microsoft.com/office/powerpoint/2010/main" spd="med" advClick="1"/>
</p:sld>
</file>

<file path=ppt/slides/slide6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46" name="Rectangle"/>
          <p:cNvSpPr/>
          <p:nvPr/>
        </p:nvSpPr>
        <p:spPr>
          <a:xfrm>
            <a:off x="0" y="1319212"/>
            <a:ext cx="12192000" cy="4800601"/>
          </a:xfrm>
          <a:prstGeom prst="rect">
            <a:avLst/>
          </a:prstGeom>
          <a:solidFill>
            <a:srgbClr val="005886"/>
          </a:solidFill>
          <a:ln w="12700">
            <a:miter lim="400000"/>
          </a:ln>
        </p:spPr>
        <p:txBody>
          <a:bodyPr lIns="45719" rIns="45719" anchor="ctr"/>
          <a:lstStyle/>
          <a:p>
            <a:pPr algn="ctr">
              <a:defRPr>
                <a:solidFill>
                  <a:srgbClr val="FFFFFF"/>
                </a:solidFill>
              </a:defRPr>
            </a:pPr>
          </a:p>
        </p:txBody>
      </p:sp>
      <p:grpSp>
        <p:nvGrpSpPr>
          <p:cNvPr id="649" name="Group"/>
          <p:cNvGrpSpPr/>
          <p:nvPr/>
        </p:nvGrpSpPr>
        <p:grpSpPr>
          <a:xfrm>
            <a:off x="10625137" y="5580062"/>
            <a:ext cx="1566864" cy="1281113"/>
            <a:chOff x="0" y="0"/>
            <a:chExt cx="1566862" cy="1281112"/>
          </a:xfrm>
        </p:grpSpPr>
        <p:pic>
          <p:nvPicPr>
            <p:cNvPr id="647" name="image.png" descr="image.png"/>
            <p:cNvPicPr>
              <a:picLocks noChangeAspect="1"/>
            </p:cNvPicPr>
            <p:nvPr/>
          </p:nvPicPr>
          <p:blipFill>
            <a:blip r:embed="rId2">
              <a:extLst/>
            </a:blip>
            <a:stretch>
              <a:fillRect/>
            </a:stretch>
          </p:blipFill>
          <p:spPr>
            <a:xfrm>
              <a:off x="-1" y="0"/>
              <a:ext cx="1566864" cy="1281113"/>
            </a:xfrm>
            <a:prstGeom prst="rect">
              <a:avLst/>
            </a:prstGeom>
            <a:ln w="12700" cap="flat">
              <a:noFill/>
              <a:miter lim="400000"/>
            </a:ln>
            <a:effectLst/>
          </p:spPr>
        </p:pic>
        <p:pic>
          <p:nvPicPr>
            <p:cNvPr id="648" name="image.png" descr="image.png"/>
            <p:cNvPicPr>
              <a:picLocks noChangeAspect="1"/>
            </p:cNvPicPr>
            <p:nvPr/>
          </p:nvPicPr>
          <p:blipFill>
            <a:blip r:embed="rId3">
              <a:extLst/>
            </a:blip>
            <a:srcRect l="0" t="0" r="0" b="6207"/>
            <a:stretch>
              <a:fillRect/>
            </a:stretch>
          </p:blipFill>
          <p:spPr>
            <a:xfrm>
              <a:off x="101332" y="44050"/>
              <a:ext cx="1365097" cy="865485"/>
            </a:xfrm>
            <a:prstGeom prst="rect">
              <a:avLst/>
            </a:prstGeom>
            <a:ln w="12700" cap="flat">
              <a:noFill/>
              <a:miter lim="400000"/>
            </a:ln>
            <a:effectLst/>
          </p:spPr>
        </p:pic>
      </p:grpSp>
      <p:sp>
        <p:nvSpPr>
          <p:cNvPr id="650" name="Rectangle"/>
          <p:cNvSpPr/>
          <p:nvPr/>
        </p:nvSpPr>
        <p:spPr>
          <a:xfrm>
            <a:off x="0" y="188912"/>
            <a:ext cx="144463" cy="463551"/>
          </a:xfrm>
          <a:prstGeom prst="rect">
            <a:avLst/>
          </a:prstGeom>
          <a:solidFill>
            <a:srgbClr val="1C4885"/>
          </a:solidFill>
          <a:ln w="12700">
            <a:miter lim="400000"/>
          </a:ln>
        </p:spPr>
        <p:txBody>
          <a:bodyPr lIns="45719" rIns="45719" anchor="ctr"/>
          <a:lstStyle/>
          <a:p>
            <a:pPr algn="ctr">
              <a:defRPr>
                <a:solidFill>
                  <a:srgbClr val="FFFFFF"/>
                </a:solidFill>
              </a:defRPr>
            </a:pPr>
          </a:p>
        </p:txBody>
      </p:sp>
      <p:sp>
        <p:nvSpPr>
          <p:cNvPr id="651" name="Tools for testing your Regular Expression"/>
          <p:cNvSpPr txBox="1"/>
          <p:nvPr/>
        </p:nvSpPr>
        <p:spPr>
          <a:xfrm>
            <a:off x="190182" y="207962"/>
            <a:ext cx="6246427" cy="45974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lvl1pPr>
              <a:defRPr b="1" sz="2400">
                <a:latin typeface="Microsoft YaHei"/>
                <a:ea typeface="Microsoft YaHei"/>
                <a:cs typeface="Microsoft YaHei"/>
                <a:sym typeface="Microsoft YaHei"/>
              </a:defRPr>
            </a:lvl1pPr>
          </a:lstStyle>
          <a:p>
            <a:pPr/>
            <a:r>
              <a:t>Tools for testing your Regular Expression </a:t>
            </a:r>
          </a:p>
        </p:txBody>
      </p:sp>
      <p:sp>
        <p:nvSpPr>
          <p:cNvPr id="652" name="Regular Expression 101: https://regex101.com/"/>
          <p:cNvSpPr txBox="1"/>
          <p:nvPr/>
        </p:nvSpPr>
        <p:spPr>
          <a:xfrm>
            <a:off x="2984500" y="1516062"/>
            <a:ext cx="5183188" cy="259222"/>
          </a:xfrm>
          <a:prstGeom prst="rect">
            <a:avLst/>
          </a:prstGeom>
          <a:solidFill>
            <a:srgbClr val="FFFFFF"/>
          </a:solidFill>
          <a:ln w="12700">
            <a:miter lim="400000"/>
          </a:ln>
          <a:extLst>
            <a:ext uri="{C572A759-6A51-4108-AA02-DFA0A04FC94B}">
              <ma14:wrappingTextBoxFlag xmlns:ma14="http://schemas.microsoft.com/office/mac/drawingml/2011/main" val="1"/>
            </a:ext>
          </a:extLst>
        </p:spPr>
        <p:txBody>
          <a:bodyPr lIns="0" tIns="0" rIns="0" bIns="0">
            <a:spAutoFit/>
          </a:bodyPr>
          <a:lstStyle>
            <a:lvl1pPr defTabSz="1216025">
              <a:spcBef>
                <a:spcPts val="400"/>
              </a:spcBef>
              <a:defRPr b="1" u="sng">
                <a:solidFill>
                  <a:srgbClr val="0563C1"/>
                </a:solidFill>
                <a:uFill>
                  <a:solidFill>
                    <a:srgbClr val="0563C1"/>
                  </a:solidFill>
                </a:uFill>
                <a:latin typeface="Arial"/>
                <a:ea typeface="Arial"/>
                <a:cs typeface="Arial"/>
                <a:sym typeface="Arial"/>
                <a:hlinkClick r:id="rId4" invalidUrl="" action="" tgtFrame="" tooltip="" history="1" highlightClick="0" endSnd="0"/>
              </a:defRPr>
            </a:lvl1pPr>
          </a:lstStyle>
          <a:p>
            <a:pPr>
              <a:defRPr u="none">
                <a:solidFill>
                  <a:srgbClr val="00B050"/>
                </a:solidFill>
                <a:uFillTx/>
              </a:defRPr>
            </a:pPr>
            <a:r>
              <a:rPr u="sng">
                <a:solidFill>
                  <a:srgbClr val="0563C1"/>
                </a:solidFill>
                <a:uFill>
                  <a:solidFill>
                    <a:srgbClr val="0563C1"/>
                  </a:solidFill>
                </a:uFill>
                <a:hlinkClick r:id="rId4" invalidUrl="" action="" tgtFrame="" tooltip="" history="1" highlightClick="0" endSnd="0"/>
              </a:rPr>
              <a:t>Regular Expression 101: https://regex101.com/</a:t>
            </a:r>
          </a:p>
        </p:txBody>
      </p:sp>
      <p:pic>
        <p:nvPicPr>
          <p:cNvPr id="653" name="image.png" descr="image.png"/>
          <p:cNvPicPr>
            <a:picLocks noChangeAspect="1"/>
          </p:cNvPicPr>
          <p:nvPr/>
        </p:nvPicPr>
        <p:blipFill>
          <a:blip r:embed="rId5">
            <a:extLst/>
          </a:blip>
          <a:stretch>
            <a:fillRect/>
          </a:stretch>
        </p:blipFill>
        <p:spPr>
          <a:xfrm>
            <a:off x="5872162" y="3308350"/>
            <a:ext cx="6248401" cy="1211263"/>
          </a:xfrm>
          <a:prstGeom prst="rect">
            <a:avLst/>
          </a:prstGeom>
          <a:ln w="12700">
            <a:miter lim="400000"/>
          </a:ln>
        </p:spPr>
      </p:pic>
      <p:pic>
        <p:nvPicPr>
          <p:cNvPr id="654" name="image.png" descr="image.png"/>
          <p:cNvPicPr>
            <a:picLocks noChangeAspect="1"/>
          </p:cNvPicPr>
          <p:nvPr/>
        </p:nvPicPr>
        <p:blipFill>
          <a:blip r:embed="rId6">
            <a:extLst/>
          </a:blip>
          <a:stretch>
            <a:fillRect/>
          </a:stretch>
        </p:blipFill>
        <p:spPr>
          <a:xfrm>
            <a:off x="1339850" y="1903412"/>
            <a:ext cx="2979738" cy="1327151"/>
          </a:xfrm>
          <a:prstGeom prst="rect">
            <a:avLst/>
          </a:prstGeom>
          <a:ln w="12700">
            <a:miter lim="400000"/>
          </a:ln>
        </p:spPr>
      </p:pic>
      <p:pic>
        <p:nvPicPr>
          <p:cNvPr id="655" name="image.png" descr="image.png"/>
          <p:cNvPicPr>
            <a:picLocks noChangeAspect="1"/>
          </p:cNvPicPr>
          <p:nvPr/>
        </p:nvPicPr>
        <p:blipFill>
          <a:blip r:embed="rId7">
            <a:extLst/>
          </a:blip>
          <a:stretch>
            <a:fillRect/>
          </a:stretch>
        </p:blipFill>
        <p:spPr>
          <a:xfrm>
            <a:off x="4537075" y="1981200"/>
            <a:ext cx="6629400" cy="1171575"/>
          </a:xfrm>
          <a:prstGeom prst="rect">
            <a:avLst/>
          </a:prstGeom>
          <a:ln w="12700">
            <a:miter lim="400000"/>
          </a:ln>
        </p:spPr>
      </p:pic>
      <p:pic>
        <p:nvPicPr>
          <p:cNvPr id="656" name="image.png" descr="image.png"/>
          <p:cNvPicPr>
            <a:picLocks noChangeAspect="1"/>
          </p:cNvPicPr>
          <p:nvPr/>
        </p:nvPicPr>
        <p:blipFill>
          <a:blip r:embed="rId8">
            <a:extLst/>
          </a:blip>
          <a:stretch>
            <a:fillRect/>
          </a:stretch>
        </p:blipFill>
        <p:spPr>
          <a:xfrm>
            <a:off x="0" y="3330575"/>
            <a:ext cx="5826125" cy="1166813"/>
          </a:xfrm>
          <a:prstGeom prst="rect">
            <a:avLst/>
          </a:prstGeom>
          <a:ln w="12700">
            <a:miter lim="400000"/>
          </a:ln>
        </p:spPr>
      </p:pic>
      <p:pic>
        <p:nvPicPr>
          <p:cNvPr id="657" name="image.png" descr="image.png"/>
          <p:cNvPicPr>
            <a:picLocks noChangeAspect="1"/>
          </p:cNvPicPr>
          <p:nvPr/>
        </p:nvPicPr>
        <p:blipFill>
          <a:blip r:embed="rId9">
            <a:extLst/>
          </a:blip>
          <a:stretch>
            <a:fillRect/>
          </a:stretch>
        </p:blipFill>
        <p:spPr>
          <a:xfrm>
            <a:off x="2136775" y="4584700"/>
            <a:ext cx="7918450" cy="1492250"/>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entr" nodeType="afterEffect" presetSubtype="10" presetID="3" grpId="1" fill="hold">
                                  <p:stCondLst>
                                    <p:cond delay="0"/>
                                  </p:stCondLst>
                                  <p:iterate type="el" backwards="0">
                                    <p:tmAbs val="0"/>
                                  </p:iterate>
                                  <p:childTnLst>
                                    <p:set>
                                      <p:cBhvr>
                                        <p:cTn id="6" fill="hold"/>
                                        <p:tgtEl>
                                          <p:spTgt spid="652"/>
                                        </p:tgtEl>
                                        <p:attrNameLst>
                                          <p:attrName>style.visibility</p:attrName>
                                        </p:attrNameLst>
                                      </p:cBhvr>
                                      <p:to>
                                        <p:strVal val="visible"/>
                                      </p:to>
                                    </p:set>
                                    <p:animEffect filter="blinds(horizontal)" transition="in">
                                      <p:cBhvr>
                                        <p:cTn id="7" dur="500"/>
                                        <p:tgtEl>
                                          <p:spTgt spid="65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652" grpId="1"/>
    </p:bldLst>
  </p:timing>
</p:sld>
</file>

<file path=ppt/slides/slide6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659" name="image.png" descr="image.png"/>
          <p:cNvPicPr>
            <a:picLocks noChangeAspect="1"/>
          </p:cNvPicPr>
          <p:nvPr/>
        </p:nvPicPr>
        <p:blipFill>
          <a:blip r:embed="rId2">
            <a:extLst/>
          </a:blip>
          <a:stretch>
            <a:fillRect/>
          </a:stretch>
        </p:blipFill>
        <p:spPr>
          <a:xfrm>
            <a:off x="2632075" y="323850"/>
            <a:ext cx="7481888" cy="3743325"/>
          </a:xfrm>
          <a:prstGeom prst="rect">
            <a:avLst/>
          </a:prstGeom>
          <a:ln w="12700">
            <a:miter lim="400000"/>
          </a:ln>
        </p:spPr>
      </p:pic>
      <p:sp>
        <p:nvSpPr>
          <p:cNvPr id="660" name="Rectangle"/>
          <p:cNvSpPr/>
          <p:nvPr/>
        </p:nvSpPr>
        <p:spPr>
          <a:xfrm>
            <a:off x="0" y="4902200"/>
            <a:ext cx="12192000" cy="1955800"/>
          </a:xfrm>
          <a:prstGeom prst="rect">
            <a:avLst/>
          </a:prstGeom>
          <a:solidFill>
            <a:srgbClr val="1C4885"/>
          </a:solidFill>
          <a:ln w="12700">
            <a:miter lim="400000"/>
          </a:ln>
        </p:spPr>
        <p:txBody>
          <a:bodyPr lIns="45719" rIns="45719" anchor="ctr"/>
          <a:lstStyle/>
          <a:p>
            <a:pPr algn="ctr">
              <a:defRPr>
                <a:solidFill>
                  <a:srgbClr val="FFFFFF"/>
                </a:solidFill>
              </a:defRPr>
            </a:pPr>
          </a:p>
        </p:txBody>
      </p:sp>
      <p:grpSp>
        <p:nvGrpSpPr>
          <p:cNvPr id="663" name="Group"/>
          <p:cNvGrpSpPr/>
          <p:nvPr/>
        </p:nvGrpSpPr>
        <p:grpSpPr>
          <a:xfrm>
            <a:off x="6804024" y="3208337"/>
            <a:ext cx="5578477" cy="3481388"/>
            <a:chOff x="0" y="0"/>
            <a:chExt cx="5578475" cy="3481387"/>
          </a:xfrm>
        </p:grpSpPr>
        <p:pic>
          <p:nvPicPr>
            <p:cNvPr id="661" name="image.png" descr="image.png"/>
            <p:cNvPicPr>
              <a:picLocks noChangeAspect="1"/>
            </p:cNvPicPr>
            <p:nvPr/>
          </p:nvPicPr>
          <p:blipFill>
            <a:blip r:embed="rId3">
              <a:extLst/>
            </a:blip>
            <a:srcRect l="0" t="0" r="0" b="52040"/>
            <a:stretch>
              <a:fillRect/>
            </a:stretch>
          </p:blipFill>
          <p:spPr>
            <a:xfrm>
              <a:off x="6646" y="0"/>
              <a:ext cx="5571830" cy="1720707"/>
            </a:xfrm>
            <a:prstGeom prst="rect">
              <a:avLst/>
            </a:prstGeom>
            <a:ln w="12700" cap="flat">
              <a:noFill/>
              <a:miter lim="400000"/>
            </a:ln>
            <a:effectLst/>
          </p:spPr>
        </p:pic>
        <p:pic>
          <p:nvPicPr>
            <p:cNvPr id="662" name="image.png" descr="image.png"/>
            <p:cNvPicPr>
              <a:picLocks noChangeAspect="1"/>
            </p:cNvPicPr>
            <p:nvPr/>
          </p:nvPicPr>
          <p:blipFill>
            <a:blip r:embed="rId3">
              <a:extLst/>
            </a:blip>
            <a:srcRect l="0" t="50633" r="2627" b="0"/>
            <a:stretch>
              <a:fillRect/>
            </a:stretch>
          </p:blipFill>
          <p:spPr>
            <a:xfrm>
              <a:off x="-1" y="1710252"/>
              <a:ext cx="5425464" cy="1771136"/>
            </a:xfrm>
            <a:prstGeom prst="rect">
              <a:avLst/>
            </a:prstGeom>
            <a:ln w="12700" cap="flat">
              <a:noFill/>
              <a:miter lim="400000"/>
            </a:ln>
            <a:effectLst/>
          </p:spPr>
        </p:pic>
      </p:grpSp>
      <p:sp>
        <p:nvSpPr>
          <p:cNvPr id="664" name="Thank you"/>
          <p:cNvSpPr txBox="1"/>
          <p:nvPr/>
        </p:nvSpPr>
        <p:spPr>
          <a:xfrm>
            <a:off x="3395344" y="2900362"/>
            <a:ext cx="5609274" cy="11836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b="1" sz="7200">
                <a:solidFill>
                  <a:srgbClr val="1C4885"/>
                </a:solidFill>
                <a:latin typeface="Microsoft YaHei"/>
                <a:ea typeface="Microsoft YaHei"/>
                <a:cs typeface="Microsoft YaHei"/>
                <a:sym typeface="Microsoft YaHei"/>
              </a:defRPr>
            </a:lvl1pPr>
          </a:lstStyle>
          <a:p>
            <a:pPr/>
            <a:r>
              <a:t>Thank you</a:t>
            </a:r>
          </a:p>
        </p:txBody>
      </p:sp>
      <p:sp>
        <p:nvSpPr>
          <p:cNvPr id="665" name="Line"/>
          <p:cNvSpPr/>
          <p:nvPr/>
        </p:nvSpPr>
        <p:spPr>
          <a:xfrm>
            <a:off x="3230562" y="4137025"/>
            <a:ext cx="5251451" cy="0"/>
          </a:xfrm>
          <a:prstGeom prst="line">
            <a:avLst/>
          </a:prstGeom>
          <a:ln w="6350">
            <a:solidFill>
              <a:srgbClr val="7F7F7F"/>
            </a:solidFill>
          </a:ln>
        </p:spPr>
        <p:txBody>
          <a:bodyPr lIns="45719" rIns="45719"/>
          <a:lstStyle/>
          <a:p>
            <a:pPr/>
          </a:p>
        </p:txBody>
      </p:sp>
      <p:sp>
        <p:nvSpPr>
          <p:cNvPr id="666" name="1/11/26"/>
          <p:cNvSpPr txBox="1"/>
          <p:nvPr/>
        </p:nvSpPr>
        <p:spPr>
          <a:xfrm>
            <a:off x="883919" y="6414760"/>
            <a:ext cx="2651762" cy="248305"/>
          </a:xfrm>
          <a:prstGeom prst="rect">
            <a:avLst/>
          </a:prstGeom>
          <a:ln w="12700">
            <a:miter lim="400000"/>
          </a:ln>
          <a:extLst>
            <a:ext uri="{C572A759-6A51-4108-AA02-DFA0A04FC94B}">
              <ma14:wrappingTextBoxFlag xmlns:ma14="http://schemas.microsoft.com/office/mac/drawingml/2011/main" val="1"/>
            </a:ext>
          </a:extLst>
        </p:spPr>
        <p:txBody>
          <a:bodyPr lIns="45719" rIns="45719" anchor="ctr">
            <a:spAutoFit/>
          </a:bodyPr>
          <a:lstStyle>
            <a:lvl1pPr>
              <a:defRPr sz="1200">
                <a:solidFill>
                  <a:srgbClr val="898989"/>
                </a:solidFill>
              </a:defRPr>
            </a:lvl1pPr>
          </a:lstStyle>
          <a:p>
            <a:pPr/>
            <a:r>
              <a:t>1/11/26</a:t>
            </a:r>
          </a:p>
        </p:txBody>
      </p:sp>
      <p:sp>
        <p:nvSpPr>
          <p:cNvPr id="667" name="Slide Number"/>
          <p:cNvSpPr txBox="1"/>
          <p:nvPr>
            <p:ph type="sldNum" sz="quarter" idx="2"/>
          </p:nvPr>
        </p:nvSpPr>
        <p:spPr>
          <a:xfrm>
            <a:off x="11095176" y="6414760"/>
            <a:ext cx="258624" cy="248305"/>
          </a:xfrm>
          <a:prstGeom prst="rect">
            <a:avLst/>
          </a:prstGeom>
          <a:extLst>
            <a:ext uri="{C572A759-6A51-4108-AA02-DFA0A04FC94B}">
              <ma14:wrappingTextBoxFlag xmlns:ma14="http://schemas.microsoft.com/office/mac/drawingml/2011/main" val="1"/>
            </a:ext>
          </a:extLst>
        </p:spPr>
        <p:txBody>
          <a:bodyPr/>
          <a:lstStyle/>
          <a:p>
            <a:pPr/>
            <a:fld id="{86CB4B4D-7CA3-9044-876B-883B54F8677D}" type="slidenum"/>
          </a:p>
        </p:txBody>
      </p:sp>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清风素材 https://12sc.taobao.com">
  <a:themeElements>
    <a:clrScheme name="清风素材 https://12sc.taobao.com">
      <a:dk1>
        <a:srgbClr val="000000"/>
      </a:dk1>
      <a:lt1>
        <a:srgbClr val="FFFFFF"/>
      </a:lt1>
      <a:dk2>
        <a:srgbClr val="A7A7A7"/>
      </a:dk2>
      <a:lt2>
        <a:srgbClr val="535353"/>
      </a:lt2>
      <a:accent1>
        <a:srgbClr val="5B9BD5"/>
      </a:accent1>
      <a:accent2>
        <a:srgbClr val="ED7D31"/>
      </a:accent2>
      <a:accent3>
        <a:srgbClr val="9BBB59"/>
      </a:accent3>
      <a:accent4>
        <a:srgbClr val="8064A2"/>
      </a:accent4>
      <a:accent5>
        <a:srgbClr val="4BACC6"/>
      </a:accent5>
      <a:accent6>
        <a:srgbClr val="F79646"/>
      </a:accent6>
      <a:hlink>
        <a:srgbClr val="0000FF"/>
      </a:hlink>
      <a:folHlink>
        <a:srgbClr val="FF00FF"/>
      </a:folHlink>
    </a:clrScheme>
    <a:fontScheme name="清风素材 https://12sc.taobao.com">
      <a:majorFont>
        <a:latin typeface="Helvetica"/>
        <a:ea typeface="Helvetica"/>
        <a:cs typeface="Helvetica"/>
      </a:majorFont>
      <a:minorFont>
        <a:latin typeface="DengXian"/>
        <a:ea typeface="DengXian"/>
        <a:cs typeface="DengXian"/>
      </a:minorFont>
    </a:fontScheme>
    <a:fmtScheme name="清风素材 https://12sc.taobao.co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清风素材 https://12sc.taobao.com">
  <a:themeElements>
    <a:clrScheme name="清风素材 https://12sc.taobao.com">
      <a:dk1>
        <a:srgbClr val="000000"/>
      </a:dk1>
      <a:lt1>
        <a:srgbClr val="FFFFFF"/>
      </a:lt1>
      <a:dk2>
        <a:srgbClr val="A7A7A7"/>
      </a:dk2>
      <a:lt2>
        <a:srgbClr val="535353"/>
      </a:lt2>
      <a:accent1>
        <a:srgbClr val="5B9BD5"/>
      </a:accent1>
      <a:accent2>
        <a:srgbClr val="ED7D31"/>
      </a:accent2>
      <a:accent3>
        <a:srgbClr val="9BBB59"/>
      </a:accent3>
      <a:accent4>
        <a:srgbClr val="8064A2"/>
      </a:accent4>
      <a:accent5>
        <a:srgbClr val="4BACC6"/>
      </a:accent5>
      <a:accent6>
        <a:srgbClr val="F79646"/>
      </a:accent6>
      <a:hlink>
        <a:srgbClr val="0000FF"/>
      </a:hlink>
      <a:folHlink>
        <a:srgbClr val="FF00FF"/>
      </a:folHlink>
    </a:clrScheme>
    <a:fontScheme name="清风素材 https://12sc.taobao.com">
      <a:majorFont>
        <a:latin typeface="Helvetica"/>
        <a:ea typeface="Helvetica"/>
        <a:cs typeface="Helvetica"/>
      </a:majorFont>
      <a:minorFont>
        <a:latin typeface="DengXian"/>
        <a:ea typeface="DengXian"/>
        <a:cs typeface="DengXian"/>
      </a:minorFont>
    </a:fontScheme>
    <a:fmtScheme name="清风素材 https://12sc.taobao.com">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sx="100000" sy="100000" kx="0" ky="0" algn="b" rotWithShape="0" blurRad="38100" dist="20000" dir="540000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chemeClr val="accent1"/>
          </a:solidFill>
          <a:prstDash val="solid"/>
          <a:round/>
        </a:ln>
        <a:effectLst>
          <a:outerShdw sx="100000" sy="100000" kx="0" ky="0" algn="b" rotWithShape="0" blurRad="38100" dist="20000" dir="5400000">
            <a:srgbClr val="000000">
              <a:alpha val="38000"/>
            </a:srgbClr>
          </a:outerShdw>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Calibri"/>
            <a:ea typeface="Calibri"/>
            <a:cs typeface="Calibri"/>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