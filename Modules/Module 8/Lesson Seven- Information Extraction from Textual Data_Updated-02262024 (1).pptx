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EEF"/>
          </a:solidFill>
        </a:fill>
      </a:tcStyle>
    </a:wholeTbl>
    <a:band2H>
      <a:tcTxStyle b="def" i="def"/>
      <a:tcStyle>
        <a:tcBdr/>
        <a:fill>
          <a:solidFill>
            <a:srgbClr val="E9EFF7"/>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n-lt"/>
        <a:ea typeface="+mn-ea"/>
        <a:cs typeface="+mn-cs"/>
        <a:sym typeface="DengXian"/>
      </a:defRPr>
    </a:lvl1pPr>
    <a:lvl2pPr indent="228600" latinLnBrk="0">
      <a:spcBef>
        <a:spcPts val="400"/>
      </a:spcBef>
      <a:defRPr sz="1200">
        <a:latin typeface="+mn-lt"/>
        <a:ea typeface="+mn-ea"/>
        <a:cs typeface="+mn-cs"/>
        <a:sym typeface="DengXian"/>
      </a:defRPr>
    </a:lvl2pPr>
    <a:lvl3pPr indent="457200" latinLnBrk="0">
      <a:spcBef>
        <a:spcPts val="400"/>
      </a:spcBef>
      <a:defRPr sz="1200">
        <a:latin typeface="+mn-lt"/>
        <a:ea typeface="+mn-ea"/>
        <a:cs typeface="+mn-cs"/>
        <a:sym typeface="DengXian"/>
      </a:defRPr>
    </a:lvl3pPr>
    <a:lvl4pPr indent="685800" latinLnBrk="0">
      <a:spcBef>
        <a:spcPts val="400"/>
      </a:spcBef>
      <a:defRPr sz="1200">
        <a:latin typeface="+mn-lt"/>
        <a:ea typeface="+mn-ea"/>
        <a:cs typeface="+mn-cs"/>
        <a:sym typeface="DengXian"/>
      </a:defRPr>
    </a:lvl4pPr>
    <a:lvl5pPr indent="914400" latinLnBrk="0">
      <a:spcBef>
        <a:spcPts val="400"/>
      </a:spcBef>
      <a:defRPr sz="1200">
        <a:latin typeface="+mn-lt"/>
        <a:ea typeface="+mn-ea"/>
        <a:cs typeface="+mn-cs"/>
        <a:sym typeface="DengXian"/>
      </a:defRPr>
    </a:lvl5pPr>
    <a:lvl6pPr indent="1143000" latinLnBrk="0">
      <a:spcBef>
        <a:spcPts val="400"/>
      </a:spcBef>
      <a:defRPr sz="1200">
        <a:latin typeface="+mn-lt"/>
        <a:ea typeface="+mn-ea"/>
        <a:cs typeface="+mn-cs"/>
        <a:sym typeface="DengXian"/>
      </a:defRPr>
    </a:lvl6pPr>
    <a:lvl7pPr indent="1371600" latinLnBrk="0">
      <a:spcBef>
        <a:spcPts val="400"/>
      </a:spcBef>
      <a:defRPr sz="1200">
        <a:latin typeface="+mn-lt"/>
        <a:ea typeface="+mn-ea"/>
        <a:cs typeface="+mn-cs"/>
        <a:sym typeface="DengXian"/>
      </a:defRPr>
    </a:lvl7pPr>
    <a:lvl8pPr indent="1600200" latinLnBrk="0">
      <a:spcBef>
        <a:spcPts val="400"/>
      </a:spcBef>
      <a:defRPr sz="1200">
        <a:latin typeface="+mn-lt"/>
        <a:ea typeface="+mn-ea"/>
        <a:cs typeface="+mn-cs"/>
        <a:sym typeface="DengXian"/>
      </a:defRPr>
    </a:lvl8pPr>
    <a:lvl9pPr indent="1828800" latinLnBrk="0">
      <a:spcBef>
        <a:spcPts val="400"/>
      </a:spcBef>
      <a:defRPr sz="1200">
        <a:latin typeface="+mn-lt"/>
        <a:ea typeface="+mn-ea"/>
        <a:cs typeface="+mn-cs"/>
        <a:sym typeface="DengXian"/>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 Id="rId3" Type="http://schemas.openxmlformats.org/officeDocument/2006/relationships/hyperlink" Target="https://www.analyticsvidhya.com/blog/2019/09/introduction-information-extraction-python-spacy/" TargetMode="External"/><Relationship Id="rId4" Type="http://schemas.openxmlformats.org/officeDocument/2006/relationships/hyperlink" Target="https://www.searchtechnologies.com/blog/natural-language-processing-techniques" TargetMode="External"/><Relationship Id="rId5" Type="http://schemas.openxmlformats.org/officeDocument/2006/relationships/hyperlink" Target="https://zhuanlan.zhihu.com/p/62847358" TargetMode="External"/><Relationship Id="rId6" Type="http://schemas.openxmlformats.org/officeDocument/2006/relationships/hyperlink" Target="https://www.groundai.com/project/lexnlp-natural-language-processing-and-information-extraction-for-legal-and-regulatory-texts/1" TargetMode="External"/><Relationship Id="rId7" Type="http://schemas.openxmlformats.org/officeDocument/2006/relationships/hyperlink" Target="https://www.slideshare.net/rubenizquierdobevia/information-extraction-45392844" TargetMode="External"/><Relationship Id="rId8" Type="http://schemas.openxmlformats.org/officeDocument/2006/relationships/hyperlink" Target="https://web.stanford.edu/class/cs124/lec/Information_Extraction_and_Named_Entity_Recognition.pdf" TargetMode="External"/><Relationship Id="rId9" Type="http://schemas.openxmlformats.org/officeDocument/2006/relationships/hyperlink" Target="https://journalofbigdata.springeropen.com/articles/10.1186/s40537-019-0254-8" TargetMode="External"/></Relationships>

</file>

<file path=ppt/notesSlides/_rels/notesSlide2.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 Id="rId3" Type="http://schemas.openxmlformats.org/officeDocument/2006/relationships/hyperlink" Target="https://api.semanticscholar.org/v1/paper/10.1145/1008992.1009043" TargetMode="External"/></Relationships>

</file>

<file path=ppt/notesSlides/_rels/notesSlide3.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7" name="Shape 77"/>
          <p:cNvSpPr/>
          <p:nvPr>
            <p:ph type="sldImg"/>
          </p:nvPr>
        </p:nvSpPr>
        <p:spPr>
          <a:prstGeom prst="rect">
            <a:avLst/>
          </a:prstGeom>
        </p:spPr>
        <p:txBody>
          <a:bodyPr/>
          <a:lstStyle/>
          <a:p>
            <a:pPr/>
          </a:p>
        </p:txBody>
      </p:sp>
      <p:sp>
        <p:nvSpPr>
          <p:cNvPr id="78" name="Shape 78"/>
          <p:cNvSpPr/>
          <p:nvPr>
            <p:ph type="body" sz="quarter" idx="1"/>
          </p:nvPr>
        </p:nvSpPr>
        <p:spPr>
          <a:prstGeom prst="rect">
            <a:avLst/>
          </a:prstGeom>
        </p:spPr>
        <p:txBody>
          <a:bodyPr/>
          <a:lstStyle/>
          <a:p>
            <a:pPr/>
            <a:r>
              <a:rPr u="sng">
                <a:solidFill>
                  <a:srgbClr val="0563C1"/>
                </a:solidFill>
                <a:uFill>
                  <a:solidFill>
                    <a:srgbClr val="0563C1"/>
                  </a:solidFill>
                </a:uFill>
                <a:hlinkClick r:id="rId3" invalidUrl="" action="" tgtFrame="" tooltip="" history="1" highlightClick="0" endSnd="0"/>
              </a:rPr>
              <a:t>https://www.analyticsvidhya.com/blog/2019/09/introduction-information-extraction-python-spacy/</a:t>
            </a:r>
          </a:p>
          <a:p>
            <a:pPr/>
            <a:r>
              <a:rPr u="sng">
                <a:solidFill>
                  <a:srgbClr val="0563C1"/>
                </a:solidFill>
                <a:uFill>
                  <a:solidFill>
                    <a:srgbClr val="0563C1"/>
                  </a:solidFill>
                </a:uFill>
                <a:hlinkClick r:id="rId4" invalidUrl="" action="" tgtFrame="" tooltip="" history="1" highlightClick="0" endSnd="0"/>
              </a:rPr>
              <a:t>https://www.searchtechnologies.com/blog/natural-language-processing-techniques</a:t>
            </a:r>
          </a:p>
          <a:p>
            <a:pPr/>
            <a:r>
              <a:rPr u="sng">
                <a:solidFill>
                  <a:srgbClr val="0563C1"/>
                </a:solidFill>
                <a:uFill>
                  <a:solidFill>
                    <a:srgbClr val="0563C1"/>
                  </a:solidFill>
                </a:uFill>
                <a:hlinkClick r:id="rId5" invalidUrl="" action="" tgtFrame="" tooltip="" history="1" highlightClick="0" endSnd="0"/>
              </a:rPr>
              <a:t>https://zhuanlan.zhihu.com/p/62847358</a:t>
            </a:r>
          </a:p>
          <a:p>
            <a:pPr/>
            <a:r>
              <a:rPr u="sng">
                <a:solidFill>
                  <a:srgbClr val="0563C1"/>
                </a:solidFill>
                <a:uFill>
                  <a:solidFill>
                    <a:srgbClr val="0563C1"/>
                  </a:solidFill>
                </a:uFill>
                <a:hlinkClick r:id="rId6" invalidUrl="" action="" tgtFrame="" tooltip="" history="1" highlightClick="0" endSnd="0"/>
              </a:rPr>
              <a:t>https://www.groundai.com/project/lexnlp-natural-language-processing-and-information-extraction-for-legal-and-regulatory-texts/1</a:t>
            </a:r>
          </a:p>
          <a:p>
            <a:pPr/>
            <a:r>
              <a:rPr u="sng">
                <a:solidFill>
                  <a:srgbClr val="0563C1"/>
                </a:solidFill>
                <a:uFill>
                  <a:solidFill>
                    <a:srgbClr val="0563C1"/>
                  </a:solidFill>
                </a:uFill>
                <a:hlinkClick r:id="rId7" invalidUrl="" action="" tgtFrame="" tooltip="" history="1" highlightClick="0" endSnd="0"/>
              </a:rPr>
              <a:t>https://www.slideshare.net/rubenizquierdobevia/information-extraction-45392844</a:t>
            </a:r>
          </a:p>
          <a:p>
            <a:pPr/>
            <a:r>
              <a:rPr u="sng">
                <a:solidFill>
                  <a:srgbClr val="0563C1"/>
                </a:solidFill>
                <a:uFill>
                  <a:solidFill>
                    <a:srgbClr val="0563C1"/>
                  </a:solidFill>
                </a:uFill>
                <a:hlinkClick r:id="rId8" invalidUrl="" action="" tgtFrame="" tooltip="" history="1" highlightClick="0" endSnd="0"/>
              </a:rPr>
              <a:t>https://web.stanford.edu/class/cs124/lec/Information_Extraction_and_Named_Entity_Recognition.pdf</a:t>
            </a:r>
          </a:p>
          <a:p>
            <a:pPr/>
            <a:r>
              <a:rPr u="sng">
                <a:solidFill>
                  <a:srgbClr val="0563C1"/>
                </a:solidFill>
                <a:uFill>
                  <a:solidFill>
                    <a:srgbClr val="0563C1"/>
                  </a:solidFill>
                </a:uFill>
                <a:hlinkClick r:id="rId9" invalidUrl="" action="" tgtFrame="" tooltip="" history="1" highlightClick="0" endSnd="0"/>
              </a:rPr>
              <a:t>https://journalofbigdata.springeropen.com/articles/10.1186/s40537-019-0254-8</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 name="Shape 123"/>
          <p:cNvSpPr/>
          <p:nvPr>
            <p:ph type="sldImg"/>
          </p:nvPr>
        </p:nvSpPr>
        <p:spPr>
          <a:prstGeom prst="rect">
            <a:avLst/>
          </a:prstGeom>
        </p:spPr>
        <p:txBody>
          <a:bodyPr/>
          <a:lstStyle/>
          <a:p>
            <a:pPr/>
          </a:p>
        </p:txBody>
      </p:sp>
      <p:sp>
        <p:nvSpPr>
          <p:cNvPr id="124" name="Shape 124"/>
          <p:cNvSpPr/>
          <p:nvPr>
            <p:ph type="body" sz="quarter" idx="1"/>
          </p:nvPr>
        </p:nvSpPr>
        <p:spPr>
          <a:prstGeom prst="rect">
            <a:avLst/>
          </a:prstGeom>
        </p:spPr>
        <p:txBody>
          <a:bodyPr/>
          <a:lstStyle/>
          <a:p>
            <a:pPr/>
            <a:r>
              <a:rPr u="sng">
                <a:solidFill>
                  <a:srgbClr val="0563C1"/>
                </a:solidFill>
                <a:uFill>
                  <a:solidFill>
                    <a:srgbClr val="0563C1"/>
                  </a:solidFill>
                </a:uFill>
                <a:hlinkClick r:id="rId3" invalidUrl="" action="" tgtFrame="" tooltip="" history="1" highlightClick="0" endSnd="0"/>
              </a:rPr>
              <a:t>https://api.semanticscholar.org/v1/paper/10.1145/1008992.1009043</a:t>
            </a:r>
          </a:p>
          <a:p>
            <a:pPr>
              <a:spcBef>
                <a:spcPts val="200"/>
              </a:spcBef>
              <a:buSzPct val="100000"/>
              <a:buChar char="➢"/>
              <a:defRPr b="1">
                <a:solidFill>
                  <a:srgbClr val="00B050"/>
                </a:solidFill>
                <a:latin typeface="Arial"/>
                <a:ea typeface="Arial"/>
                <a:cs typeface="Arial"/>
                <a:sym typeface="Arial"/>
              </a:defRPr>
            </a:pPr>
            <a:r>
              <a:t>Structured data </a:t>
            </a:r>
            <a:r>
              <a:rPr>
                <a:solidFill>
                  <a:srgbClr val="FFFFFF"/>
                </a:solidFill>
              </a:rPr>
              <a:t>is data whose elements are addressable for effective analysis. It has been organized into a formatted repository that is typically a </a:t>
            </a:r>
            <a:r>
              <a:rPr u="sng">
                <a:solidFill>
                  <a:srgbClr val="FFFFFF"/>
                </a:solidFill>
              </a:rPr>
              <a:t>database</a:t>
            </a:r>
            <a:r>
              <a:rPr>
                <a:solidFill>
                  <a:srgbClr val="FFFFFF"/>
                </a:solidFill>
              </a:rPr>
              <a:t>. It concerns all data which can be stored in database SQL in a </a:t>
            </a:r>
            <a:r>
              <a:rPr u="sng">
                <a:solidFill>
                  <a:srgbClr val="FFFFFF"/>
                </a:solidFill>
              </a:rPr>
              <a:t>table</a:t>
            </a:r>
            <a:r>
              <a:rPr>
                <a:solidFill>
                  <a:srgbClr val="FFFFFF"/>
                </a:solidFill>
              </a:rPr>
              <a:t> with rows and columns. They have </a:t>
            </a:r>
            <a:r>
              <a:rPr u="sng">
                <a:solidFill>
                  <a:srgbClr val="FFFFFF"/>
                </a:solidFill>
              </a:rPr>
              <a:t>relational keys </a:t>
            </a:r>
            <a:r>
              <a:rPr>
                <a:solidFill>
                  <a:srgbClr val="FFFFFF"/>
                </a:solidFill>
              </a:rPr>
              <a:t>and can easily be mapped into </a:t>
            </a:r>
            <a:r>
              <a:rPr u="sng">
                <a:solidFill>
                  <a:srgbClr val="FFFFFF"/>
                </a:solidFill>
              </a:rPr>
              <a:t>pre-designed fields</a:t>
            </a:r>
            <a:r>
              <a:rPr>
                <a:solidFill>
                  <a:srgbClr val="FFFFFF"/>
                </a:solidFill>
              </a:rPr>
              <a:t>. </a:t>
            </a:r>
            <a:endParaRPr>
              <a:solidFill>
                <a:srgbClr val="FFFFFF"/>
              </a:solidFill>
            </a:endParaRPr>
          </a:p>
          <a:p>
            <a:pPr>
              <a:spcBef>
                <a:spcPts val="200"/>
              </a:spcBef>
              <a:buSzPct val="100000"/>
              <a:buChar char="➢"/>
              <a:defRPr b="1">
                <a:solidFill>
                  <a:srgbClr val="FFFFFF"/>
                </a:solidFill>
                <a:latin typeface="Arial"/>
                <a:ea typeface="Arial"/>
                <a:cs typeface="Arial"/>
                <a:sym typeface="Arial"/>
              </a:defRPr>
            </a:pPr>
          </a:p>
          <a:p>
            <a:pPr>
              <a:spcBef>
                <a:spcPts val="200"/>
              </a:spcBef>
              <a:buSzPct val="100000"/>
              <a:buChar char="➢"/>
              <a:defRPr b="1">
                <a:solidFill>
                  <a:srgbClr val="00B050"/>
                </a:solidFill>
                <a:latin typeface="Arial"/>
                <a:ea typeface="Arial"/>
                <a:cs typeface="Arial"/>
                <a:sym typeface="Arial"/>
              </a:defRPr>
            </a:pPr>
            <a:r>
              <a:t>Semi-structured data </a:t>
            </a:r>
            <a:r>
              <a:rPr>
                <a:solidFill>
                  <a:srgbClr val="FFFFFF"/>
                </a:solidFill>
              </a:rPr>
              <a:t>is information that does not reside in a relational database but that </a:t>
            </a:r>
            <a:r>
              <a:rPr u="sng">
                <a:solidFill>
                  <a:srgbClr val="FFFFFF"/>
                </a:solidFill>
              </a:rPr>
              <a:t>have some organizational properties</a:t>
            </a:r>
            <a:r>
              <a:rPr>
                <a:solidFill>
                  <a:srgbClr val="FFFFFF"/>
                </a:solidFill>
              </a:rPr>
              <a:t> that make it easier to analyze. With some process, you can store them in the relation database (it could be very hard for some kind of semi-structured data), but Semi-structured exists to ease space. (</a:t>
            </a:r>
            <a:r>
              <a:rPr u="sng">
                <a:solidFill>
                  <a:srgbClr val="FFFFFF"/>
                </a:solidFill>
              </a:rPr>
              <a:t>XML</a:t>
            </a:r>
            <a:r>
              <a:rPr>
                <a:solidFill>
                  <a:srgbClr val="FFFFFF"/>
                </a:solidFill>
              </a:rPr>
              <a:t>, </a:t>
            </a:r>
            <a:r>
              <a:rPr u="sng">
                <a:solidFill>
                  <a:srgbClr val="FFFFFF"/>
                </a:solidFill>
              </a:rPr>
              <a:t>Json</a:t>
            </a:r>
            <a:r>
              <a:rPr>
                <a:solidFill>
                  <a:srgbClr val="FFFFFF"/>
                </a:solidFill>
              </a:rPr>
              <a:t>)</a:t>
            </a:r>
            <a:endParaRPr>
              <a:solidFill>
                <a:srgbClr val="FFFFFF"/>
              </a:solidFill>
            </a:endParaRPr>
          </a:p>
          <a:p>
            <a:pPr>
              <a:spcBef>
                <a:spcPts val="200"/>
              </a:spcBef>
              <a:buSzPct val="100000"/>
              <a:buChar char="➢"/>
              <a:defRPr b="1">
                <a:solidFill>
                  <a:srgbClr val="FFFFFF"/>
                </a:solidFill>
                <a:latin typeface="Arial"/>
                <a:ea typeface="Arial"/>
                <a:cs typeface="Arial"/>
                <a:sym typeface="Arial"/>
              </a:defRPr>
            </a:pPr>
          </a:p>
          <a:p>
            <a:pPr>
              <a:spcBef>
                <a:spcPts val="200"/>
              </a:spcBef>
              <a:buSzPct val="100000"/>
              <a:buChar char="➢"/>
              <a:defRPr b="1">
                <a:solidFill>
                  <a:srgbClr val="00B050"/>
                </a:solidFill>
                <a:latin typeface="Arial"/>
                <a:ea typeface="Arial"/>
                <a:cs typeface="Arial"/>
                <a:sym typeface="Arial"/>
              </a:defRPr>
            </a:pPr>
            <a:r>
              <a:t>Unstructured data </a:t>
            </a:r>
            <a:r>
              <a:rPr>
                <a:solidFill>
                  <a:srgbClr val="FFFFFF"/>
                </a:solidFill>
              </a:rPr>
              <a:t>is data that is not organized in a pre-defined manner or does not have a pre-defined data model, thus it is not a good fit for a mainstream relational database. So for Unstructured data, there are alternative platforms for storing and managing, it is increasingly prevalent in IT systems and is used by organizations in a variety of business intelligence and analytics applications. (Word, PDF, Text, Social Media)</a:t>
            </a:r>
            <a:endParaRPr>
              <a:solidFill>
                <a:srgbClr val="FFFFFF"/>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Shape 203"/>
          <p:cNvSpPr/>
          <p:nvPr>
            <p:ph type="sldImg"/>
          </p:nvPr>
        </p:nvSpPr>
        <p:spPr>
          <a:prstGeom prst="rect">
            <a:avLst/>
          </a:prstGeom>
        </p:spPr>
        <p:txBody>
          <a:bodyPr/>
          <a:lstStyle/>
          <a:p>
            <a:pPr/>
          </a:p>
        </p:txBody>
      </p:sp>
      <p:sp>
        <p:nvSpPr>
          <p:cNvPr id="204" name="Shape 204"/>
          <p:cNvSpPr/>
          <p:nvPr>
            <p:ph type="body" sz="quarter" idx="1"/>
          </p:nvPr>
        </p:nvSpPr>
        <p:spPr>
          <a:prstGeom prst="rect">
            <a:avLst/>
          </a:prstGeom>
        </p:spPr>
        <p:txBody>
          <a:bodyPr/>
          <a:lstStyle/>
          <a:p>
            <a:pPr/>
            <a:r>
              <a:t>Numerous studies have been conducted on IE, addressing the challenges and issues for different data types such as text, image, audio and video.</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2" name="Shape 292"/>
          <p:cNvSpPr/>
          <p:nvPr>
            <p:ph type="sldImg"/>
          </p:nvPr>
        </p:nvSpPr>
        <p:spPr>
          <a:prstGeom prst="rect">
            <a:avLst/>
          </a:prstGeom>
        </p:spPr>
        <p:txBody>
          <a:bodyPr/>
          <a:lstStyle/>
          <a:p>
            <a:pPr/>
          </a:p>
        </p:txBody>
      </p:sp>
      <p:sp>
        <p:nvSpPr>
          <p:cNvPr id="293" name="Shape 293"/>
          <p:cNvSpPr/>
          <p:nvPr>
            <p:ph type="body" sz="quarter" idx="1"/>
          </p:nvPr>
        </p:nvSpPr>
        <p:spPr>
          <a:prstGeom prst="rect">
            <a:avLst/>
          </a:prstGeom>
        </p:spPr>
        <p:txBody>
          <a:bodyPr/>
          <a:lstStyle/>
          <a:p>
            <a:pPr/>
            <a:r>
              <a:t>https://github.com/philipperemy/information-extraction-with-dominating-rules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0" name="Shape 300"/>
          <p:cNvSpPr/>
          <p:nvPr>
            <p:ph type="sldImg"/>
          </p:nvPr>
        </p:nvSpPr>
        <p:spPr>
          <a:prstGeom prst="rect">
            <a:avLst/>
          </a:prstGeom>
        </p:spPr>
        <p:txBody>
          <a:bodyPr/>
          <a:lstStyle/>
          <a:p>
            <a:pPr/>
          </a:p>
        </p:txBody>
      </p:sp>
      <p:sp>
        <p:nvSpPr>
          <p:cNvPr id="301" name="Shape 301"/>
          <p:cNvSpPr/>
          <p:nvPr>
            <p:ph type="body" sz="quarter" idx="1"/>
          </p:nvPr>
        </p:nvSpPr>
        <p:spPr>
          <a:prstGeom prst="rect">
            <a:avLst/>
          </a:prstGeom>
        </p:spPr>
        <p:txBody>
          <a:bodyPr/>
          <a:lstStyle/>
          <a:p>
            <a:pPr/>
            <a:r>
              <a:t>Téllez-Valero, A., Montes-y-Gómez, M., &amp; Villaseñor-Pineda, L. (2005, February). A machine learning approach to information extraction. In International Conference on Intelligent Text Processing and Computational Linguistics (pp. 539-547). Springer, Berlin, Heidelberg.</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8" name="Shape 308"/>
          <p:cNvSpPr/>
          <p:nvPr>
            <p:ph type="sldImg"/>
          </p:nvPr>
        </p:nvSpPr>
        <p:spPr>
          <a:prstGeom prst="rect">
            <a:avLst/>
          </a:prstGeom>
        </p:spPr>
        <p:txBody>
          <a:bodyPr/>
          <a:lstStyle/>
          <a:p>
            <a:pPr/>
          </a:p>
        </p:txBody>
      </p:sp>
      <p:sp>
        <p:nvSpPr>
          <p:cNvPr id="309" name="Shape 309"/>
          <p:cNvSpPr/>
          <p:nvPr>
            <p:ph type="body" sz="quarter" idx="1"/>
          </p:nvPr>
        </p:nvSpPr>
        <p:spPr>
          <a:prstGeom prst="rect">
            <a:avLst/>
          </a:prstGeom>
        </p:spPr>
        <p:txBody>
          <a:bodyPr/>
          <a:lstStyle/>
          <a:p>
            <a:pPr/>
            <a:r>
              <a:t>Téllez-Valero, A., Montes-y-Gómez, M., &amp; Villaseñor-Pineda, L. (2005, February). A machine learning approach to information extraction. In International Conference on Intelligent Text Processing and Computational Linguistics (pp. 539-547). Springer, Berlin, Heidelberg.</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8" name="Shape 318"/>
          <p:cNvSpPr/>
          <p:nvPr>
            <p:ph type="sldImg"/>
          </p:nvPr>
        </p:nvSpPr>
        <p:spPr>
          <a:prstGeom prst="rect">
            <a:avLst/>
          </a:prstGeom>
        </p:spPr>
        <p:txBody>
          <a:bodyPr/>
          <a:lstStyle/>
          <a:p>
            <a:pPr/>
          </a:p>
        </p:txBody>
      </p:sp>
      <p:sp>
        <p:nvSpPr>
          <p:cNvPr id="319" name="Shape 319"/>
          <p:cNvSpPr/>
          <p:nvPr>
            <p:ph type="body" sz="quarter" idx="1"/>
          </p:nvPr>
        </p:nvSpPr>
        <p:spPr>
          <a:prstGeom prst="rect">
            <a:avLst/>
          </a:prstGeom>
        </p:spPr>
        <p:txBody>
          <a:bodyPr/>
          <a:lstStyle/>
          <a:p>
            <a:pPr/>
            <a:r>
              <a:t>Tao, C., Filannino, M., &amp; Uzuner, Ö. (2018). Fable: A semi-supervised prescription information extraction system. In </a:t>
            </a:r>
            <a:r>
              <a:rPr i="1"/>
              <a:t>AMIA Annual Symposium proceedings</a:t>
            </a:r>
            <a:r>
              <a:t> (Vol. 2018, p. 1534). American Medical Informatics Association.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4" name="Shape 354"/>
          <p:cNvSpPr/>
          <p:nvPr>
            <p:ph type="sldImg"/>
          </p:nvPr>
        </p:nvSpPr>
        <p:spPr>
          <a:prstGeom prst="rect">
            <a:avLst/>
          </a:prstGeom>
        </p:spPr>
        <p:txBody>
          <a:bodyPr/>
          <a:lstStyle/>
          <a:p>
            <a:pPr/>
          </a:p>
        </p:txBody>
      </p:sp>
      <p:sp>
        <p:nvSpPr>
          <p:cNvPr id="355" name="Shape 355"/>
          <p:cNvSpPr/>
          <p:nvPr>
            <p:ph type="body" sz="quarter" idx="1"/>
          </p:nvPr>
        </p:nvSpPr>
        <p:spPr>
          <a:prstGeom prst="rect">
            <a:avLst/>
          </a:prstGeom>
        </p:spPr>
        <p:txBody>
          <a:bodyPr/>
          <a:lstStyle/>
          <a:p>
            <a:pPr>
              <a:spcBef>
                <a:spcPts val="200"/>
              </a:spcBef>
              <a:defRPr>
                <a:solidFill>
                  <a:srgbClr val="00B050"/>
                </a:solidFill>
                <a:latin typeface="Arial"/>
                <a:ea typeface="Arial"/>
                <a:cs typeface="Arial"/>
                <a:sym typeface="Arial"/>
              </a:defRPr>
            </a:pPr>
            <a:r>
              <a:t>“</a:t>
            </a:r>
            <a:r>
              <a:rPr>
                <a:solidFill>
                  <a:srgbClr val="FFFFFF"/>
                </a:solidFill>
              </a:rPr>
              <a:t>A bidirectional RNN consists of a so called forward layer and a backward layer. The input sequence is fed to the forward layer in the regular way, while in the backward layer the input is processed in the reverse order, starting from the last word, then proceed to the next to last word and so on up to the first word.</a:t>
            </a:r>
            <a:endParaRPr>
              <a:solidFill>
                <a:srgbClr val="FFFFFF"/>
              </a:solidFill>
            </a:endParaRPr>
          </a:p>
          <a:p>
            <a:pPr>
              <a:spcBef>
                <a:spcPts val="200"/>
              </a:spcBef>
              <a:defRPr>
                <a:solidFill>
                  <a:srgbClr val="FFFFFF"/>
                </a:solidFill>
                <a:latin typeface="Arial"/>
                <a:ea typeface="Arial"/>
                <a:cs typeface="Arial"/>
                <a:sym typeface="Arial"/>
              </a:defRPr>
            </a:pPr>
          </a:p>
          <a:p>
            <a:pPr>
              <a:spcBef>
                <a:spcPts val="200"/>
              </a:spcBef>
              <a:defRPr>
                <a:solidFill>
                  <a:srgbClr val="FFFFFF"/>
                </a:solidFill>
                <a:latin typeface="Arial"/>
                <a:ea typeface="Arial"/>
                <a:cs typeface="Arial"/>
                <a:sym typeface="Arial"/>
              </a:defRPr>
            </a:pPr>
            <a:r>
              <a:t>The hidden states are then concatenated for each token generating an intermediate representation sequence. Hence, for each intermediate representation the information from the sequence before and after the respective token are taken into account. That means for each iteration step the network has access to the complete document and can deduce the right label from that information.</a:t>
            </a:r>
            <a:r>
              <a:rPr>
                <a:solidFill>
                  <a:srgbClr val="00B050"/>
                </a:solidFill>
              </a:rPr>
              <a:t>”</a:t>
            </a:r>
            <a:endParaRPr sz="1000">
              <a:solidFill>
                <a:srgbClr val="00B050"/>
              </a:solidFill>
            </a:endParaRP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E7E6E6"/>
        </a:solidFill>
      </p:bgPr>
    </p:bg>
    <p:spTree>
      <p:nvGrpSpPr>
        <p:cNvPr id="1" name=""/>
        <p:cNvGrpSpPr/>
        <p:nvPr/>
      </p:nvGrpSpPr>
      <p:grpSpPr>
        <a:xfrm>
          <a:off x="0" y="0"/>
          <a:ext cx="0" cy="0"/>
          <a:chOff x="0" y="0"/>
          <a:chExt cx="0" cy="0"/>
        </a:xfrm>
      </p:grpSpPr>
      <p:sp>
        <p:nvSpPr>
          <p:cNvPr id="2" name="Slide Number"/>
          <p:cNvSpPr txBox="1"/>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a:defRPr sz="1200">
                <a:solidFill>
                  <a:srgbClr val="898989"/>
                </a:solidFill>
              </a:defRPr>
            </a:lvl1pPr>
          </a:lstStyle>
          <a:p>
            <a:pPr/>
            <a:fld id="{86CB4B4D-7CA3-9044-876B-883B54F8677D}" type="slidenum"/>
          </a:p>
        </p:txBody>
      </p:sp>
      <p:sp>
        <p:nvSpPr>
          <p:cNvPr id="3" name="Title Text"/>
          <p:cNvSpPr txBox="1"/>
          <p:nvPr>
            <p:ph type="title"/>
          </p:nvPr>
        </p:nvSpPr>
        <p:spPr>
          <a:xfrm>
            <a:off x="609600" y="92074"/>
            <a:ext cx="1097280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4"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45720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91440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137160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182880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hyperlink" Target="https://now.ontotext.com/#document?uri=http%3A%2F%2Fwww.motorsport.com%2Fmotogp%2Fnews%2Fvalencia-motogp-marquez-leads-final-warm-up-of-2016-849619%2F" TargetMode="External"/><Relationship Id="rId5" Type="http://schemas.openxmlformats.org/officeDocument/2006/relationships/hyperlink" Target="https://www.youtube.com/watch?v=e6SSgHMYzuk" TargetMode="Externa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7.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2.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0.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13.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7.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7.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8.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hyperlink" Target="https://www.textrazor.com/" TargetMode="External"/></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9.png"/><Relationship Id="rId4" Type="http://schemas.openxmlformats.org/officeDocument/2006/relationships/image" Target="../media/image20.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 name="image.png" descr="image.png"/>
          <p:cNvPicPr>
            <a:picLocks noChangeAspect="1"/>
          </p:cNvPicPr>
          <p:nvPr/>
        </p:nvPicPr>
        <p:blipFill>
          <a:blip r:embed="rId2">
            <a:extLst/>
          </a:blip>
          <a:stretch>
            <a:fillRect/>
          </a:stretch>
        </p:blipFill>
        <p:spPr>
          <a:xfrm>
            <a:off x="2095500" y="504825"/>
            <a:ext cx="7480300" cy="3743325"/>
          </a:xfrm>
          <a:prstGeom prst="rect">
            <a:avLst/>
          </a:prstGeom>
          <a:ln w="12700">
            <a:miter lim="400000"/>
          </a:ln>
        </p:spPr>
      </p:pic>
      <p:sp>
        <p:nvSpPr>
          <p:cNvPr id="21" name="Rectangle"/>
          <p:cNvSpPr/>
          <p:nvPr/>
        </p:nvSpPr>
        <p:spPr>
          <a:xfrm>
            <a:off x="0" y="4902200"/>
            <a:ext cx="12192000" cy="1955800"/>
          </a:xfrm>
          <a:prstGeom prst="rect">
            <a:avLst/>
          </a:prstGeom>
          <a:solidFill>
            <a:srgbClr val="1C4885"/>
          </a:solidFill>
          <a:ln w="12700">
            <a:miter lim="400000"/>
          </a:ln>
        </p:spPr>
        <p:txBody>
          <a:bodyPr lIns="45719" rIns="45719" anchor="ctr"/>
          <a:lstStyle/>
          <a:p>
            <a:pPr algn="ctr">
              <a:defRPr>
                <a:solidFill>
                  <a:srgbClr val="FFFFFF"/>
                </a:solidFill>
              </a:defRPr>
            </a:pPr>
          </a:p>
        </p:txBody>
      </p:sp>
      <p:grpSp>
        <p:nvGrpSpPr>
          <p:cNvPr id="24" name="Group"/>
          <p:cNvGrpSpPr/>
          <p:nvPr/>
        </p:nvGrpSpPr>
        <p:grpSpPr>
          <a:xfrm>
            <a:off x="5605462" y="2808287"/>
            <a:ext cx="6777038" cy="4229101"/>
            <a:chOff x="0" y="0"/>
            <a:chExt cx="6777037" cy="4229100"/>
          </a:xfrm>
        </p:grpSpPr>
        <p:pic>
          <p:nvPicPr>
            <p:cNvPr id="22" name="image.png" descr="image.png"/>
            <p:cNvPicPr>
              <a:picLocks noChangeAspect="1"/>
            </p:cNvPicPr>
            <p:nvPr/>
          </p:nvPicPr>
          <p:blipFill>
            <a:blip r:embed="rId3">
              <a:extLst/>
            </a:blip>
            <a:srcRect l="0" t="0" r="0" b="52040"/>
            <a:stretch>
              <a:fillRect/>
            </a:stretch>
          </p:blipFill>
          <p:spPr>
            <a:xfrm>
              <a:off x="8074" y="-1"/>
              <a:ext cx="6768964" cy="2090272"/>
            </a:xfrm>
            <a:prstGeom prst="rect">
              <a:avLst/>
            </a:prstGeom>
            <a:ln w="12700" cap="flat">
              <a:noFill/>
              <a:miter lim="400000"/>
            </a:ln>
            <a:effectLst/>
          </p:spPr>
        </p:pic>
        <p:pic>
          <p:nvPicPr>
            <p:cNvPr id="23" name="image.png" descr="image.png"/>
            <p:cNvPicPr>
              <a:picLocks noChangeAspect="1"/>
            </p:cNvPicPr>
            <p:nvPr/>
          </p:nvPicPr>
          <p:blipFill>
            <a:blip r:embed="rId3">
              <a:extLst/>
            </a:blip>
            <a:srcRect l="0" t="50633" r="2627" b="0"/>
            <a:stretch>
              <a:fillRect/>
            </a:stretch>
          </p:blipFill>
          <p:spPr>
            <a:xfrm>
              <a:off x="0" y="2077570"/>
              <a:ext cx="6591149" cy="2151530"/>
            </a:xfrm>
            <a:prstGeom prst="rect">
              <a:avLst/>
            </a:prstGeom>
            <a:ln w="12700" cap="flat">
              <a:noFill/>
              <a:miter lim="400000"/>
            </a:ln>
            <a:effectLst/>
          </p:spPr>
        </p:pic>
      </p:grpSp>
      <p:grpSp>
        <p:nvGrpSpPr>
          <p:cNvPr id="27" name="Group"/>
          <p:cNvGrpSpPr/>
          <p:nvPr/>
        </p:nvGrpSpPr>
        <p:grpSpPr>
          <a:xfrm>
            <a:off x="573087" y="6332537"/>
            <a:ext cx="2412352" cy="317675"/>
            <a:chOff x="0" y="0"/>
            <a:chExt cx="2412350" cy="317673"/>
          </a:xfrm>
        </p:grpSpPr>
        <p:sp>
          <p:nvSpPr>
            <p:cNvPr id="25" name="Haihua.chen@unt.edu"/>
            <p:cNvSpPr txBox="1"/>
            <p:nvPr/>
          </p:nvSpPr>
          <p:spPr>
            <a:xfrm>
              <a:off x="447660" y="0"/>
              <a:ext cx="1964691" cy="30059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600">
                  <a:solidFill>
                    <a:srgbClr val="FFFFFF"/>
                  </a:solidFill>
                </a:defRPr>
              </a:lvl1pPr>
            </a:lstStyle>
            <a:p>
              <a:pPr/>
              <a:r>
                <a:t>Haihua.chen@unt.edu</a:t>
              </a:r>
            </a:p>
          </p:txBody>
        </p:sp>
        <p:pic>
          <p:nvPicPr>
            <p:cNvPr id="26" name="image.png" descr="image.png"/>
            <p:cNvPicPr>
              <a:picLocks noChangeAspect="1"/>
            </p:cNvPicPr>
            <p:nvPr/>
          </p:nvPicPr>
          <p:blipFill>
            <a:blip r:embed="rId4">
              <a:extLst/>
            </a:blip>
            <a:stretch>
              <a:fillRect/>
            </a:stretch>
          </p:blipFill>
          <p:spPr>
            <a:xfrm>
              <a:off x="0" y="21537"/>
              <a:ext cx="299098" cy="296137"/>
            </a:xfrm>
            <a:prstGeom prst="rect">
              <a:avLst/>
            </a:prstGeom>
            <a:ln w="12700" cap="flat">
              <a:noFill/>
              <a:miter lim="400000"/>
            </a:ln>
            <a:effectLst/>
          </p:spPr>
        </p:pic>
      </p:grpSp>
      <p:grpSp>
        <p:nvGrpSpPr>
          <p:cNvPr id="30" name="Group"/>
          <p:cNvGrpSpPr/>
          <p:nvPr/>
        </p:nvGrpSpPr>
        <p:grpSpPr>
          <a:xfrm>
            <a:off x="573087" y="5910262"/>
            <a:ext cx="1580761" cy="316390"/>
            <a:chOff x="0" y="0"/>
            <a:chExt cx="1580759" cy="316388"/>
          </a:xfrm>
        </p:grpSpPr>
        <p:sp>
          <p:nvSpPr>
            <p:cNvPr id="28" name="9402200057"/>
            <p:cNvSpPr txBox="1"/>
            <p:nvPr/>
          </p:nvSpPr>
          <p:spPr>
            <a:xfrm>
              <a:off x="446729" y="0"/>
              <a:ext cx="1134031" cy="30059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600">
                  <a:solidFill>
                    <a:srgbClr val="FFFFFF"/>
                  </a:solidFill>
                </a:defRPr>
              </a:lvl1pPr>
            </a:lstStyle>
            <a:p>
              <a:pPr/>
              <a:r>
                <a:t>9402200057</a:t>
              </a:r>
            </a:p>
          </p:txBody>
        </p:sp>
        <p:pic>
          <p:nvPicPr>
            <p:cNvPr id="29" name="image.png" descr="image.png"/>
            <p:cNvPicPr>
              <a:picLocks noChangeAspect="1"/>
            </p:cNvPicPr>
            <p:nvPr/>
          </p:nvPicPr>
          <p:blipFill>
            <a:blip r:embed="rId5">
              <a:extLst/>
            </a:blip>
            <a:stretch>
              <a:fillRect/>
            </a:stretch>
          </p:blipFill>
          <p:spPr>
            <a:xfrm>
              <a:off x="0" y="19152"/>
              <a:ext cx="298405" cy="297237"/>
            </a:xfrm>
            <a:prstGeom prst="rect">
              <a:avLst/>
            </a:prstGeom>
            <a:ln w="12700" cap="flat">
              <a:noFill/>
              <a:miter lim="400000"/>
            </a:ln>
            <a:effectLst/>
          </p:spPr>
        </p:pic>
      </p:grpSp>
      <p:sp>
        <p:nvSpPr>
          <p:cNvPr id="31" name="Lesson 7: Information Extraction (IE)"/>
          <p:cNvSpPr txBox="1"/>
          <p:nvPr/>
        </p:nvSpPr>
        <p:spPr>
          <a:xfrm>
            <a:off x="202882" y="1073150"/>
            <a:ext cx="11265536" cy="8280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4800">
                <a:solidFill>
                  <a:srgbClr val="1C4885"/>
                </a:solidFill>
                <a:latin typeface="Microsoft YaHei"/>
                <a:ea typeface="Microsoft YaHei"/>
                <a:cs typeface="Microsoft YaHei"/>
                <a:sym typeface="Microsoft YaHei"/>
              </a:defRPr>
            </a:pPr>
            <a:r>
              <a:t>Lesson</a:t>
            </a:r>
            <a:r>
              <a:t> </a:t>
            </a:r>
            <a:r>
              <a:t>7:</a:t>
            </a:r>
            <a:r>
              <a:t> </a:t>
            </a:r>
            <a:r>
              <a:t>Information Extraction (IE)</a:t>
            </a:r>
          </a:p>
        </p:txBody>
      </p:sp>
      <p:sp>
        <p:nvSpPr>
          <p:cNvPr id="32" name="Haihua Chen, Ph.D.…"/>
          <p:cNvSpPr txBox="1"/>
          <p:nvPr/>
        </p:nvSpPr>
        <p:spPr>
          <a:xfrm>
            <a:off x="541019" y="5049837"/>
            <a:ext cx="2127088" cy="644982"/>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defRPr b="1" sz="2000">
                <a:solidFill>
                  <a:srgbClr val="FFFFFF"/>
                </a:solidFill>
              </a:defRPr>
            </a:pPr>
            <a:r>
              <a:t>Haihua Chen, Ph.D.</a:t>
            </a:r>
          </a:p>
          <a:p>
            <a:pPr>
              <a:defRPr b="1" sz="2000">
                <a:solidFill>
                  <a:srgbClr val="FFFFFF"/>
                </a:solidFill>
              </a:defRPr>
            </a:pPr>
            <a:r>
              <a:t>Assistant Professor</a:t>
            </a:r>
          </a:p>
        </p:txBody>
      </p:sp>
      <p:sp>
        <p:nvSpPr>
          <p:cNvPr id="33"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34" name="Slide Number"/>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 name="Shape"/>
          <p:cNvSpPr/>
          <p:nvPr/>
        </p:nvSpPr>
        <p:spPr>
          <a:xfrm>
            <a:off x="5614987" y="0"/>
            <a:ext cx="6423026" cy="6858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052" y="30"/>
                </a:moveTo>
                <a:lnTo>
                  <a:pt x="21600" y="0"/>
                </a:lnTo>
                <a:lnTo>
                  <a:pt x="21600" y="21600"/>
                </a:lnTo>
                <a:lnTo>
                  <a:pt x="0" y="21600"/>
                </a:lnTo>
                <a:lnTo>
                  <a:pt x="7052" y="30"/>
                </a:lnTo>
                <a:close/>
              </a:path>
            </a:pathLst>
          </a:custGeom>
          <a:solidFill>
            <a:srgbClr val="FFFFFF"/>
          </a:solidFill>
          <a:ln w="12700">
            <a:miter lim="400000"/>
          </a:ln>
        </p:spPr>
        <p:txBody>
          <a:bodyPr lIns="45719" rIns="45719" anchor="ctr"/>
          <a:lstStyle/>
          <a:p>
            <a:pPr/>
          </a:p>
        </p:txBody>
      </p:sp>
      <p:sp>
        <p:nvSpPr>
          <p:cNvPr id="37" name="Shape"/>
          <p:cNvSpPr/>
          <p:nvPr/>
        </p:nvSpPr>
        <p:spPr>
          <a:xfrm>
            <a:off x="5768975" y="0"/>
            <a:ext cx="6423026" cy="6858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052" y="30"/>
                </a:moveTo>
                <a:lnTo>
                  <a:pt x="21600" y="0"/>
                </a:lnTo>
                <a:lnTo>
                  <a:pt x="21600" y="21600"/>
                </a:lnTo>
                <a:lnTo>
                  <a:pt x="0" y="21600"/>
                </a:lnTo>
                <a:lnTo>
                  <a:pt x="7052" y="30"/>
                </a:lnTo>
                <a:close/>
              </a:path>
            </a:pathLst>
          </a:custGeom>
          <a:solidFill>
            <a:srgbClr val="1C4885"/>
          </a:solidFill>
          <a:ln w="12700">
            <a:miter lim="400000"/>
          </a:ln>
        </p:spPr>
        <p:txBody>
          <a:bodyPr lIns="45719" rIns="45719" anchor="ctr"/>
          <a:lstStyle/>
          <a:p>
            <a:pPr/>
          </a:p>
        </p:txBody>
      </p:sp>
      <p:sp>
        <p:nvSpPr>
          <p:cNvPr id="38" name="Triangle"/>
          <p:cNvSpPr/>
          <p:nvPr/>
        </p:nvSpPr>
        <p:spPr>
          <a:xfrm rot="21255612">
            <a:off x="9923462" y="-147638"/>
            <a:ext cx="2436813" cy="35433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1522"/>
                </a:lnTo>
                <a:lnTo>
                  <a:pt x="18557" y="21600"/>
                </a:lnTo>
                <a:lnTo>
                  <a:pt x="0" y="0"/>
                </a:lnTo>
                <a:close/>
              </a:path>
            </a:pathLst>
          </a:custGeom>
          <a:solidFill>
            <a:srgbClr val="FFFFFF"/>
          </a:solidFill>
          <a:ln w="12700">
            <a:miter lim="400000"/>
          </a:ln>
        </p:spPr>
        <p:txBody>
          <a:bodyPr lIns="45719" rIns="45719" anchor="ctr"/>
          <a:lstStyle/>
          <a:p>
            <a:pPr/>
          </a:p>
        </p:txBody>
      </p:sp>
      <p:sp>
        <p:nvSpPr>
          <p:cNvPr id="39" name="Triangle"/>
          <p:cNvSpPr/>
          <p:nvPr/>
        </p:nvSpPr>
        <p:spPr>
          <a:xfrm rot="10452885">
            <a:off x="9837737" y="146050"/>
            <a:ext cx="1068388" cy="15525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1522"/>
                </a:lnTo>
                <a:lnTo>
                  <a:pt x="18557" y="21600"/>
                </a:lnTo>
                <a:lnTo>
                  <a:pt x="0" y="0"/>
                </a:lnTo>
                <a:close/>
              </a:path>
            </a:pathLst>
          </a:custGeom>
          <a:solidFill>
            <a:srgbClr val="D9D9D9"/>
          </a:solidFill>
          <a:ln w="12700">
            <a:miter lim="400000"/>
          </a:ln>
        </p:spPr>
        <p:txBody>
          <a:bodyPr lIns="45719" rIns="45719" anchor="ctr"/>
          <a:lstStyle/>
          <a:p>
            <a:pPr/>
          </a:p>
        </p:txBody>
      </p:sp>
      <p:sp>
        <p:nvSpPr>
          <p:cNvPr id="40" name="Rectangle"/>
          <p:cNvSpPr/>
          <p:nvPr/>
        </p:nvSpPr>
        <p:spPr>
          <a:xfrm>
            <a:off x="1743075" y="1752600"/>
            <a:ext cx="3013075" cy="488950"/>
          </a:xfrm>
          <a:prstGeom prst="rect">
            <a:avLst/>
          </a:prstGeom>
          <a:ln>
            <a:solidFill>
              <a:srgbClr val="404040"/>
            </a:solidFill>
          </a:ln>
        </p:spPr>
        <p:txBody>
          <a:bodyPr lIns="45719" rIns="45719"/>
          <a:lstStyle/>
          <a:p>
            <a:pPr algn="ctr">
              <a:spcBef>
                <a:spcPts val="1600"/>
              </a:spcBef>
              <a:defRPr b="1" sz="1600">
                <a:latin typeface="Arial"/>
                <a:ea typeface="Arial"/>
                <a:cs typeface="Arial"/>
                <a:sym typeface="Arial"/>
              </a:defRPr>
            </a:pPr>
          </a:p>
        </p:txBody>
      </p:sp>
      <p:sp>
        <p:nvSpPr>
          <p:cNvPr id="41" name="Rectangle"/>
          <p:cNvSpPr/>
          <p:nvPr/>
        </p:nvSpPr>
        <p:spPr>
          <a:xfrm>
            <a:off x="695325" y="1752600"/>
            <a:ext cx="814388" cy="488950"/>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2" name="1"/>
          <p:cNvSpPr txBox="1"/>
          <p:nvPr/>
        </p:nvSpPr>
        <p:spPr>
          <a:xfrm>
            <a:off x="968057" y="1789112"/>
            <a:ext cx="419736" cy="396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FFFFFF"/>
                </a:solidFill>
                <a:latin typeface="Microsoft YaHei"/>
                <a:ea typeface="Microsoft YaHei"/>
                <a:cs typeface="Microsoft YaHei"/>
                <a:sym typeface="Microsoft YaHei"/>
              </a:defRPr>
            </a:lvl1pPr>
          </a:lstStyle>
          <a:p>
            <a:pPr/>
            <a:r>
              <a:t>1</a:t>
            </a:r>
          </a:p>
        </p:txBody>
      </p:sp>
      <p:sp>
        <p:nvSpPr>
          <p:cNvPr id="43" name="Rectangle"/>
          <p:cNvSpPr/>
          <p:nvPr/>
        </p:nvSpPr>
        <p:spPr>
          <a:xfrm>
            <a:off x="1743075" y="2413000"/>
            <a:ext cx="3013075" cy="488950"/>
          </a:xfrm>
          <a:prstGeom prst="rect">
            <a:avLst/>
          </a:prstGeom>
          <a:ln>
            <a:solidFill>
              <a:srgbClr val="404040"/>
            </a:solidFill>
          </a:ln>
        </p:spPr>
        <p:txBody>
          <a:bodyPr lIns="45719" rIns="45719"/>
          <a:lstStyle/>
          <a:p>
            <a:pPr algn="ctr">
              <a:spcBef>
                <a:spcPts val="1600"/>
              </a:spcBef>
              <a:defRPr b="1" sz="1600">
                <a:latin typeface="Arial"/>
                <a:ea typeface="Arial"/>
                <a:cs typeface="Arial"/>
                <a:sym typeface="Arial"/>
              </a:defRPr>
            </a:pPr>
          </a:p>
        </p:txBody>
      </p:sp>
      <p:sp>
        <p:nvSpPr>
          <p:cNvPr id="44" name="Rectangle"/>
          <p:cNvSpPr/>
          <p:nvPr/>
        </p:nvSpPr>
        <p:spPr>
          <a:xfrm>
            <a:off x="695325" y="2413000"/>
            <a:ext cx="814388" cy="488950"/>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5" name="2"/>
          <p:cNvSpPr txBox="1"/>
          <p:nvPr/>
        </p:nvSpPr>
        <p:spPr>
          <a:xfrm>
            <a:off x="968057" y="2449512"/>
            <a:ext cx="870586" cy="396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FFFFFF"/>
                </a:solidFill>
                <a:latin typeface="Microsoft YaHei"/>
                <a:ea typeface="Microsoft YaHei"/>
                <a:cs typeface="Microsoft YaHei"/>
                <a:sym typeface="Microsoft YaHei"/>
              </a:defRPr>
            </a:lvl1pPr>
          </a:lstStyle>
          <a:p>
            <a:pPr/>
            <a:r>
              <a:t>2</a:t>
            </a:r>
          </a:p>
        </p:txBody>
      </p:sp>
      <p:sp>
        <p:nvSpPr>
          <p:cNvPr id="46" name="Rectangle"/>
          <p:cNvSpPr/>
          <p:nvPr/>
        </p:nvSpPr>
        <p:spPr>
          <a:xfrm>
            <a:off x="1741487" y="3073400"/>
            <a:ext cx="3014663" cy="488950"/>
          </a:xfrm>
          <a:prstGeom prst="rect">
            <a:avLst/>
          </a:prstGeom>
          <a:ln>
            <a:solidFill>
              <a:srgbClr val="404040"/>
            </a:solidFill>
          </a:ln>
        </p:spPr>
        <p:txBody>
          <a:bodyPr lIns="45719" rIns="45719"/>
          <a:lstStyle/>
          <a:p>
            <a:pPr algn="ctr">
              <a:spcBef>
                <a:spcPts val="1600"/>
              </a:spcBef>
              <a:defRPr b="1" sz="1600">
                <a:latin typeface="Arial"/>
                <a:ea typeface="Arial"/>
                <a:cs typeface="Arial"/>
                <a:sym typeface="Arial"/>
              </a:defRPr>
            </a:pPr>
          </a:p>
        </p:txBody>
      </p:sp>
      <p:sp>
        <p:nvSpPr>
          <p:cNvPr id="47" name="Rectangle"/>
          <p:cNvSpPr/>
          <p:nvPr/>
        </p:nvSpPr>
        <p:spPr>
          <a:xfrm>
            <a:off x="692150" y="3073400"/>
            <a:ext cx="814388" cy="488950"/>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8" name="3"/>
          <p:cNvSpPr txBox="1"/>
          <p:nvPr/>
        </p:nvSpPr>
        <p:spPr>
          <a:xfrm>
            <a:off x="964882" y="3109912"/>
            <a:ext cx="870586" cy="396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FFFFFF"/>
                </a:solidFill>
                <a:latin typeface="Microsoft YaHei"/>
                <a:ea typeface="Microsoft YaHei"/>
                <a:cs typeface="Microsoft YaHei"/>
                <a:sym typeface="Microsoft YaHei"/>
              </a:defRPr>
            </a:lvl1pPr>
          </a:lstStyle>
          <a:p>
            <a:pPr/>
            <a:r>
              <a:t>3</a:t>
            </a:r>
          </a:p>
        </p:txBody>
      </p:sp>
      <p:sp>
        <p:nvSpPr>
          <p:cNvPr id="49" name="Rectangle"/>
          <p:cNvSpPr/>
          <p:nvPr/>
        </p:nvSpPr>
        <p:spPr>
          <a:xfrm>
            <a:off x="1741487" y="3733800"/>
            <a:ext cx="3014663" cy="488950"/>
          </a:xfrm>
          <a:prstGeom prst="rect">
            <a:avLst/>
          </a:prstGeom>
          <a:ln>
            <a:solidFill>
              <a:srgbClr val="404040"/>
            </a:solidFill>
          </a:ln>
        </p:spPr>
        <p:txBody>
          <a:bodyPr lIns="45719" rIns="45719"/>
          <a:lstStyle/>
          <a:p>
            <a:pPr algn="ctr">
              <a:spcBef>
                <a:spcPts val="1600"/>
              </a:spcBef>
              <a:defRPr b="1" sz="1600">
                <a:latin typeface="Arial"/>
                <a:ea typeface="Arial"/>
                <a:cs typeface="Arial"/>
                <a:sym typeface="Arial"/>
              </a:defRPr>
            </a:pPr>
          </a:p>
        </p:txBody>
      </p:sp>
      <p:sp>
        <p:nvSpPr>
          <p:cNvPr id="50" name="Rectangle"/>
          <p:cNvSpPr/>
          <p:nvPr/>
        </p:nvSpPr>
        <p:spPr>
          <a:xfrm>
            <a:off x="692150" y="3733800"/>
            <a:ext cx="814388" cy="488950"/>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51" name="4"/>
          <p:cNvSpPr txBox="1"/>
          <p:nvPr/>
        </p:nvSpPr>
        <p:spPr>
          <a:xfrm>
            <a:off x="964882" y="3770312"/>
            <a:ext cx="870586" cy="396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FFFFFF"/>
                </a:solidFill>
                <a:latin typeface="Microsoft YaHei"/>
                <a:ea typeface="Microsoft YaHei"/>
                <a:cs typeface="Microsoft YaHei"/>
                <a:sym typeface="Microsoft YaHei"/>
              </a:defRPr>
            </a:lvl1pPr>
          </a:lstStyle>
          <a:p>
            <a:pPr/>
            <a:r>
              <a:t>4</a:t>
            </a:r>
          </a:p>
        </p:txBody>
      </p:sp>
      <p:grpSp>
        <p:nvGrpSpPr>
          <p:cNvPr id="54" name="Group"/>
          <p:cNvGrpSpPr/>
          <p:nvPr/>
        </p:nvGrpSpPr>
        <p:grpSpPr>
          <a:xfrm>
            <a:off x="575945" y="236537"/>
            <a:ext cx="2610485" cy="712789"/>
            <a:chOff x="0" y="0"/>
            <a:chExt cx="2610484" cy="712787"/>
          </a:xfrm>
        </p:grpSpPr>
        <p:sp>
          <p:nvSpPr>
            <p:cNvPr id="52" name="Agenda"/>
            <p:cNvSpPr txBox="1"/>
            <p:nvPr/>
          </p:nvSpPr>
          <p:spPr>
            <a:xfrm>
              <a:off x="0" y="0"/>
              <a:ext cx="2610485" cy="6375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3600">
                  <a:solidFill>
                    <a:srgbClr val="1C4885"/>
                  </a:solidFill>
                  <a:latin typeface="Microsoft YaHei"/>
                  <a:ea typeface="Microsoft YaHei"/>
                  <a:cs typeface="Microsoft YaHei"/>
                  <a:sym typeface="Microsoft YaHei"/>
                </a:defRPr>
              </a:lvl1pPr>
            </a:lstStyle>
            <a:p>
              <a:pPr/>
              <a:r>
                <a:t>Agenda</a:t>
              </a:r>
            </a:p>
          </p:txBody>
        </p:sp>
        <p:sp>
          <p:nvSpPr>
            <p:cNvPr id="53" name="Line"/>
            <p:cNvSpPr/>
            <p:nvPr/>
          </p:nvSpPr>
          <p:spPr>
            <a:xfrm>
              <a:off x="38128" y="712787"/>
              <a:ext cx="2550599" cy="1"/>
            </a:xfrm>
            <a:prstGeom prst="line">
              <a:avLst/>
            </a:prstGeom>
            <a:noFill/>
            <a:ln w="6350" cap="flat">
              <a:solidFill>
                <a:srgbClr val="7F7F7F"/>
              </a:solidFill>
              <a:prstDash val="solid"/>
              <a:round/>
            </a:ln>
            <a:effectLst/>
          </p:spPr>
          <p:txBody>
            <a:bodyPr wrap="square" lIns="45719" tIns="45719" rIns="45719" bIns="45719" numCol="1" anchor="t">
              <a:noAutofit/>
            </a:bodyPr>
            <a:lstStyle/>
            <a:p>
              <a:pPr/>
            </a:p>
          </p:txBody>
        </p:sp>
      </p:grpSp>
      <p:pic>
        <p:nvPicPr>
          <p:cNvPr id="55" name="image.png" descr="image.png"/>
          <p:cNvPicPr>
            <a:picLocks noChangeAspect="1"/>
          </p:cNvPicPr>
          <p:nvPr/>
        </p:nvPicPr>
        <p:blipFill>
          <a:blip r:embed="rId2">
            <a:extLst/>
          </a:blip>
          <a:stretch>
            <a:fillRect/>
          </a:stretch>
        </p:blipFill>
        <p:spPr>
          <a:xfrm>
            <a:off x="5865812" y="4013200"/>
            <a:ext cx="6326188" cy="2844800"/>
          </a:xfrm>
          <a:prstGeom prst="rect">
            <a:avLst/>
          </a:prstGeom>
          <a:ln w="12700">
            <a:miter lim="400000"/>
          </a:ln>
        </p:spPr>
      </p:pic>
      <p:sp>
        <p:nvSpPr>
          <p:cNvPr id="56" name="Introduction to IE"/>
          <p:cNvSpPr txBox="1"/>
          <p:nvPr/>
        </p:nvSpPr>
        <p:spPr>
          <a:xfrm>
            <a:off x="1787207" y="1800225"/>
            <a:ext cx="1996119" cy="37084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1C4885"/>
                </a:solidFill>
                <a:latin typeface="Microsoft YaHei"/>
                <a:ea typeface="Microsoft YaHei"/>
                <a:cs typeface="Microsoft YaHei"/>
                <a:sym typeface="Microsoft YaHei"/>
              </a:defRPr>
            </a:lvl1pPr>
          </a:lstStyle>
          <a:p>
            <a:pPr/>
            <a:r>
              <a:t>Introduction to IE</a:t>
            </a:r>
          </a:p>
        </p:txBody>
      </p:sp>
      <p:sp>
        <p:nvSpPr>
          <p:cNvPr id="57" name="IE Techniques"/>
          <p:cNvSpPr txBox="1"/>
          <p:nvPr/>
        </p:nvSpPr>
        <p:spPr>
          <a:xfrm>
            <a:off x="1766569" y="3143250"/>
            <a:ext cx="3085149" cy="370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1C4885"/>
                </a:solidFill>
                <a:latin typeface="Microsoft YaHei"/>
                <a:ea typeface="Microsoft YaHei"/>
                <a:cs typeface="Microsoft YaHei"/>
                <a:sym typeface="Microsoft YaHei"/>
              </a:defRPr>
            </a:lvl1pPr>
          </a:lstStyle>
          <a:p>
            <a:pPr/>
            <a:r>
              <a:t>IE Techniques</a:t>
            </a:r>
          </a:p>
        </p:txBody>
      </p:sp>
      <p:sp>
        <p:nvSpPr>
          <p:cNvPr id="58" name="IE Tasks"/>
          <p:cNvSpPr txBox="1"/>
          <p:nvPr/>
        </p:nvSpPr>
        <p:spPr>
          <a:xfrm>
            <a:off x="1766569" y="2465387"/>
            <a:ext cx="1014970" cy="370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1C4885"/>
                </a:solidFill>
                <a:latin typeface="Microsoft YaHei"/>
                <a:ea typeface="Microsoft YaHei"/>
                <a:cs typeface="Microsoft YaHei"/>
                <a:sym typeface="Microsoft YaHei"/>
              </a:defRPr>
            </a:lvl1pPr>
          </a:lstStyle>
          <a:p>
            <a:pPr/>
            <a:r>
              <a:t>IE Tasks</a:t>
            </a:r>
          </a:p>
        </p:txBody>
      </p:sp>
      <p:sp>
        <p:nvSpPr>
          <p:cNvPr id="59"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60" name="Slide Number"/>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1" name="Rectangle"/>
          <p:cNvSpPr/>
          <p:nvPr/>
        </p:nvSpPr>
        <p:spPr>
          <a:xfrm>
            <a:off x="1744662" y="4405312"/>
            <a:ext cx="3011488" cy="488951"/>
          </a:xfrm>
          <a:prstGeom prst="rect">
            <a:avLst/>
          </a:prstGeom>
          <a:ln>
            <a:solidFill>
              <a:srgbClr val="404040"/>
            </a:solidFill>
          </a:ln>
        </p:spPr>
        <p:txBody>
          <a:bodyPr lIns="45719" rIns="45719"/>
          <a:lstStyle/>
          <a:p>
            <a:pPr algn="ctr">
              <a:spcBef>
                <a:spcPts val="1600"/>
              </a:spcBef>
              <a:defRPr b="1" sz="1600">
                <a:latin typeface="Arial"/>
                <a:ea typeface="Arial"/>
                <a:cs typeface="Arial"/>
                <a:sym typeface="Arial"/>
              </a:defRPr>
            </a:pPr>
          </a:p>
        </p:txBody>
      </p:sp>
      <p:sp>
        <p:nvSpPr>
          <p:cNvPr id="62" name="Rectangle"/>
          <p:cNvSpPr/>
          <p:nvPr/>
        </p:nvSpPr>
        <p:spPr>
          <a:xfrm>
            <a:off x="695325" y="4405312"/>
            <a:ext cx="814388" cy="4889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63" name="5"/>
          <p:cNvSpPr txBox="1"/>
          <p:nvPr/>
        </p:nvSpPr>
        <p:spPr>
          <a:xfrm>
            <a:off x="968057" y="4441825"/>
            <a:ext cx="870586" cy="3962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FFFFFF"/>
                </a:solidFill>
                <a:latin typeface="Microsoft YaHei"/>
                <a:ea typeface="Microsoft YaHei"/>
                <a:cs typeface="Microsoft YaHei"/>
                <a:sym typeface="Microsoft YaHei"/>
              </a:defRPr>
            </a:lvl1pPr>
          </a:lstStyle>
          <a:p>
            <a:pPr/>
            <a:r>
              <a:t>5</a:t>
            </a:r>
          </a:p>
        </p:txBody>
      </p:sp>
      <p:sp>
        <p:nvSpPr>
          <p:cNvPr id="64" name="Challenges for IE"/>
          <p:cNvSpPr txBox="1"/>
          <p:nvPr/>
        </p:nvSpPr>
        <p:spPr>
          <a:xfrm>
            <a:off x="1787207" y="3827462"/>
            <a:ext cx="2832736"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90000"/>
              </a:lnSpc>
              <a:spcBef>
                <a:spcPts val="1000"/>
              </a:spcBef>
              <a:defRPr b="1">
                <a:solidFill>
                  <a:srgbClr val="1C4885"/>
                </a:solidFill>
                <a:latin typeface="Microsoft YaHei"/>
                <a:ea typeface="Microsoft YaHei"/>
                <a:cs typeface="Microsoft YaHei"/>
                <a:sym typeface="Microsoft YaHei"/>
              </a:defRPr>
            </a:lvl1pPr>
          </a:lstStyle>
          <a:p>
            <a:pPr/>
            <a:r>
              <a:t>Challenges for IE</a:t>
            </a:r>
          </a:p>
        </p:txBody>
      </p:sp>
      <p:sp>
        <p:nvSpPr>
          <p:cNvPr id="65" name="IE with Python"/>
          <p:cNvSpPr txBox="1"/>
          <p:nvPr/>
        </p:nvSpPr>
        <p:spPr>
          <a:xfrm>
            <a:off x="1798319" y="4481512"/>
            <a:ext cx="2531112"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90000"/>
              </a:lnSpc>
              <a:spcBef>
                <a:spcPts val="1000"/>
              </a:spcBef>
              <a:defRPr b="1">
                <a:solidFill>
                  <a:srgbClr val="1C4885"/>
                </a:solidFill>
                <a:latin typeface="Microsoft YaHei"/>
                <a:ea typeface="Microsoft YaHei"/>
                <a:cs typeface="Microsoft YaHei"/>
                <a:sym typeface="Microsoft YaHei"/>
              </a:defRPr>
            </a:lvl1pPr>
          </a:lstStyle>
          <a:p>
            <a:pPr/>
            <a:r>
              <a:t>IE with Python</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67" name="image.png" descr="image.png"/>
          <p:cNvPicPr>
            <a:picLocks noChangeAspect="1"/>
          </p:cNvPicPr>
          <p:nvPr/>
        </p:nvPicPr>
        <p:blipFill>
          <a:blip r:embed="rId3">
            <a:extLst/>
          </a:blip>
          <a:stretch>
            <a:fillRect/>
          </a:stretch>
        </p:blipFill>
        <p:spPr>
          <a:xfrm>
            <a:off x="2632075" y="354012"/>
            <a:ext cx="7481888" cy="3743326"/>
          </a:xfrm>
          <a:prstGeom prst="rect">
            <a:avLst/>
          </a:prstGeom>
          <a:ln w="12700">
            <a:miter lim="400000"/>
          </a:ln>
        </p:spPr>
      </p:pic>
      <p:sp>
        <p:nvSpPr>
          <p:cNvPr id="68" name="Rectangle"/>
          <p:cNvSpPr/>
          <p:nvPr/>
        </p:nvSpPr>
        <p:spPr>
          <a:xfrm>
            <a:off x="0" y="4902200"/>
            <a:ext cx="12192000" cy="1955800"/>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69" name="1"/>
          <p:cNvSpPr txBox="1"/>
          <p:nvPr/>
        </p:nvSpPr>
        <p:spPr>
          <a:xfrm>
            <a:off x="45720" y="1571625"/>
            <a:ext cx="1403985" cy="533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4400">
                <a:solidFill>
                  <a:srgbClr val="1C4885"/>
                </a:solidFill>
                <a:latin typeface="Microsoft YaHei"/>
                <a:ea typeface="Microsoft YaHei"/>
                <a:cs typeface="Microsoft YaHei"/>
                <a:sym typeface="Microsoft YaHei"/>
              </a:defRPr>
            </a:lvl1pPr>
          </a:lstStyle>
          <a:p>
            <a:pPr/>
            <a:r>
              <a:t>1</a:t>
            </a:r>
          </a:p>
        </p:txBody>
      </p:sp>
      <p:sp>
        <p:nvSpPr>
          <p:cNvPr id="70" name="Introduction to IE"/>
          <p:cNvSpPr txBox="1"/>
          <p:nvPr/>
        </p:nvSpPr>
        <p:spPr>
          <a:xfrm>
            <a:off x="2125344" y="3792537"/>
            <a:ext cx="9574849" cy="916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rgbClr val="1C4885"/>
                </a:solidFill>
                <a:latin typeface="Microsoft YaHei"/>
                <a:ea typeface="Microsoft YaHei"/>
                <a:cs typeface="Microsoft YaHei"/>
                <a:sym typeface="Microsoft YaHei"/>
              </a:defRPr>
            </a:lvl1pPr>
          </a:lstStyle>
          <a:p>
            <a:pPr/>
            <a:r>
              <a:t>Introduction to IE</a:t>
            </a:r>
          </a:p>
        </p:txBody>
      </p:sp>
      <p:grpSp>
        <p:nvGrpSpPr>
          <p:cNvPr id="73" name="Group"/>
          <p:cNvGrpSpPr/>
          <p:nvPr/>
        </p:nvGrpSpPr>
        <p:grpSpPr>
          <a:xfrm>
            <a:off x="6804024" y="3178174"/>
            <a:ext cx="5578477" cy="3481389"/>
            <a:chOff x="0" y="0"/>
            <a:chExt cx="5578475" cy="3481387"/>
          </a:xfrm>
        </p:grpSpPr>
        <p:pic>
          <p:nvPicPr>
            <p:cNvPr id="71" name="image.png" descr="image.png"/>
            <p:cNvPicPr>
              <a:picLocks noChangeAspect="1"/>
            </p:cNvPicPr>
            <p:nvPr/>
          </p:nvPicPr>
          <p:blipFill>
            <a:blip r:embed="rId4">
              <a:extLst/>
            </a:blip>
            <a:srcRect l="0" t="0" r="0" b="52040"/>
            <a:stretch>
              <a:fillRect/>
            </a:stretch>
          </p:blipFill>
          <p:spPr>
            <a:xfrm>
              <a:off x="6646" y="0"/>
              <a:ext cx="5571830" cy="1720707"/>
            </a:xfrm>
            <a:prstGeom prst="rect">
              <a:avLst/>
            </a:prstGeom>
            <a:ln w="12700" cap="flat">
              <a:noFill/>
              <a:miter lim="400000"/>
            </a:ln>
            <a:effectLst/>
          </p:spPr>
        </p:pic>
        <p:pic>
          <p:nvPicPr>
            <p:cNvPr id="72" name="image.png" descr="image.png"/>
            <p:cNvPicPr>
              <a:picLocks noChangeAspect="1"/>
            </p:cNvPicPr>
            <p:nvPr/>
          </p:nvPicPr>
          <p:blipFill>
            <a:blip r:embed="rId4">
              <a:extLst/>
            </a:blip>
            <a:srcRect l="0" t="50633" r="2627" b="0"/>
            <a:stretch>
              <a:fillRect/>
            </a:stretch>
          </p:blipFill>
          <p:spPr>
            <a:xfrm>
              <a:off x="-1" y="1710252"/>
              <a:ext cx="5425464" cy="1771136"/>
            </a:xfrm>
            <a:prstGeom prst="rect">
              <a:avLst/>
            </a:prstGeom>
            <a:ln w="12700" cap="flat">
              <a:noFill/>
              <a:miter lim="400000"/>
            </a:ln>
            <a:effectLst/>
          </p:spPr>
        </p:pic>
      </p:grpSp>
      <p:sp>
        <p:nvSpPr>
          <p:cNvPr id="74" name="Shape"/>
          <p:cNvSpPr/>
          <p:nvPr/>
        </p:nvSpPr>
        <p:spPr>
          <a:xfrm>
            <a:off x="490537" y="4902200"/>
            <a:ext cx="2063751" cy="9159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215" y="0"/>
                </a:moveTo>
                <a:lnTo>
                  <a:pt x="14430" y="0"/>
                </a:lnTo>
                <a:lnTo>
                  <a:pt x="14430" y="8665"/>
                </a:lnTo>
                <a:lnTo>
                  <a:pt x="21600" y="8665"/>
                </a:lnTo>
                <a:lnTo>
                  <a:pt x="21600" y="21600"/>
                </a:lnTo>
                <a:lnTo>
                  <a:pt x="0" y="21600"/>
                </a:lnTo>
                <a:lnTo>
                  <a:pt x="0" y="8665"/>
                </a:lnTo>
                <a:lnTo>
                  <a:pt x="7215" y="8665"/>
                </a:lnTo>
                <a:lnTo>
                  <a:pt x="7215" y="0"/>
                </a:lnTo>
                <a:close/>
              </a:path>
            </a:pathLst>
          </a:custGeom>
          <a:solidFill>
            <a:srgbClr val="FFFFFF"/>
          </a:solidFill>
          <a:ln w="12700">
            <a:miter lim="400000"/>
          </a:ln>
        </p:spPr>
        <p:txBody>
          <a:bodyPr lIns="45719" rIns="45719"/>
          <a:lstStyle/>
          <a:p>
            <a:pPr/>
          </a:p>
        </p:txBody>
      </p:sp>
      <p:sp>
        <p:nvSpPr>
          <p:cNvPr id="75"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76" name="Slide Number"/>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83" name="Group"/>
          <p:cNvGrpSpPr/>
          <p:nvPr/>
        </p:nvGrpSpPr>
        <p:grpSpPr>
          <a:xfrm>
            <a:off x="10625137" y="5580062"/>
            <a:ext cx="1566864" cy="1281113"/>
            <a:chOff x="0" y="0"/>
            <a:chExt cx="1566862" cy="1281112"/>
          </a:xfrm>
        </p:grpSpPr>
        <p:pic>
          <p:nvPicPr>
            <p:cNvPr id="81"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82"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84"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85" name="Why Information Extraction"/>
          <p:cNvSpPr txBox="1"/>
          <p:nvPr/>
        </p:nvSpPr>
        <p:spPr>
          <a:xfrm>
            <a:off x="190182" y="207962"/>
            <a:ext cx="4083656"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Why Information Extraction</a:t>
            </a:r>
          </a:p>
        </p:txBody>
      </p:sp>
      <p:sp>
        <p:nvSpPr>
          <p:cNvPr id="86"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87" name="Slide Number"/>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88" name="image.png" descr="image.png"/>
          <p:cNvPicPr>
            <a:picLocks noChangeAspect="1"/>
          </p:cNvPicPr>
          <p:nvPr/>
        </p:nvPicPr>
        <p:blipFill>
          <a:blip r:embed="rId4">
            <a:extLst/>
          </a:blip>
          <a:stretch>
            <a:fillRect/>
          </a:stretch>
        </p:blipFill>
        <p:spPr>
          <a:xfrm>
            <a:off x="163512" y="1458912"/>
            <a:ext cx="4638676" cy="2855913"/>
          </a:xfrm>
          <a:prstGeom prst="rect">
            <a:avLst/>
          </a:prstGeom>
          <a:ln w="12700">
            <a:miter lim="400000"/>
          </a:ln>
        </p:spPr>
      </p:pic>
      <p:pic>
        <p:nvPicPr>
          <p:cNvPr id="89" name="image.png" descr="image.png"/>
          <p:cNvPicPr>
            <a:picLocks noChangeAspect="1"/>
          </p:cNvPicPr>
          <p:nvPr/>
        </p:nvPicPr>
        <p:blipFill>
          <a:blip r:embed="rId5">
            <a:extLst/>
          </a:blip>
          <a:stretch>
            <a:fillRect/>
          </a:stretch>
        </p:blipFill>
        <p:spPr>
          <a:xfrm>
            <a:off x="3417887" y="2917825"/>
            <a:ext cx="4770438" cy="3113088"/>
          </a:xfrm>
          <a:prstGeom prst="rect">
            <a:avLst/>
          </a:prstGeom>
          <a:ln w="12700">
            <a:miter lim="400000"/>
          </a:ln>
        </p:spPr>
      </p:pic>
      <p:pic>
        <p:nvPicPr>
          <p:cNvPr id="90" name="image.png" descr="image.png"/>
          <p:cNvPicPr>
            <a:picLocks noChangeAspect="1"/>
          </p:cNvPicPr>
          <p:nvPr/>
        </p:nvPicPr>
        <p:blipFill>
          <a:blip r:embed="rId6">
            <a:extLst/>
          </a:blip>
          <a:stretch>
            <a:fillRect/>
          </a:stretch>
        </p:blipFill>
        <p:spPr>
          <a:xfrm>
            <a:off x="7235825" y="1430337"/>
            <a:ext cx="4856163" cy="3203576"/>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88"/>
                                        </p:tgtEl>
                                        <p:attrNameLst>
                                          <p:attrName>style.visibility</p:attrName>
                                        </p:attrNameLst>
                                      </p:cBhvr>
                                      <p:to>
                                        <p:strVal val="visible"/>
                                      </p:to>
                                    </p:set>
                                    <p:animEffect filter="fade" transition="in">
                                      <p:cBhvr>
                                        <p:cTn id="7" dur="500"/>
                                        <p:tgtEl>
                                          <p:spTgt spid="88"/>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4" presetID="2" grpId="2" fill="hold">
                                  <p:stCondLst>
                                    <p:cond delay="0"/>
                                  </p:stCondLst>
                                  <p:iterate type="el" backwards="0">
                                    <p:tmAbs val="0"/>
                                  </p:iterate>
                                  <p:childTnLst>
                                    <p:set>
                                      <p:cBhvr>
                                        <p:cTn id="11" fill="hold"/>
                                        <p:tgtEl>
                                          <p:spTgt spid="89"/>
                                        </p:tgtEl>
                                        <p:attrNameLst>
                                          <p:attrName>style.visibility</p:attrName>
                                        </p:attrNameLst>
                                      </p:cBhvr>
                                      <p:to>
                                        <p:strVal val="visible"/>
                                      </p:to>
                                    </p:set>
                                    <p:anim calcmode="lin" valueType="num">
                                      <p:cBhvr>
                                        <p:cTn id="12" dur="1000" fill="hold"/>
                                        <p:tgtEl>
                                          <p:spTgt spid="89"/>
                                        </p:tgtEl>
                                        <p:attrNameLst>
                                          <p:attrName>ppt_x</p:attrName>
                                        </p:attrNameLst>
                                      </p:cBhvr>
                                      <p:tavLst>
                                        <p:tav tm="0">
                                          <p:val>
                                            <p:strVal val="#ppt_x"/>
                                          </p:val>
                                        </p:tav>
                                        <p:tav tm="100000">
                                          <p:val>
                                            <p:strVal val="#ppt_x"/>
                                          </p:val>
                                        </p:tav>
                                      </p:tavLst>
                                    </p:anim>
                                    <p:anim calcmode="lin" valueType="num">
                                      <p:cBhvr>
                                        <p:cTn id="13" dur="1000" fill="hold"/>
                                        <p:tgtEl>
                                          <p:spTgt spid="8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Class="entr" nodeType="clickEffect" presetID="10" grpId="3" fill="hold">
                                  <p:stCondLst>
                                    <p:cond delay="0"/>
                                  </p:stCondLst>
                                  <p:iterate type="el" backwards="0">
                                    <p:tmAbs val="0"/>
                                  </p:iterate>
                                  <p:childTnLst>
                                    <p:set>
                                      <p:cBhvr>
                                        <p:cTn id="17" fill="hold"/>
                                        <p:tgtEl>
                                          <p:spTgt spid="90"/>
                                        </p:tgtEl>
                                        <p:attrNameLst>
                                          <p:attrName>style.visibility</p:attrName>
                                        </p:attrNameLst>
                                      </p:cBhvr>
                                      <p:to>
                                        <p:strVal val="visible"/>
                                      </p:to>
                                    </p:set>
                                    <p:animEffect filter="fade" transition="in">
                                      <p:cBhvr>
                                        <p:cTn id="18" dur="2000"/>
                                        <p:tgtEl>
                                          <p:spTgt spid="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0" grpId="3"/>
      <p:bldP build="whole" bldLvl="1" animBg="1" rev="0" advAuto="0" spid="88" grpId="1"/>
      <p:bldP build="whole" bldLvl="1" animBg="1" rev="0" advAuto="0" spid="89" grpId="2"/>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2"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95" name="Group"/>
          <p:cNvGrpSpPr/>
          <p:nvPr/>
        </p:nvGrpSpPr>
        <p:grpSpPr>
          <a:xfrm>
            <a:off x="10625137" y="5580062"/>
            <a:ext cx="1566864" cy="1281113"/>
            <a:chOff x="0" y="0"/>
            <a:chExt cx="1566862" cy="1281112"/>
          </a:xfrm>
        </p:grpSpPr>
        <p:pic>
          <p:nvPicPr>
            <p:cNvPr id="93"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94"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96" name="“Marc Marquez was fastest in the final MotoGP warm-up session of the 2016 season at Valencia, heading Maverick Vinales by just over a tenth of a second.…"/>
          <p:cNvSpPr txBox="1"/>
          <p:nvPr/>
        </p:nvSpPr>
        <p:spPr>
          <a:xfrm>
            <a:off x="900112" y="1604962"/>
            <a:ext cx="10509251" cy="219678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6025">
              <a:spcBef>
                <a:spcPts val="500"/>
              </a:spcBef>
              <a:defRPr b="1" sz="2400">
                <a:solidFill>
                  <a:srgbClr val="00B050"/>
                </a:solidFill>
                <a:latin typeface="Arial"/>
                <a:ea typeface="Arial"/>
                <a:cs typeface="Arial"/>
                <a:sym typeface="Arial"/>
              </a:defRPr>
            </a:pPr>
            <a:r>
              <a:t>“</a:t>
            </a:r>
            <a:r>
              <a:rPr>
                <a:solidFill>
                  <a:srgbClr val="FFFFFF"/>
                </a:solidFill>
              </a:rPr>
              <a:t>Marc Marquez was fastest in the final MotoGP warm-up session of the 2016 season at Valencia, heading Maverick Vinales by just over a tenth of a second.</a:t>
            </a:r>
            <a:endParaRPr>
              <a:solidFill>
                <a:srgbClr val="FFFFFF"/>
              </a:solidFill>
            </a:endParaRPr>
          </a:p>
          <a:p>
            <a:pPr defTabSz="1216025">
              <a:spcBef>
                <a:spcPts val="500"/>
              </a:spcBef>
              <a:defRPr b="1" sz="2400">
                <a:solidFill>
                  <a:srgbClr val="FFFFFF"/>
                </a:solidFill>
                <a:latin typeface="Arial"/>
                <a:ea typeface="Arial"/>
                <a:cs typeface="Arial"/>
                <a:sym typeface="Arial"/>
              </a:defRPr>
            </a:pPr>
            <a:r>
              <a:t>After qualifying second on Saturday behind a rampant Jorge Lorenzo, Marquez took charge of the 20-minute session from the start, eventually setting a best time of 1m31.095s at half-distance.</a:t>
            </a:r>
            <a:r>
              <a:rPr>
                <a:solidFill>
                  <a:srgbClr val="00B050"/>
                </a:solidFill>
              </a:rPr>
              <a:t>”</a:t>
            </a:r>
          </a:p>
        </p:txBody>
      </p:sp>
      <p:sp>
        <p:nvSpPr>
          <p:cNvPr id="97"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98" name="An Example of Information Extraction"/>
          <p:cNvSpPr txBox="1"/>
          <p:nvPr/>
        </p:nvSpPr>
        <p:spPr>
          <a:xfrm>
            <a:off x="190182" y="207962"/>
            <a:ext cx="5557352"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An Example of Information Extraction</a:t>
            </a:r>
          </a:p>
        </p:txBody>
      </p:sp>
      <p:sp>
        <p:nvSpPr>
          <p:cNvPr id="99" name="Person: Marc Marquez…"/>
          <p:cNvSpPr txBox="1"/>
          <p:nvPr/>
        </p:nvSpPr>
        <p:spPr>
          <a:xfrm>
            <a:off x="1919287" y="4367212"/>
            <a:ext cx="7304088" cy="13429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6025">
              <a:spcBef>
                <a:spcPts val="400"/>
              </a:spcBef>
              <a:defRPr b="1" sz="2000">
                <a:solidFill>
                  <a:srgbClr val="00B050"/>
                </a:solidFill>
                <a:latin typeface="Arial"/>
                <a:ea typeface="Arial"/>
                <a:cs typeface="Arial"/>
                <a:sym typeface="Arial"/>
              </a:defRPr>
            </a:pPr>
            <a:r>
              <a:t>Person</a:t>
            </a:r>
            <a:r>
              <a:rPr>
                <a:solidFill>
                  <a:srgbClr val="FFFFFF"/>
                </a:solidFill>
              </a:rPr>
              <a:t>: Marc Marquez</a:t>
            </a:r>
            <a:endParaRPr>
              <a:solidFill>
                <a:srgbClr val="FFFFFF"/>
              </a:solidFill>
            </a:endParaRPr>
          </a:p>
          <a:p>
            <a:pPr defTabSz="1216025">
              <a:spcBef>
                <a:spcPts val="400"/>
              </a:spcBef>
              <a:defRPr b="1" sz="2000">
                <a:solidFill>
                  <a:srgbClr val="00B050"/>
                </a:solidFill>
                <a:latin typeface="Arial"/>
                <a:ea typeface="Arial"/>
                <a:cs typeface="Arial"/>
                <a:sym typeface="Arial"/>
              </a:defRPr>
            </a:pPr>
            <a:r>
              <a:t>Location</a:t>
            </a:r>
            <a:r>
              <a:rPr>
                <a:solidFill>
                  <a:srgbClr val="FFFFFF"/>
                </a:solidFill>
              </a:rPr>
              <a:t>: Valencia</a:t>
            </a:r>
            <a:endParaRPr>
              <a:solidFill>
                <a:srgbClr val="FFFFFF"/>
              </a:solidFill>
            </a:endParaRPr>
          </a:p>
          <a:p>
            <a:pPr defTabSz="1216025">
              <a:spcBef>
                <a:spcPts val="400"/>
              </a:spcBef>
              <a:defRPr b="1" sz="2000">
                <a:solidFill>
                  <a:srgbClr val="00B050"/>
                </a:solidFill>
                <a:latin typeface="Arial"/>
                <a:ea typeface="Arial"/>
                <a:cs typeface="Arial"/>
                <a:sym typeface="Arial"/>
              </a:defRPr>
            </a:pPr>
            <a:r>
              <a:t>Event</a:t>
            </a:r>
            <a:r>
              <a:rPr>
                <a:solidFill>
                  <a:srgbClr val="FFFFFF"/>
                </a:solidFill>
              </a:rPr>
              <a:t>: MotoGP</a:t>
            </a:r>
            <a:endParaRPr>
              <a:solidFill>
                <a:srgbClr val="FFFFFF"/>
              </a:solidFill>
            </a:endParaRPr>
          </a:p>
          <a:p>
            <a:pPr defTabSz="1216025">
              <a:spcBef>
                <a:spcPts val="400"/>
              </a:spcBef>
              <a:defRPr b="1" sz="2000">
                <a:solidFill>
                  <a:srgbClr val="00B050"/>
                </a:solidFill>
                <a:latin typeface="Arial"/>
                <a:ea typeface="Arial"/>
                <a:cs typeface="Arial"/>
                <a:sym typeface="Arial"/>
              </a:defRPr>
            </a:pPr>
            <a:r>
              <a:t>Related mentions</a:t>
            </a:r>
            <a:r>
              <a:rPr>
                <a:solidFill>
                  <a:srgbClr val="FFFFFF"/>
                </a:solidFill>
              </a:rPr>
              <a:t>: Maverick Vinales, Yamaha, Jorge Lorenzo</a:t>
            </a:r>
          </a:p>
        </p:txBody>
      </p:sp>
      <p:sp>
        <p:nvSpPr>
          <p:cNvPr id="100"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101" name="Slide Number"/>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96"/>
                                        </p:tgtEl>
                                        <p:attrNameLst>
                                          <p:attrName>style.visibility</p:attrName>
                                        </p:attrNameLst>
                                      </p:cBhvr>
                                      <p:to>
                                        <p:strVal val="visible"/>
                                      </p:to>
                                    </p:set>
                                    <p:animEffect filter="fade" transition="in">
                                      <p:cBhvr>
                                        <p:cTn id="7" dur="500"/>
                                        <p:tgtEl>
                                          <p:spTgt spid="96"/>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4" presetID="22" grpId="2" fill="hold">
                                  <p:stCondLst>
                                    <p:cond delay="0"/>
                                  </p:stCondLst>
                                  <p:iterate type="el" backwards="0">
                                    <p:tmAbs val="0"/>
                                  </p:iterate>
                                  <p:childTnLst>
                                    <p:set>
                                      <p:cBhvr>
                                        <p:cTn id="11" fill="hold"/>
                                        <p:tgtEl>
                                          <p:spTgt spid="99"/>
                                        </p:tgtEl>
                                        <p:attrNameLst>
                                          <p:attrName>style.visibility</p:attrName>
                                        </p:attrNameLst>
                                      </p:cBhvr>
                                      <p:to>
                                        <p:strVal val="visible"/>
                                      </p:to>
                                    </p:set>
                                    <p:animEffect filter="wipe(down)" transition="in">
                                      <p:cBhvr>
                                        <p:cTn id="12" dur="500"/>
                                        <p:tgtEl>
                                          <p:spTgt spid="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9" grpId="2"/>
      <p:bldP build="whole" bldLvl="1" animBg="1" rev="0" advAuto="0" spid="96" grpId="1"/>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3"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106" name="Group"/>
          <p:cNvGrpSpPr/>
          <p:nvPr/>
        </p:nvGrpSpPr>
        <p:grpSpPr>
          <a:xfrm>
            <a:off x="10625137" y="5580062"/>
            <a:ext cx="1566864" cy="1281113"/>
            <a:chOff x="0" y="0"/>
            <a:chExt cx="1566862" cy="1281112"/>
          </a:xfrm>
        </p:grpSpPr>
        <p:pic>
          <p:nvPicPr>
            <p:cNvPr id="104"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105"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107"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108" name="A Real IE System: NOW platform"/>
          <p:cNvSpPr txBox="1"/>
          <p:nvPr/>
        </p:nvSpPr>
        <p:spPr>
          <a:xfrm>
            <a:off x="190182" y="207962"/>
            <a:ext cx="4818272"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defRPr b="1" sz="2400">
                <a:latin typeface="Microsoft YaHei"/>
                <a:ea typeface="Microsoft YaHei"/>
                <a:cs typeface="Microsoft YaHei"/>
                <a:sym typeface="Microsoft YaHei"/>
              </a:defRPr>
            </a:pPr>
            <a:r>
              <a:t>A Real IE System: </a:t>
            </a:r>
            <a:r>
              <a:rPr u="sng">
                <a:solidFill>
                  <a:srgbClr val="0563C1"/>
                </a:solidFill>
                <a:uFill>
                  <a:solidFill>
                    <a:srgbClr val="0563C1"/>
                  </a:solidFill>
                </a:uFill>
                <a:hlinkClick r:id="rId4" invalidUrl="" action="" tgtFrame="" tooltip="" history="1" highlightClick="0" endSnd="0"/>
              </a:rPr>
              <a:t>NOW platform</a:t>
            </a:r>
          </a:p>
        </p:txBody>
      </p:sp>
      <p:sp>
        <p:nvSpPr>
          <p:cNvPr id="109"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110" name="Slide Number"/>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11" name="Discover new and interesting news, aggregated from various sources in categories.…"/>
          <p:cNvSpPr txBox="1"/>
          <p:nvPr/>
        </p:nvSpPr>
        <p:spPr>
          <a:xfrm>
            <a:off x="838200" y="1689100"/>
            <a:ext cx="10377488" cy="26986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500"/>
              </a:spcBef>
              <a:buSzPct val="100000"/>
              <a:buChar char="➢"/>
              <a:defRPr b="1" sz="2400">
                <a:solidFill>
                  <a:srgbClr val="FFFFFF"/>
                </a:solidFill>
                <a:latin typeface="Arial"/>
                <a:ea typeface="Arial"/>
                <a:cs typeface="Arial"/>
                <a:sym typeface="Arial"/>
              </a:defRPr>
            </a:pPr>
            <a:r>
              <a:t>Discover new and interesting news, aggregated from various sources in categories.</a:t>
            </a:r>
          </a:p>
          <a:p>
            <a:pPr marL="342900" indent="-342900" defTabSz="1216025">
              <a:spcBef>
                <a:spcPts val="500"/>
              </a:spcBef>
              <a:buSzPct val="100000"/>
              <a:buChar char="➢"/>
              <a:defRPr b="1" sz="2400">
                <a:solidFill>
                  <a:srgbClr val="FFFFFF"/>
                </a:solidFill>
                <a:latin typeface="Arial"/>
                <a:ea typeface="Arial"/>
                <a:cs typeface="Arial"/>
                <a:sym typeface="Arial"/>
              </a:defRPr>
            </a:pPr>
            <a:r>
              <a:t>Enjoy their semantically enriched content and get the advantage of the knowledge behind.</a:t>
            </a:r>
          </a:p>
          <a:p>
            <a:pPr marL="342900" indent="-342900" defTabSz="1216025">
              <a:spcBef>
                <a:spcPts val="500"/>
              </a:spcBef>
              <a:buSzPct val="100000"/>
              <a:buChar char="➢"/>
              <a:defRPr b="1" sz="2400">
                <a:solidFill>
                  <a:srgbClr val="FFFFFF"/>
                </a:solidFill>
                <a:latin typeface="Arial"/>
                <a:ea typeface="Arial"/>
                <a:cs typeface="Arial"/>
                <a:sym typeface="Arial"/>
              </a:defRPr>
            </a:pPr>
            <a:r>
              <a:t>Focus on the trends to see the top mentioned concepts for a particular period of time.</a:t>
            </a:r>
          </a:p>
          <a:p>
            <a:pPr marL="342900" indent="-342900" defTabSz="1216025">
              <a:spcBef>
                <a:spcPts val="500"/>
              </a:spcBef>
              <a:buSzPct val="100000"/>
              <a:buChar char="➢"/>
              <a:defRPr b="1" sz="2400">
                <a:solidFill>
                  <a:srgbClr val="FFFFFF"/>
                </a:solidFill>
                <a:latin typeface="Arial"/>
                <a:ea typeface="Arial"/>
                <a:cs typeface="Arial"/>
                <a:sym typeface="Arial"/>
              </a:defRPr>
            </a:pPr>
            <a:r>
              <a:t>Browse to see articles with similar semantic fingerprints.</a:t>
            </a:r>
          </a:p>
        </p:txBody>
      </p:sp>
      <p:sp>
        <p:nvSpPr>
          <p:cNvPr id="112" name="News on the Web (NOW): A Showcase of Dynamic Semantic Publishing"/>
          <p:cNvSpPr txBox="1"/>
          <p:nvPr/>
        </p:nvSpPr>
        <p:spPr>
          <a:xfrm>
            <a:off x="1555750" y="5037137"/>
            <a:ext cx="8607425" cy="2837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400"/>
              </a:spcBef>
              <a:defRPr b="1" sz="2000" u="sng">
                <a:solidFill>
                  <a:srgbClr val="0563C1"/>
                </a:solidFill>
                <a:uFill>
                  <a:solidFill>
                    <a:srgbClr val="0563C1"/>
                  </a:solidFill>
                </a:uFill>
                <a:latin typeface="Arial"/>
                <a:ea typeface="Arial"/>
                <a:cs typeface="Arial"/>
                <a:sym typeface="Arial"/>
                <a:hlinkClick r:id="rId5" invalidUrl="" action="" tgtFrame="" tooltip="" history="1" highlightClick="0" endSnd="0"/>
              </a:defRPr>
            </a:lvl1pPr>
          </a:lstStyle>
          <a:p>
            <a:pPr>
              <a:defRPr u="none">
                <a:solidFill>
                  <a:srgbClr val="FFFFFF"/>
                </a:solidFill>
                <a:uFillTx/>
              </a:defRPr>
            </a:pPr>
            <a:r>
              <a:rPr u="sng">
                <a:solidFill>
                  <a:srgbClr val="0563C1"/>
                </a:solidFill>
                <a:uFill>
                  <a:solidFill>
                    <a:srgbClr val="0563C1"/>
                  </a:solidFill>
                </a:uFill>
                <a:hlinkClick r:id="rId5" invalidUrl="" action="" tgtFrame="" tooltip="" history="1" highlightClick="0" endSnd="0"/>
              </a:rPr>
              <a:t>News on the Web (NOW): A Showcase of Dynamic Semantic Publishing</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4" presetID="22" grpId="1" fill="hold">
                                  <p:stCondLst>
                                    <p:cond delay="0"/>
                                  </p:stCondLst>
                                  <p:iterate type="el" backwards="0">
                                    <p:tmAbs val="0"/>
                                  </p:iterate>
                                  <p:childTnLst>
                                    <p:set>
                                      <p:cBhvr>
                                        <p:cTn id="6" fill="hold"/>
                                        <p:tgtEl>
                                          <p:spTgt spid="112"/>
                                        </p:tgtEl>
                                        <p:attrNameLst>
                                          <p:attrName>style.visibility</p:attrName>
                                        </p:attrNameLst>
                                      </p:cBhvr>
                                      <p:to>
                                        <p:strVal val="visible"/>
                                      </p:to>
                                    </p:set>
                                    <p:animEffect filter="wipe(down)" transition="in">
                                      <p:cBhvr>
                                        <p:cTn id="7" dur="500"/>
                                        <p:tgtEl>
                                          <p:spTgt spid="1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12" grpId="1"/>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4"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117" name="Group"/>
          <p:cNvGrpSpPr/>
          <p:nvPr/>
        </p:nvGrpSpPr>
        <p:grpSpPr>
          <a:xfrm>
            <a:off x="10625137" y="5580062"/>
            <a:ext cx="1566864" cy="1281113"/>
            <a:chOff x="0" y="0"/>
            <a:chExt cx="1566862" cy="1281112"/>
          </a:xfrm>
        </p:grpSpPr>
        <p:pic>
          <p:nvPicPr>
            <p:cNvPr id="115" name="image.png" descr="image.png"/>
            <p:cNvPicPr>
              <a:picLocks noChangeAspect="1"/>
            </p:cNvPicPr>
            <p:nvPr/>
          </p:nvPicPr>
          <p:blipFill>
            <a:blip r:embed="rId3">
              <a:extLst/>
            </a:blip>
            <a:stretch>
              <a:fillRect/>
            </a:stretch>
          </p:blipFill>
          <p:spPr>
            <a:xfrm>
              <a:off x="-1" y="0"/>
              <a:ext cx="1566864" cy="1281113"/>
            </a:xfrm>
            <a:prstGeom prst="rect">
              <a:avLst/>
            </a:prstGeom>
            <a:ln w="12700" cap="flat">
              <a:noFill/>
              <a:miter lim="400000"/>
            </a:ln>
            <a:effectLst/>
          </p:spPr>
        </p:pic>
        <p:pic>
          <p:nvPicPr>
            <p:cNvPr id="116" name="image.png" descr="image.png"/>
            <p:cNvPicPr>
              <a:picLocks noChangeAspect="1"/>
            </p:cNvPicPr>
            <p:nvPr/>
          </p:nvPicPr>
          <p:blipFill>
            <a:blip r:embed="rId4">
              <a:extLst/>
            </a:blip>
            <a:srcRect l="0" t="0" r="0" b="6207"/>
            <a:stretch>
              <a:fillRect/>
            </a:stretch>
          </p:blipFill>
          <p:spPr>
            <a:xfrm>
              <a:off x="101332" y="44050"/>
              <a:ext cx="1365097" cy="865485"/>
            </a:xfrm>
            <a:prstGeom prst="rect">
              <a:avLst/>
            </a:prstGeom>
            <a:ln w="12700" cap="flat">
              <a:noFill/>
              <a:miter lim="400000"/>
            </a:ln>
            <a:effectLst/>
          </p:spPr>
        </p:pic>
      </p:grpSp>
      <p:sp>
        <p:nvSpPr>
          <p:cNvPr id="118" name="Structured data is data whose elements are addressable for effective analysis. It has been organized into a formatted repository that is typically a database. It concerns all data which can be stored in database SQL in a table with rows and columns. They"/>
          <p:cNvSpPr txBox="1"/>
          <p:nvPr/>
        </p:nvSpPr>
        <p:spPr>
          <a:xfrm>
            <a:off x="782637" y="1508125"/>
            <a:ext cx="10509251" cy="42734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400"/>
              </a:spcBef>
              <a:buSzPct val="100000"/>
              <a:buChar char="➢"/>
              <a:defRPr b="1">
                <a:solidFill>
                  <a:srgbClr val="00B050"/>
                </a:solidFill>
                <a:latin typeface="Arial"/>
                <a:ea typeface="Arial"/>
                <a:cs typeface="Arial"/>
                <a:sym typeface="Arial"/>
              </a:defRPr>
            </a:pPr>
            <a:r>
              <a:t>Structured data </a:t>
            </a:r>
            <a:r>
              <a:rPr>
                <a:solidFill>
                  <a:srgbClr val="FFFFFF"/>
                </a:solidFill>
              </a:rPr>
              <a:t>is data whose elements are addressable for effective analysis. It has been organized into a formatted repository that is typically a </a:t>
            </a:r>
            <a:r>
              <a:rPr u="sng">
                <a:solidFill>
                  <a:srgbClr val="FFFFFF"/>
                </a:solidFill>
              </a:rPr>
              <a:t>database</a:t>
            </a:r>
            <a:r>
              <a:rPr>
                <a:solidFill>
                  <a:srgbClr val="FFFFFF"/>
                </a:solidFill>
              </a:rPr>
              <a:t>. It concerns all data which can be stored in database SQL in a </a:t>
            </a:r>
            <a:r>
              <a:rPr u="sng">
                <a:solidFill>
                  <a:srgbClr val="FFFFFF"/>
                </a:solidFill>
              </a:rPr>
              <a:t>table</a:t>
            </a:r>
            <a:r>
              <a:rPr>
                <a:solidFill>
                  <a:srgbClr val="FFFFFF"/>
                </a:solidFill>
              </a:rPr>
              <a:t> with rows and columns. They have </a:t>
            </a:r>
            <a:r>
              <a:rPr u="sng">
                <a:solidFill>
                  <a:srgbClr val="FFFFFF"/>
                </a:solidFill>
              </a:rPr>
              <a:t>relational keys </a:t>
            </a:r>
            <a:r>
              <a:rPr>
                <a:solidFill>
                  <a:srgbClr val="FFFFFF"/>
                </a:solidFill>
              </a:rPr>
              <a:t>and can easily be mapped into </a:t>
            </a:r>
            <a:r>
              <a:rPr u="sng">
                <a:solidFill>
                  <a:srgbClr val="FFFFFF"/>
                </a:solidFill>
              </a:rPr>
              <a:t>pre-designed fields</a:t>
            </a:r>
            <a:r>
              <a:rPr>
                <a:solidFill>
                  <a:srgbClr val="FFFFFF"/>
                </a:solidFill>
              </a:rPr>
              <a:t>. </a:t>
            </a:r>
            <a:endParaRPr>
              <a:solidFill>
                <a:srgbClr val="FFFFFF"/>
              </a:solidFill>
            </a:endParaRPr>
          </a:p>
          <a:p>
            <a:pPr marL="342900" indent="-342900" defTabSz="1216025">
              <a:spcBef>
                <a:spcPts val="600"/>
              </a:spcBef>
              <a:buSzPct val="100000"/>
              <a:buChar char="➢"/>
              <a:defRPr b="1">
                <a:solidFill>
                  <a:srgbClr val="FFFFFF"/>
                </a:solidFill>
                <a:latin typeface="Arial"/>
                <a:ea typeface="Arial"/>
                <a:cs typeface="Arial"/>
                <a:sym typeface="Arial"/>
              </a:defRPr>
            </a:pPr>
          </a:p>
          <a:p>
            <a:pPr marL="342900" indent="-342900" defTabSz="1216025">
              <a:spcBef>
                <a:spcPts val="400"/>
              </a:spcBef>
              <a:buSzPct val="100000"/>
              <a:buChar char="➢"/>
              <a:defRPr b="1">
                <a:solidFill>
                  <a:srgbClr val="00B050"/>
                </a:solidFill>
                <a:latin typeface="Arial"/>
                <a:ea typeface="Arial"/>
                <a:cs typeface="Arial"/>
                <a:sym typeface="Arial"/>
              </a:defRPr>
            </a:pPr>
            <a:r>
              <a:t>Semi-structured data </a:t>
            </a:r>
            <a:r>
              <a:rPr>
                <a:solidFill>
                  <a:srgbClr val="FFFFFF"/>
                </a:solidFill>
              </a:rPr>
              <a:t>is information that does not reside in a relational database but that </a:t>
            </a:r>
            <a:r>
              <a:rPr u="sng">
                <a:solidFill>
                  <a:srgbClr val="FFFFFF"/>
                </a:solidFill>
              </a:rPr>
              <a:t>have some organizational properties</a:t>
            </a:r>
            <a:r>
              <a:rPr>
                <a:solidFill>
                  <a:srgbClr val="FFFFFF"/>
                </a:solidFill>
              </a:rPr>
              <a:t> that make it easier to analyze. With some process, you can store them in the relation database (it could be very hard for some kind of semi-structured data), but Semi-structured exists to ease space. (</a:t>
            </a:r>
            <a:r>
              <a:rPr u="sng">
                <a:solidFill>
                  <a:srgbClr val="FFFFFF"/>
                </a:solidFill>
              </a:rPr>
              <a:t>XML</a:t>
            </a:r>
            <a:r>
              <a:rPr>
                <a:solidFill>
                  <a:srgbClr val="FFFFFF"/>
                </a:solidFill>
              </a:rPr>
              <a:t>, </a:t>
            </a:r>
            <a:r>
              <a:rPr u="sng">
                <a:solidFill>
                  <a:srgbClr val="FFFFFF"/>
                </a:solidFill>
              </a:rPr>
              <a:t>Json</a:t>
            </a:r>
            <a:r>
              <a:rPr>
                <a:solidFill>
                  <a:srgbClr val="FFFFFF"/>
                </a:solidFill>
              </a:rPr>
              <a:t>)</a:t>
            </a:r>
            <a:endParaRPr>
              <a:solidFill>
                <a:srgbClr val="FFFFFF"/>
              </a:solidFill>
            </a:endParaRPr>
          </a:p>
          <a:p>
            <a:pPr marL="342900" indent="-342900" defTabSz="1216025">
              <a:spcBef>
                <a:spcPts val="600"/>
              </a:spcBef>
              <a:buSzPct val="100000"/>
              <a:buChar char="➢"/>
              <a:defRPr b="1">
                <a:solidFill>
                  <a:srgbClr val="FFFFFF"/>
                </a:solidFill>
                <a:latin typeface="Arial"/>
                <a:ea typeface="Arial"/>
                <a:cs typeface="Arial"/>
                <a:sym typeface="Arial"/>
              </a:defRPr>
            </a:pPr>
          </a:p>
          <a:p>
            <a:pPr marL="342900" indent="-342900" defTabSz="1216025">
              <a:spcBef>
                <a:spcPts val="400"/>
              </a:spcBef>
              <a:buSzPct val="100000"/>
              <a:buChar char="➢"/>
              <a:defRPr b="1">
                <a:solidFill>
                  <a:srgbClr val="00B050"/>
                </a:solidFill>
                <a:latin typeface="Arial"/>
                <a:ea typeface="Arial"/>
                <a:cs typeface="Arial"/>
                <a:sym typeface="Arial"/>
              </a:defRPr>
            </a:pPr>
            <a:r>
              <a:t>Unstructured data </a:t>
            </a:r>
            <a:r>
              <a:rPr>
                <a:solidFill>
                  <a:srgbClr val="FFFFFF"/>
                </a:solidFill>
              </a:rPr>
              <a:t>is data that is not organized in a pre-defined manner or does not have a pre-defined data model, thus it is not a good fit for a mainstream relational database. So for Unstructured data, there are alternative platforms for storing and managing, it is increasingly prevalent in IT systems and is used by organizations in a variety of business intelligence and analytics applications. (Word, PDF, Text, Social Media)</a:t>
            </a:r>
          </a:p>
        </p:txBody>
      </p:sp>
      <p:sp>
        <p:nvSpPr>
          <p:cNvPr id="119"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120" name="Structured, Semi-structured, and Unstructured Text"/>
          <p:cNvSpPr txBox="1"/>
          <p:nvPr/>
        </p:nvSpPr>
        <p:spPr>
          <a:xfrm>
            <a:off x="190182" y="207962"/>
            <a:ext cx="7550459"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Structured, Semi-structured, and Unstructured Text</a:t>
            </a:r>
          </a:p>
        </p:txBody>
      </p:sp>
      <p:sp>
        <p:nvSpPr>
          <p:cNvPr id="121"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122" name="Slide Number"/>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18" grpId="1"/>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6"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127" name="Structured, Semi-structured, and Unstructured Text"/>
          <p:cNvSpPr txBox="1"/>
          <p:nvPr/>
        </p:nvSpPr>
        <p:spPr>
          <a:xfrm>
            <a:off x="190182" y="207962"/>
            <a:ext cx="7550459"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Structured, Semi-structured, and Unstructured Text</a:t>
            </a:r>
          </a:p>
        </p:txBody>
      </p:sp>
      <p:sp>
        <p:nvSpPr>
          <p:cNvPr id="128"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129" name="Slide Number"/>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30" name="image.png" descr="image.png"/>
          <p:cNvPicPr>
            <a:picLocks noChangeAspect="1"/>
          </p:cNvPicPr>
          <p:nvPr/>
        </p:nvPicPr>
        <p:blipFill>
          <a:blip r:embed="rId2">
            <a:extLst/>
          </a:blip>
          <a:stretch>
            <a:fillRect/>
          </a:stretch>
        </p:blipFill>
        <p:spPr>
          <a:xfrm>
            <a:off x="1727200" y="803275"/>
            <a:ext cx="9188450" cy="5918200"/>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2"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135" name="Group"/>
          <p:cNvGrpSpPr/>
          <p:nvPr/>
        </p:nvGrpSpPr>
        <p:grpSpPr>
          <a:xfrm>
            <a:off x="10625137" y="5580062"/>
            <a:ext cx="1566864" cy="1281113"/>
            <a:chOff x="0" y="0"/>
            <a:chExt cx="1566862" cy="1281112"/>
          </a:xfrm>
        </p:grpSpPr>
        <p:pic>
          <p:nvPicPr>
            <p:cNvPr id="133"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134"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136" name="“IE process extracts useful structured information from the unstructured data in the form of entities, relations, objects, events and many other types.”"/>
          <p:cNvSpPr txBox="1"/>
          <p:nvPr/>
        </p:nvSpPr>
        <p:spPr>
          <a:xfrm>
            <a:off x="782637" y="1508125"/>
            <a:ext cx="10509251" cy="105682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6025">
              <a:spcBef>
                <a:spcPts val="500"/>
              </a:spcBef>
              <a:defRPr b="1" sz="2400">
                <a:solidFill>
                  <a:srgbClr val="00B050"/>
                </a:solidFill>
                <a:latin typeface="Arial"/>
                <a:ea typeface="Arial"/>
                <a:cs typeface="Arial"/>
                <a:sym typeface="Arial"/>
              </a:defRPr>
            </a:pPr>
            <a:r>
              <a:t>“</a:t>
            </a:r>
            <a:r>
              <a:rPr>
                <a:solidFill>
                  <a:srgbClr val="FFFFFF"/>
                </a:solidFill>
              </a:rPr>
              <a:t>IE process extracts useful </a:t>
            </a:r>
            <a:r>
              <a:rPr>
                <a:solidFill>
                  <a:srgbClr val="FF0000"/>
                </a:solidFill>
              </a:rPr>
              <a:t>structured information</a:t>
            </a:r>
            <a:r>
              <a:rPr>
                <a:solidFill>
                  <a:srgbClr val="FFFFFF"/>
                </a:solidFill>
              </a:rPr>
              <a:t> from the </a:t>
            </a:r>
            <a:r>
              <a:rPr>
                <a:solidFill>
                  <a:srgbClr val="FF0000"/>
                </a:solidFill>
              </a:rPr>
              <a:t>unstructured data </a:t>
            </a:r>
            <a:r>
              <a:rPr>
                <a:solidFill>
                  <a:srgbClr val="FFFFFF"/>
                </a:solidFill>
              </a:rPr>
              <a:t>in the form of entities, relations, objects, events and many other types.</a:t>
            </a:r>
            <a:r>
              <a:t>”</a:t>
            </a:r>
          </a:p>
        </p:txBody>
      </p:sp>
      <p:sp>
        <p:nvSpPr>
          <p:cNvPr id="137"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138" name="So… What is Information Extraction (IE)?"/>
          <p:cNvSpPr txBox="1"/>
          <p:nvPr/>
        </p:nvSpPr>
        <p:spPr>
          <a:xfrm>
            <a:off x="190182" y="207962"/>
            <a:ext cx="6064856"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So… What is Information Extraction (IE)?</a:t>
            </a:r>
          </a:p>
        </p:txBody>
      </p:sp>
      <p:sp>
        <p:nvSpPr>
          <p:cNvPr id="139"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140" name="Slide Number"/>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41" name="image.png" descr="image.png"/>
          <p:cNvPicPr>
            <a:picLocks noChangeAspect="1"/>
          </p:cNvPicPr>
          <p:nvPr/>
        </p:nvPicPr>
        <p:blipFill>
          <a:blip r:embed="rId4">
            <a:extLst/>
          </a:blip>
          <a:stretch>
            <a:fillRect/>
          </a:stretch>
        </p:blipFill>
        <p:spPr>
          <a:xfrm>
            <a:off x="2505075" y="2771775"/>
            <a:ext cx="5780088" cy="3192463"/>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16" presetID="4" grpId="2" fill="hold">
                                  <p:stCondLst>
                                    <p:cond delay="0"/>
                                  </p:stCondLst>
                                  <p:iterate type="el" backwards="0">
                                    <p:tmAbs val="0"/>
                                  </p:iterate>
                                  <p:childTnLst>
                                    <p:set>
                                      <p:cBhvr>
                                        <p:cTn id="10" fill="hold"/>
                                        <p:tgtEl>
                                          <p:spTgt spid="141"/>
                                        </p:tgtEl>
                                        <p:attrNameLst>
                                          <p:attrName>style.visibility</p:attrName>
                                        </p:attrNameLst>
                                      </p:cBhvr>
                                      <p:to>
                                        <p:strVal val="visible"/>
                                      </p:to>
                                    </p:set>
                                    <p:animEffect filter="box(in)" transition="in">
                                      <p:cBhvr>
                                        <p:cTn id="11" dur="2000"/>
                                        <p:tgtEl>
                                          <p:spTgt spid="1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36" grpId="1"/>
      <p:bldP build="whole" bldLvl="1" animBg="1" rev="0" advAuto="0" spid="141" grpId="2"/>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3"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146" name="Group"/>
          <p:cNvGrpSpPr/>
          <p:nvPr/>
        </p:nvGrpSpPr>
        <p:grpSpPr>
          <a:xfrm>
            <a:off x="10625137" y="5580062"/>
            <a:ext cx="1566864" cy="1281113"/>
            <a:chOff x="0" y="0"/>
            <a:chExt cx="1566862" cy="1281112"/>
          </a:xfrm>
        </p:grpSpPr>
        <p:pic>
          <p:nvPicPr>
            <p:cNvPr id="144"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145"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147"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148" name="What is Information Extraction?"/>
          <p:cNvSpPr txBox="1"/>
          <p:nvPr/>
        </p:nvSpPr>
        <p:spPr>
          <a:xfrm>
            <a:off x="190182" y="207962"/>
            <a:ext cx="4710223"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What is Information Extraction?</a:t>
            </a:r>
          </a:p>
        </p:txBody>
      </p:sp>
      <p:sp>
        <p:nvSpPr>
          <p:cNvPr id="149"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150"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51" name="Late 1970s within NLP field.…"/>
          <p:cNvSpPr txBox="1"/>
          <p:nvPr/>
        </p:nvSpPr>
        <p:spPr>
          <a:xfrm>
            <a:off x="906462" y="2132012"/>
            <a:ext cx="10379076" cy="291814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500"/>
              </a:spcBef>
              <a:buSzPct val="100000"/>
              <a:buChar char="➢"/>
              <a:defRPr b="1" sz="2400">
                <a:solidFill>
                  <a:srgbClr val="FFFFFF"/>
                </a:solidFill>
                <a:latin typeface="Arial"/>
                <a:ea typeface="Arial"/>
                <a:cs typeface="Arial"/>
                <a:sym typeface="Arial"/>
              </a:defRPr>
            </a:pPr>
            <a:r>
              <a:t>Late 1970s within NLP field.</a:t>
            </a:r>
          </a:p>
          <a:p>
            <a:pPr marL="342900" indent="-342900" defTabSz="1216025">
              <a:spcBef>
                <a:spcPts val="500"/>
              </a:spcBef>
              <a:buSzPct val="100000"/>
              <a:buChar char="➢"/>
              <a:defRPr b="1" sz="2400">
                <a:solidFill>
                  <a:srgbClr val="FFFFFF"/>
                </a:solidFill>
                <a:latin typeface="Arial"/>
                <a:ea typeface="Arial"/>
                <a:cs typeface="Arial"/>
                <a:sym typeface="Arial"/>
              </a:defRPr>
            </a:pPr>
            <a:r>
              <a:t>Find and extract automatically limited relevant parts of texts.</a:t>
            </a:r>
          </a:p>
          <a:p>
            <a:pPr marL="342900" indent="-342900" defTabSz="1216025">
              <a:spcBef>
                <a:spcPts val="500"/>
              </a:spcBef>
              <a:buSzPct val="100000"/>
              <a:buChar char="➢"/>
              <a:defRPr b="1" sz="2400">
                <a:solidFill>
                  <a:srgbClr val="FFFFFF"/>
                </a:solidFill>
                <a:latin typeface="Arial"/>
                <a:ea typeface="Arial"/>
                <a:cs typeface="Arial"/>
                <a:sym typeface="Arial"/>
              </a:defRPr>
            </a:pPr>
            <a:r>
              <a:t>Merge information from many pieces of text.</a:t>
            </a:r>
          </a:p>
          <a:p>
            <a:pPr marL="342900" indent="-342900" defTabSz="1216025">
              <a:spcBef>
                <a:spcPts val="500"/>
              </a:spcBef>
              <a:buSzPct val="100000"/>
              <a:buChar char="➢"/>
              <a:defRPr b="1" sz="2400">
                <a:solidFill>
                  <a:srgbClr val="FFFFFF"/>
                </a:solidFill>
                <a:latin typeface="Arial"/>
                <a:ea typeface="Arial"/>
                <a:cs typeface="Arial"/>
                <a:sym typeface="Arial"/>
              </a:defRPr>
            </a:pPr>
            <a:r>
              <a:t>Quite often in specialized domains.</a:t>
            </a:r>
          </a:p>
          <a:p>
            <a:pPr marL="342900" indent="-342900" defTabSz="1216025">
              <a:spcBef>
                <a:spcPts val="500"/>
              </a:spcBef>
              <a:buSzPct val="100000"/>
              <a:buChar char="➢"/>
              <a:defRPr b="1" sz="2400">
                <a:solidFill>
                  <a:srgbClr val="FFFFFF"/>
                </a:solidFill>
                <a:latin typeface="Arial"/>
                <a:ea typeface="Arial"/>
                <a:cs typeface="Arial"/>
                <a:sym typeface="Arial"/>
              </a:defRPr>
            </a:pPr>
            <a:r>
              <a:t>Also open information extraction</a:t>
            </a:r>
          </a:p>
          <a:p>
            <a:pPr marL="342900" indent="-342900" defTabSz="1216025">
              <a:spcBef>
                <a:spcPts val="500"/>
              </a:spcBef>
              <a:buSzPct val="100000"/>
              <a:buChar char="➢"/>
              <a:defRPr b="1" sz="2400">
                <a:solidFill>
                  <a:srgbClr val="FFFFFF"/>
                </a:solidFill>
                <a:latin typeface="Arial"/>
                <a:ea typeface="Arial"/>
                <a:cs typeface="Arial"/>
                <a:sym typeface="Arial"/>
              </a:defRPr>
            </a:pPr>
            <a:r>
              <a:t>Move from unstructured/semi-structured data to structured data</a:t>
            </a:r>
          </a:p>
          <a:p>
            <a:pPr marL="342900" indent="-342900" defTabSz="1216025">
              <a:spcBef>
                <a:spcPts val="500"/>
              </a:spcBef>
              <a:buSzPct val="100000"/>
              <a:buChar char="➢"/>
              <a:defRPr b="1" sz="2400">
                <a:solidFill>
                  <a:srgbClr val="FFFFFF"/>
                </a:solidFill>
                <a:latin typeface="Arial"/>
                <a:ea typeface="Arial"/>
                <a:cs typeface="Arial"/>
                <a:sym typeface="Arial"/>
              </a:defRPr>
            </a:pPr>
            <a:r>
              <a:t>Linguistic analysis and natural language understanding</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3"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156" name="Group"/>
          <p:cNvGrpSpPr/>
          <p:nvPr/>
        </p:nvGrpSpPr>
        <p:grpSpPr>
          <a:xfrm>
            <a:off x="10625137" y="5580062"/>
            <a:ext cx="1566864" cy="1281113"/>
            <a:chOff x="0" y="0"/>
            <a:chExt cx="1566862" cy="1281112"/>
          </a:xfrm>
        </p:grpSpPr>
        <p:pic>
          <p:nvPicPr>
            <p:cNvPr id="154"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155"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157"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158" name="Main goals of IE"/>
          <p:cNvSpPr txBox="1"/>
          <p:nvPr/>
        </p:nvSpPr>
        <p:spPr>
          <a:xfrm>
            <a:off x="190182" y="207962"/>
            <a:ext cx="284734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Main goals of IE	</a:t>
            </a:r>
          </a:p>
        </p:txBody>
      </p:sp>
      <p:sp>
        <p:nvSpPr>
          <p:cNvPr id="159"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160"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61" name="Fill a predefined “template” from raw text…"/>
          <p:cNvSpPr txBox="1"/>
          <p:nvPr/>
        </p:nvSpPr>
        <p:spPr>
          <a:xfrm>
            <a:off x="906462" y="1989137"/>
            <a:ext cx="10379076" cy="331031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500"/>
              </a:spcBef>
              <a:buSzPct val="100000"/>
              <a:buChar char="➢"/>
              <a:defRPr b="1" sz="2400">
                <a:solidFill>
                  <a:srgbClr val="FFFFFF"/>
                </a:solidFill>
                <a:latin typeface="Arial"/>
                <a:ea typeface="Arial"/>
                <a:cs typeface="Arial"/>
                <a:sym typeface="Arial"/>
              </a:defRPr>
            </a:pPr>
            <a:r>
              <a:t>Fill a predefined “template” from raw text </a:t>
            </a:r>
          </a:p>
          <a:p>
            <a:pPr marL="342900" indent="-342900" defTabSz="1216025">
              <a:spcBef>
                <a:spcPts val="600"/>
              </a:spcBef>
              <a:buSzPct val="100000"/>
              <a:buChar char="➢"/>
              <a:defRPr b="1" sz="2400">
                <a:solidFill>
                  <a:srgbClr val="FFFFFF"/>
                </a:solidFill>
                <a:latin typeface="Arial"/>
                <a:ea typeface="Arial"/>
                <a:cs typeface="Arial"/>
                <a:sym typeface="Arial"/>
              </a:defRPr>
            </a:pPr>
          </a:p>
          <a:p>
            <a:pPr marL="342900" indent="-342900" defTabSz="1216025">
              <a:spcBef>
                <a:spcPts val="500"/>
              </a:spcBef>
              <a:buSzPct val="100000"/>
              <a:buChar char="➢"/>
              <a:defRPr b="1" sz="2400">
                <a:solidFill>
                  <a:srgbClr val="FFFFFF"/>
                </a:solidFill>
                <a:latin typeface="Arial"/>
                <a:ea typeface="Arial"/>
                <a:cs typeface="Arial"/>
                <a:sym typeface="Arial"/>
              </a:defRPr>
            </a:pPr>
            <a:r>
              <a:t>Extract who did what to whom and when</a:t>
            </a:r>
          </a:p>
          <a:p>
            <a:pPr marL="342900" indent="-342900" defTabSz="1216025">
              <a:spcBef>
                <a:spcPts val="600"/>
              </a:spcBef>
              <a:buSzPct val="100000"/>
              <a:buChar char="➢"/>
              <a:defRPr b="1" sz="2400">
                <a:solidFill>
                  <a:srgbClr val="FFFFFF"/>
                </a:solidFill>
                <a:latin typeface="Arial"/>
                <a:ea typeface="Arial"/>
                <a:cs typeface="Arial"/>
                <a:sym typeface="Arial"/>
              </a:defRPr>
            </a:pPr>
          </a:p>
          <a:p>
            <a:pPr marL="342900" indent="-342900" defTabSz="1216025">
              <a:spcBef>
                <a:spcPts val="500"/>
              </a:spcBef>
              <a:buSzPct val="100000"/>
              <a:buChar char="➢"/>
              <a:defRPr b="1" sz="2400">
                <a:solidFill>
                  <a:srgbClr val="FFFFFF"/>
                </a:solidFill>
                <a:latin typeface="Arial"/>
                <a:ea typeface="Arial"/>
                <a:cs typeface="Arial"/>
                <a:sym typeface="Arial"/>
              </a:defRPr>
            </a:pPr>
            <a:r>
              <a:t>Organize information so that is useful to people</a:t>
            </a:r>
          </a:p>
          <a:p>
            <a:pPr marL="342900" indent="-342900" defTabSz="1216025">
              <a:spcBef>
                <a:spcPts val="600"/>
              </a:spcBef>
              <a:buSzPct val="100000"/>
              <a:buChar char="➢"/>
              <a:defRPr b="1" sz="2400">
                <a:solidFill>
                  <a:srgbClr val="FFFFFF"/>
                </a:solidFill>
                <a:latin typeface="Arial"/>
                <a:ea typeface="Arial"/>
                <a:cs typeface="Arial"/>
                <a:sym typeface="Arial"/>
              </a:defRPr>
            </a:pPr>
          </a:p>
          <a:p>
            <a:pPr marL="342900" indent="-342900" defTabSz="1216025">
              <a:spcBef>
                <a:spcPts val="500"/>
              </a:spcBef>
              <a:buSzPct val="100000"/>
              <a:buChar char="➢"/>
              <a:defRPr b="1" sz="2400">
                <a:solidFill>
                  <a:srgbClr val="FFFFFF"/>
                </a:solidFill>
                <a:latin typeface="Arial"/>
                <a:ea typeface="Arial"/>
                <a:cs typeface="Arial"/>
                <a:sym typeface="Arial"/>
              </a:defRPr>
            </a:pPr>
            <a:r>
              <a:t>Put information in a form that allows further inferences by computers</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3"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166" name="Group"/>
          <p:cNvGrpSpPr/>
          <p:nvPr/>
        </p:nvGrpSpPr>
        <p:grpSpPr>
          <a:xfrm>
            <a:off x="10625137" y="5580062"/>
            <a:ext cx="1566864" cy="1281113"/>
            <a:chOff x="0" y="0"/>
            <a:chExt cx="1566862" cy="1281112"/>
          </a:xfrm>
        </p:grpSpPr>
        <p:pic>
          <p:nvPicPr>
            <p:cNvPr id="164"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165"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167"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168" name="Information Extraction Applications"/>
          <p:cNvSpPr txBox="1"/>
          <p:nvPr/>
        </p:nvSpPr>
        <p:spPr>
          <a:xfrm>
            <a:off x="190182" y="207962"/>
            <a:ext cx="5258059"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Information Extraction Applications</a:t>
            </a:r>
          </a:p>
        </p:txBody>
      </p:sp>
      <p:sp>
        <p:nvSpPr>
          <p:cNvPr id="169"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170"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71" name="Question-Answering System…"/>
          <p:cNvSpPr txBox="1"/>
          <p:nvPr/>
        </p:nvSpPr>
        <p:spPr>
          <a:xfrm>
            <a:off x="838200" y="1946275"/>
            <a:ext cx="10306050" cy="27552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400"/>
              </a:spcBef>
              <a:buSzPct val="100000"/>
              <a:buChar char="➢"/>
              <a:defRPr b="1" sz="2000">
                <a:solidFill>
                  <a:srgbClr val="FFFFFF"/>
                </a:solidFill>
                <a:latin typeface="Arial"/>
                <a:ea typeface="Arial"/>
                <a:cs typeface="Arial"/>
                <a:sym typeface="Arial"/>
              </a:defRPr>
            </a:pPr>
            <a:r>
              <a:t>Question-Answering System</a:t>
            </a:r>
          </a:p>
          <a:p>
            <a:pPr marL="342900" indent="-342900" defTabSz="1216025">
              <a:spcBef>
                <a:spcPts val="400"/>
              </a:spcBef>
              <a:buSzPct val="100000"/>
              <a:buChar char="➢"/>
              <a:defRPr b="1" sz="2000">
                <a:solidFill>
                  <a:srgbClr val="FFFFFF"/>
                </a:solidFill>
                <a:latin typeface="Arial"/>
                <a:ea typeface="Arial"/>
                <a:cs typeface="Arial"/>
                <a:sym typeface="Arial"/>
              </a:defRPr>
            </a:pPr>
            <a:r>
              <a:t>User Profile Extraction</a:t>
            </a:r>
          </a:p>
          <a:p>
            <a:pPr marL="342900" indent="-342900" defTabSz="1216025">
              <a:spcBef>
                <a:spcPts val="400"/>
              </a:spcBef>
              <a:buSzPct val="100000"/>
              <a:buChar char="➢"/>
              <a:defRPr b="1" sz="2000">
                <a:solidFill>
                  <a:srgbClr val="FFFFFF"/>
                </a:solidFill>
                <a:latin typeface="Arial"/>
                <a:ea typeface="Arial"/>
                <a:cs typeface="Arial"/>
                <a:sym typeface="Arial"/>
              </a:defRPr>
            </a:pPr>
            <a:r>
              <a:t>Auto E-mail reply and Auto Calendar</a:t>
            </a:r>
          </a:p>
          <a:p>
            <a:pPr marL="342900" indent="-342900" defTabSz="1216025">
              <a:spcBef>
                <a:spcPts val="400"/>
              </a:spcBef>
              <a:buSzPct val="100000"/>
              <a:buChar char="➢"/>
              <a:defRPr b="1" sz="2000">
                <a:solidFill>
                  <a:srgbClr val="FFFFFF"/>
                </a:solidFill>
                <a:latin typeface="Arial"/>
                <a:ea typeface="Arial"/>
                <a:cs typeface="Arial"/>
                <a:sym typeface="Arial"/>
              </a:defRPr>
            </a:pPr>
            <a:r>
              <a:t>Resume Processing</a:t>
            </a:r>
          </a:p>
          <a:p>
            <a:pPr marL="342900" indent="-342900" defTabSz="1216025">
              <a:spcBef>
                <a:spcPts val="400"/>
              </a:spcBef>
              <a:buSzPct val="100000"/>
              <a:buChar char="➢"/>
              <a:defRPr b="1" sz="2000">
                <a:solidFill>
                  <a:srgbClr val="FFFFFF"/>
                </a:solidFill>
                <a:latin typeface="Arial"/>
                <a:ea typeface="Arial"/>
                <a:cs typeface="Arial"/>
                <a:sym typeface="Arial"/>
              </a:defRPr>
            </a:pPr>
            <a:r>
              <a:t>Classified Advertisements</a:t>
            </a:r>
          </a:p>
          <a:p>
            <a:pPr marL="342900" indent="-342900" defTabSz="1216025">
              <a:spcBef>
                <a:spcPts val="400"/>
              </a:spcBef>
              <a:buSzPct val="100000"/>
              <a:buChar char="➢"/>
              <a:defRPr b="1" sz="2000">
                <a:solidFill>
                  <a:srgbClr val="FFFFFF"/>
                </a:solidFill>
                <a:latin typeface="Arial"/>
                <a:ea typeface="Arial"/>
                <a:cs typeface="Arial"/>
                <a:sym typeface="Arial"/>
              </a:defRPr>
            </a:pPr>
            <a:r>
              <a:t>Customer Services</a:t>
            </a:r>
          </a:p>
          <a:p>
            <a:pPr marL="342900" indent="-342900" defTabSz="1216025">
              <a:spcBef>
                <a:spcPts val="400"/>
              </a:spcBef>
              <a:buSzPct val="100000"/>
              <a:buChar char="➢"/>
              <a:defRPr b="1" sz="2000">
                <a:solidFill>
                  <a:srgbClr val="FFFFFF"/>
                </a:solidFill>
                <a:latin typeface="Arial"/>
                <a:ea typeface="Arial"/>
                <a:cs typeface="Arial"/>
                <a:sym typeface="Arial"/>
              </a:defRPr>
            </a:pPr>
            <a:r>
              <a:t>Building citation database (scientific data mining)</a:t>
            </a:r>
          </a:p>
          <a:p>
            <a:pPr marL="342900" indent="-342900" defTabSz="1216025">
              <a:spcBef>
                <a:spcPts val="400"/>
              </a:spcBef>
              <a:buSzPct val="100000"/>
              <a:buChar char="➢"/>
              <a:defRPr b="1" sz="2000">
                <a:solidFill>
                  <a:srgbClr val="FFFFFF"/>
                </a:solidFill>
                <a:latin typeface="Arial"/>
                <a:ea typeface="Arial"/>
                <a:cs typeface="Arial"/>
                <a:sym typeface="Arial"/>
              </a:defRPr>
            </a:pPr>
            <a:r>
              <a:t>Social Analysis</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3" name="image.png" descr="image.png"/>
          <p:cNvPicPr>
            <a:picLocks noChangeAspect="1"/>
          </p:cNvPicPr>
          <p:nvPr/>
        </p:nvPicPr>
        <p:blipFill>
          <a:blip r:embed="rId2">
            <a:extLst/>
          </a:blip>
          <a:stretch>
            <a:fillRect/>
          </a:stretch>
        </p:blipFill>
        <p:spPr>
          <a:xfrm>
            <a:off x="2632075" y="354012"/>
            <a:ext cx="7481888" cy="3743326"/>
          </a:xfrm>
          <a:prstGeom prst="rect">
            <a:avLst/>
          </a:prstGeom>
          <a:ln w="12700">
            <a:miter lim="400000"/>
          </a:ln>
        </p:spPr>
      </p:pic>
      <p:sp>
        <p:nvSpPr>
          <p:cNvPr id="174" name="Rectangle"/>
          <p:cNvSpPr/>
          <p:nvPr/>
        </p:nvSpPr>
        <p:spPr>
          <a:xfrm>
            <a:off x="0" y="4902200"/>
            <a:ext cx="12192000" cy="1955800"/>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175" name="2"/>
          <p:cNvSpPr txBox="1"/>
          <p:nvPr/>
        </p:nvSpPr>
        <p:spPr>
          <a:xfrm>
            <a:off x="45720" y="1571625"/>
            <a:ext cx="1403985" cy="533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4400">
                <a:solidFill>
                  <a:srgbClr val="1C4885"/>
                </a:solidFill>
                <a:latin typeface="Microsoft YaHei"/>
                <a:ea typeface="Microsoft YaHei"/>
                <a:cs typeface="Microsoft YaHei"/>
                <a:sym typeface="Microsoft YaHei"/>
              </a:defRPr>
            </a:lvl1pPr>
          </a:lstStyle>
          <a:p>
            <a:pPr/>
            <a:r>
              <a:t>2</a:t>
            </a:r>
          </a:p>
        </p:txBody>
      </p:sp>
      <p:sp>
        <p:nvSpPr>
          <p:cNvPr id="176" name="IE Tasks"/>
          <p:cNvSpPr txBox="1"/>
          <p:nvPr/>
        </p:nvSpPr>
        <p:spPr>
          <a:xfrm>
            <a:off x="2369819" y="3883025"/>
            <a:ext cx="9776462" cy="9169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rgbClr val="1C4885"/>
                </a:solidFill>
                <a:latin typeface="Microsoft YaHei"/>
                <a:ea typeface="Microsoft YaHei"/>
                <a:cs typeface="Microsoft YaHei"/>
                <a:sym typeface="Microsoft YaHei"/>
              </a:defRPr>
            </a:lvl1pPr>
          </a:lstStyle>
          <a:p>
            <a:pPr/>
            <a:r>
              <a:t>IE Tasks</a:t>
            </a:r>
          </a:p>
        </p:txBody>
      </p:sp>
      <p:grpSp>
        <p:nvGrpSpPr>
          <p:cNvPr id="179" name="Group"/>
          <p:cNvGrpSpPr/>
          <p:nvPr/>
        </p:nvGrpSpPr>
        <p:grpSpPr>
          <a:xfrm>
            <a:off x="6804024" y="3178174"/>
            <a:ext cx="5578477" cy="3481389"/>
            <a:chOff x="0" y="0"/>
            <a:chExt cx="5578475" cy="3481387"/>
          </a:xfrm>
        </p:grpSpPr>
        <p:pic>
          <p:nvPicPr>
            <p:cNvPr id="177" name="image.png" descr="image.png"/>
            <p:cNvPicPr>
              <a:picLocks noChangeAspect="1"/>
            </p:cNvPicPr>
            <p:nvPr/>
          </p:nvPicPr>
          <p:blipFill>
            <a:blip r:embed="rId3">
              <a:extLst/>
            </a:blip>
            <a:srcRect l="0" t="0" r="0" b="52040"/>
            <a:stretch>
              <a:fillRect/>
            </a:stretch>
          </p:blipFill>
          <p:spPr>
            <a:xfrm>
              <a:off x="6646" y="0"/>
              <a:ext cx="5571830" cy="1720707"/>
            </a:xfrm>
            <a:prstGeom prst="rect">
              <a:avLst/>
            </a:prstGeom>
            <a:ln w="12700" cap="flat">
              <a:noFill/>
              <a:miter lim="400000"/>
            </a:ln>
            <a:effectLst/>
          </p:spPr>
        </p:pic>
        <p:pic>
          <p:nvPicPr>
            <p:cNvPr id="178" name="image.png" descr="image.png"/>
            <p:cNvPicPr>
              <a:picLocks noChangeAspect="1"/>
            </p:cNvPicPr>
            <p:nvPr/>
          </p:nvPicPr>
          <p:blipFill>
            <a:blip r:embed="rId3">
              <a:extLst/>
            </a:blip>
            <a:srcRect l="0" t="50633" r="2627" b="0"/>
            <a:stretch>
              <a:fillRect/>
            </a:stretch>
          </p:blipFill>
          <p:spPr>
            <a:xfrm>
              <a:off x="-1" y="1710252"/>
              <a:ext cx="5425464" cy="1771136"/>
            </a:xfrm>
            <a:prstGeom prst="rect">
              <a:avLst/>
            </a:prstGeom>
            <a:ln w="12700" cap="flat">
              <a:noFill/>
              <a:miter lim="400000"/>
            </a:ln>
            <a:effectLst/>
          </p:spPr>
        </p:pic>
      </p:grpSp>
      <p:sp>
        <p:nvSpPr>
          <p:cNvPr id="180" name="Shape"/>
          <p:cNvSpPr/>
          <p:nvPr/>
        </p:nvSpPr>
        <p:spPr>
          <a:xfrm>
            <a:off x="341312" y="4933950"/>
            <a:ext cx="2155826" cy="8810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528" y="0"/>
                </a:moveTo>
                <a:lnTo>
                  <a:pt x="11194" y="0"/>
                </a:lnTo>
                <a:lnTo>
                  <a:pt x="7934" y="7193"/>
                </a:lnTo>
                <a:lnTo>
                  <a:pt x="7934" y="7507"/>
                </a:lnTo>
                <a:lnTo>
                  <a:pt x="21600" y="7507"/>
                </a:lnTo>
                <a:lnTo>
                  <a:pt x="21600" y="21600"/>
                </a:lnTo>
                <a:lnTo>
                  <a:pt x="0" y="21600"/>
                </a:lnTo>
                <a:lnTo>
                  <a:pt x="0" y="8293"/>
                </a:lnTo>
                <a:lnTo>
                  <a:pt x="3528" y="0"/>
                </a:lnTo>
                <a:close/>
              </a:path>
            </a:pathLst>
          </a:custGeom>
          <a:solidFill>
            <a:srgbClr val="FFFFFF"/>
          </a:solidFill>
          <a:ln w="12700">
            <a:miter lim="400000"/>
          </a:ln>
        </p:spPr>
        <p:txBody>
          <a:bodyPr lIns="45719" rIns="45719"/>
          <a:lstStyle/>
          <a:p>
            <a:pPr/>
          </a:p>
        </p:txBody>
      </p:sp>
      <p:sp>
        <p:nvSpPr>
          <p:cNvPr id="181"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182"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187" name="Group"/>
          <p:cNvGrpSpPr/>
          <p:nvPr/>
        </p:nvGrpSpPr>
        <p:grpSpPr>
          <a:xfrm>
            <a:off x="10625137" y="5580062"/>
            <a:ext cx="1566864" cy="1281113"/>
            <a:chOff x="0" y="0"/>
            <a:chExt cx="1566862" cy="1281112"/>
          </a:xfrm>
        </p:grpSpPr>
        <p:pic>
          <p:nvPicPr>
            <p:cNvPr id="185"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186"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188"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189" name="IE tasks"/>
          <p:cNvSpPr txBox="1"/>
          <p:nvPr/>
        </p:nvSpPr>
        <p:spPr>
          <a:xfrm>
            <a:off x="190182" y="207962"/>
            <a:ext cx="1256368"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IE tasks</a:t>
            </a:r>
          </a:p>
        </p:txBody>
      </p:sp>
      <p:sp>
        <p:nvSpPr>
          <p:cNvPr id="190"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191"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92" name="image.png" descr="image.png"/>
          <p:cNvPicPr>
            <a:picLocks noChangeAspect="1"/>
          </p:cNvPicPr>
          <p:nvPr/>
        </p:nvPicPr>
        <p:blipFill>
          <a:blip r:embed="rId4">
            <a:extLst/>
          </a:blip>
          <a:stretch>
            <a:fillRect/>
          </a:stretch>
        </p:blipFill>
        <p:spPr>
          <a:xfrm>
            <a:off x="2487612" y="1527175"/>
            <a:ext cx="6586538" cy="4344988"/>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192"/>
                                        </p:tgtEl>
                                        <p:attrNameLst>
                                          <p:attrName>style.visibility</p:attrName>
                                        </p:attrNameLst>
                                      </p:cBhvr>
                                      <p:to>
                                        <p:strVal val="visible"/>
                                      </p:to>
                                    </p:set>
                                    <p:animEffect filter="fade" transition="in">
                                      <p:cBhvr>
                                        <p:cTn id="7" dur="2000"/>
                                        <p:tgtEl>
                                          <p:spTgt spid="1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92" grpId="1"/>
    </p:bld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197" name="Group"/>
          <p:cNvGrpSpPr/>
          <p:nvPr/>
        </p:nvGrpSpPr>
        <p:grpSpPr>
          <a:xfrm>
            <a:off x="10625137" y="5580062"/>
            <a:ext cx="1566864" cy="1281113"/>
            <a:chOff x="0" y="0"/>
            <a:chExt cx="1566862" cy="1281112"/>
          </a:xfrm>
        </p:grpSpPr>
        <p:pic>
          <p:nvPicPr>
            <p:cNvPr id="195" name="image.png" descr="image.png"/>
            <p:cNvPicPr>
              <a:picLocks noChangeAspect="1"/>
            </p:cNvPicPr>
            <p:nvPr/>
          </p:nvPicPr>
          <p:blipFill>
            <a:blip r:embed="rId3">
              <a:extLst/>
            </a:blip>
            <a:stretch>
              <a:fillRect/>
            </a:stretch>
          </p:blipFill>
          <p:spPr>
            <a:xfrm>
              <a:off x="-1" y="0"/>
              <a:ext cx="1566864" cy="1281113"/>
            </a:xfrm>
            <a:prstGeom prst="rect">
              <a:avLst/>
            </a:prstGeom>
            <a:ln w="12700" cap="flat">
              <a:noFill/>
              <a:miter lim="400000"/>
            </a:ln>
            <a:effectLst/>
          </p:spPr>
        </p:pic>
        <p:pic>
          <p:nvPicPr>
            <p:cNvPr id="196" name="image.png" descr="image.png"/>
            <p:cNvPicPr>
              <a:picLocks noChangeAspect="1"/>
            </p:cNvPicPr>
            <p:nvPr/>
          </p:nvPicPr>
          <p:blipFill>
            <a:blip r:embed="rId4">
              <a:extLst/>
            </a:blip>
            <a:srcRect l="0" t="0" r="0" b="6207"/>
            <a:stretch>
              <a:fillRect/>
            </a:stretch>
          </p:blipFill>
          <p:spPr>
            <a:xfrm>
              <a:off x="101332" y="44050"/>
              <a:ext cx="1365097" cy="865485"/>
            </a:xfrm>
            <a:prstGeom prst="rect">
              <a:avLst/>
            </a:prstGeom>
            <a:ln w="12700" cap="flat">
              <a:noFill/>
              <a:miter lim="400000"/>
            </a:ln>
            <a:effectLst/>
          </p:spPr>
        </p:pic>
      </p:grpSp>
      <p:sp>
        <p:nvSpPr>
          <p:cNvPr id="198" name="Extracting entities…"/>
          <p:cNvSpPr txBox="1"/>
          <p:nvPr/>
        </p:nvSpPr>
        <p:spPr>
          <a:xfrm>
            <a:off x="568325" y="1544637"/>
            <a:ext cx="11055350" cy="42001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500"/>
              </a:spcBef>
              <a:buSzPct val="100000"/>
              <a:buChar char="❖"/>
              <a:defRPr b="1" sz="2200">
                <a:solidFill>
                  <a:srgbClr val="FFFFFF"/>
                </a:solidFill>
                <a:latin typeface="Arial"/>
                <a:ea typeface="Arial"/>
                <a:cs typeface="Arial"/>
                <a:sym typeface="Arial"/>
              </a:defRPr>
            </a:pPr>
            <a:r>
              <a:t>Extracting entities </a:t>
            </a:r>
          </a:p>
          <a:p>
            <a:pPr lvl="1" marL="1085850" indent="-342900" defTabSz="1216025">
              <a:spcBef>
                <a:spcPts val="400"/>
              </a:spcBef>
              <a:buSzPct val="100000"/>
              <a:buChar char="❖"/>
              <a:defRPr b="1">
                <a:solidFill>
                  <a:srgbClr val="FFFFFF"/>
                </a:solidFill>
                <a:latin typeface="Arial"/>
                <a:ea typeface="Arial"/>
                <a:cs typeface="Arial"/>
                <a:sym typeface="Arial"/>
              </a:defRPr>
            </a:pPr>
            <a:r>
              <a:t>e.g.: companies, people, dollar amounts, key initiatives, etc.</a:t>
            </a:r>
          </a:p>
          <a:p>
            <a:pPr marL="342900" indent="-342900" defTabSz="1216025">
              <a:spcBef>
                <a:spcPts val="500"/>
              </a:spcBef>
              <a:buSzPct val="100000"/>
              <a:buChar char="❖"/>
              <a:defRPr b="1" sz="2200">
                <a:solidFill>
                  <a:srgbClr val="FFFFFF"/>
                </a:solidFill>
                <a:latin typeface="Arial"/>
                <a:ea typeface="Arial"/>
                <a:cs typeface="Arial"/>
                <a:sym typeface="Arial"/>
              </a:defRPr>
            </a:pPr>
            <a:r>
              <a:t>Clustering content </a:t>
            </a:r>
          </a:p>
          <a:p>
            <a:pPr lvl="1" marL="1085850" indent="-342900" defTabSz="1216025">
              <a:spcBef>
                <a:spcPts val="400"/>
              </a:spcBef>
              <a:buSzPct val="100000"/>
              <a:buChar char="❖"/>
              <a:defRPr b="1">
                <a:solidFill>
                  <a:srgbClr val="FFFFFF"/>
                </a:solidFill>
                <a:latin typeface="Arial"/>
                <a:ea typeface="Arial"/>
                <a:cs typeface="Arial"/>
                <a:sym typeface="Arial"/>
              </a:defRPr>
            </a:pPr>
            <a:r>
              <a:t>to identify main topics of discourse and/or to discover new topics</a:t>
            </a:r>
          </a:p>
          <a:p>
            <a:pPr marL="342900" indent="-342900" defTabSz="1216025">
              <a:spcBef>
                <a:spcPts val="500"/>
              </a:spcBef>
              <a:buSzPct val="100000"/>
              <a:buChar char="❖"/>
              <a:defRPr b="1" sz="2200">
                <a:solidFill>
                  <a:srgbClr val="FFFFFF"/>
                </a:solidFill>
                <a:latin typeface="Arial"/>
                <a:ea typeface="Arial"/>
                <a:cs typeface="Arial"/>
                <a:sym typeface="Arial"/>
              </a:defRPr>
            </a:pPr>
            <a:r>
              <a:t>Fact extraction </a:t>
            </a:r>
          </a:p>
          <a:p>
            <a:pPr lvl="1" marL="1085850" indent="-342900" defTabSz="1216025">
              <a:spcBef>
                <a:spcPts val="400"/>
              </a:spcBef>
              <a:buSzPct val="100000"/>
              <a:buChar char="❖"/>
              <a:defRPr b="1">
                <a:solidFill>
                  <a:srgbClr val="FFFFFF"/>
                </a:solidFill>
                <a:latin typeface="Arial"/>
                <a:ea typeface="Arial"/>
                <a:cs typeface="Arial"/>
                <a:sym typeface="Arial"/>
              </a:defRPr>
            </a:pPr>
            <a:r>
              <a:t>to fill databases with structured information for analysis, visualization, trending, or alerts</a:t>
            </a:r>
          </a:p>
          <a:p>
            <a:pPr marL="342900" indent="-342900" defTabSz="1216025">
              <a:spcBef>
                <a:spcPts val="500"/>
              </a:spcBef>
              <a:buSzPct val="100000"/>
              <a:buChar char="❖"/>
              <a:defRPr b="1" sz="2200">
                <a:solidFill>
                  <a:srgbClr val="FFFFFF"/>
                </a:solidFill>
                <a:latin typeface="Arial"/>
                <a:ea typeface="Arial"/>
                <a:cs typeface="Arial"/>
                <a:sym typeface="Arial"/>
              </a:defRPr>
            </a:pPr>
            <a:r>
              <a:t>Relationship extraction </a:t>
            </a:r>
          </a:p>
          <a:p>
            <a:pPr lvl="1" marL="1085850" indent="-342900" defTabSz="1216025">
              <a:spcBef>
                <a:spcPts val="400"/>
              </a:spcBef>
              <a:buSzPct val="100000"/>
              <a:buChar char="❖"/>
              <a:defRPr b="1">
                <a:solidFill>
                  <a:srgbClr val="FFFFFF"/>
                </a:solidFill>
                <a:latin typeface="Arial"/>
                <a:ea typeface="Arial"/>
                <a:cs typeface="Arial"/>
                <a:sym typeface="Arial"/>
              </a:defRPr>
            </a:pPr>
            <a:r>
              <a:t>to fill out graph databases to explore real-world relationships</a:t>
            </a:r>
          </a:p>
          <a:p>
            <a:pPr marL="342900" indent="-342900" defTabSz="1216025">
              <a:spcBef>
                <a:spcPts val="500"/>
              </a:spcBef>
              <a:buSzPct val="100000"/>
              <a:buChar char="❖"/>
              <a:defRPr b="1" sz="2200">
                <a:solidFill>
                  <a:srgbClr val="FFFFFF"/>
                </a:solidFill>
                <a:latin typeface="Arial"/>
                <a:ea typeface="Arial"/>
                <a:cs typeface="Arial"/>
                <a:sym typeface="Arial"/>
              </a:defRPr>
            </a:pPr>
            <a:r>
              <a:t>Categorizing content </a:t>
            </a:r>
          </a:p>
          <a:p>
            <a:pPr lvl="1" marL="1085850" indent="-342900" defTabSz="1216025">
              <a:spcBef>
                <a:spcPts val="400"/>
              </a:spcBef>
              <a:buSzPct val="100000"/>
              <a:buChar char="❖"/>
              <a:defRPr b="1">
                <a:solidFill>
                  <a:srgbClr val="FFFFFF"/>
                </a:solidFill>
                <a:latin typeface="Arial"/>
                <a:ea typeface="Arial"/>
                <a:cs typeface="Arial"/>
                <a:sym typeface="Arial"/>
              </a:defRPr>
            </a:pPr>
            <a:r>
              <a:t>by positive or negative (e.g. sentiment analysis), by function, intention or purpose, or by industry or other categories for analytics and trending</a:t>
            </a:r>
          </a:p>
        </p:txBody>
      </p:sp>
      <p:sp>
        <p:nvSpPr>
          <p:cNvPr id="199"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00" name="IE tasks"/>
          <p:cNvSpPr txBox="1"/>
          <p:nvPr/>
        </p:nvSpPr>
        <p:spPr>
          <a:xfrm>
            <a:off x="190182" y="207962"/>
            <a:ext cx="1256368"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IE tasks</a:t>
            </a:r>
          </a:p>
        </p:txBody>
      </p:sp>
      <p:sp>
        <p:nvSpPr>
          <p:cNvPr id="201"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202"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198"/>
                                        </p:tgtEl>
                                        <p:attrNameLst>
                                          <p:attrName>style.visibility</p:attrName>
                                        </p:attrNameLst>
                                      </p:cBhvr>
                                      <p:to>
                                        <p:strVal val="visible"/>
                                      </p:to>
                                    </p:set>
                                    <p:animEffect filter="blinds(horizontal)" transition="in">
                                      <p:cBhvr>
                                        <p:cTn id="7" dur="500"/>
                                        <p:tgtEl>
                                          <p:spTgt spid="1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98" grpId="1"/>
    </p:bld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206"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209" name="Group"/>
          <p:cNvGrpSpPr/>
          <p:nvPr/>
        </p:nvGrpSpPr>
        <p:grpSpPr>
          <a:xfrm>
            <a:off x="10625137" y="5580062"/>
            <a:ext cx="1566864" cy="1281113"/>
            <a:chOff x="0" y="0"/>
            <a:chExt cx="1566862" cy="1281112"/>
          </a:xfrm>
        </p:grpSpPr>
        <p:pic>
          <p:nvPicPr>
            <p:cNvPr id="207"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208"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210"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11" name="IE tasks – Basic extraction"/>
          <p:cNvSpPr txBox="1"/>
          <p:nvPr/>
        </p:nvSpPr>
        <p:spPr>
          <a:xfrm>
            <a:off x="190182" y="207962"/>
            <a:ext cx="3950009"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IE tasks – Basic extraction</a:t>
            </a:r>
          </a:p>
        </p:txBody>
      </p:sp>
      <p:sp>
        <p:nvSpPr>
          <p:cNvPr id="212"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213" name="Slide Number"/>
          <p:cNvSpPr txBox="1"/>
          <p:nvPr>
            <p:ph type="sldNum" sz="quarter" idx="2"/>
          </p:nvPr>
        </p:nvSpPr>
        <p:spPr>
          <a:xfrm>
            <a:off x="11170557" y="6414760"/>
            <a:ext cx="18324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14" name="Structure extraction – identifying fields and blocks of content based on tagging.…"/>
          <p:cNvSpPr txBox="1"/>
          <p:nvPr/>
        </p:nvSpPr>
        <p:spPr>
          <a:xfrm>
            <a:off x="477837" y="1670050"/>
            <a:ext cx="10147301" cy="353512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71450" indent="-171450" defTabSz="1216025">
              <a:spcBef>
                <a:spcPts val="300"/>
              </a:spcBef>
              <a:buSzPct val="100000"/>
              <a:buChar char="➢"/>
              <a:defRPr b="1" sz="1600">
                <a:solidFill>
                  <a:srgbClr val="00B050"/>
                </a:solidFill>
                <a:latin typeface="Arial"/>
                <a:ea typeface="Arial"/>
                <a:cs typeface="Arial"/>
                <a:sym typeface="Arial"/>
              </a:defRPr>
            </a:pPr>
            <a:r>
              <a:t>Structure extraction </a:t>
            </a:r>
            <a:r>
              <a:rPr>
                <a:solidFill>
                  <a:srgbClr val="FFFFFF"/>
                </a:solidFill>
              </a:rPr>
              <a:t>– identifying fields and blocks of content based on tagging.</a:t>
            </a:r>
            <a:endParaRPr>
              <a:solidFill>
                <a:srgbClr val="FFFFFF"/>
              </a:solidFill>
            </a:endParaRPr>
          </a:p>
          <a:p>
            <a:pPr marL="171450" indent="-171450" defTabSz="1216025">
              <a:spcBef>
                <a:spcPts val="300"/>
              </a:spcBef>
              <a:buSzPct val="100000"/>
              <a:buChar char="➢"/>
              <a:defRPr b="1" sz="1600">
                <a:solidFill>
                  <a:srgbClr val="00B050"/>
                </a:solidFill>
                <a:latin typeface="Arial"/>
                <a:ea typeface="Arial"/>
                <a:cs typeface="Arial"/>
                <a:sym typeface="Arial"/>
              </a:defRPr>
            </a:pPr>
            <a:r>
              <a:t>Identify and mark sentence, phrase, and paragraph boundaries </a:t>
            </a:r>
            <a:r>
              <a:rPr>
                <a:solidFill>
                  <a:srgbClr val="FFFFFF"/>
                </a:solidFill>
              </a:rPr>
              <a:t>– these markers are important when doing entity extraction and NLP since they serve as useful breaks within which analysis occurs.</a:t>
            </a:r>
            <a:endParaRPr>
              <a:solidFill>
                <a:srgbClr val="FFFFFF"/>
              </a:solidFill>
            </a:endParaRPr>
          </a:p>
          <a:p>
            <a:pPr marL="171450" indent="-171450" defTabSz="1216025">
              <a:spcBef>
                <a:spcPts val="300"/>
              </a:spcBef>
              <a:buSzPct val="100000"/>
              <a:buChar char="➢"/>
              <a:defRPr b="1" sz="1600">
                <a:solidFill>
                  <a:srgbClr val="00B050"/>
                </a:solidFill>
                <a:latin typeface="Arial"/>
                <a:ea typeface="Arial"/>
                <a:cs typeface="Arial"/>
                <a:sym typeface="Arial"/>
              </a:defRPr>
            </a:pPr>
            <a:r>
              <a:t>Language identification </a:t>
            </a:r>
            <a:r>
              <a:rPr>
                <a:solidFill>
                  <a:srgbClr val="FFFFFF"/>
                </a:solidFill>
              </a:rPr>
              <a:t>–</a:t>
            </a:r>
            <a:endParaRPr>
              <a:solidFill>
                <a:srgbClr val="FFFFFF"/>
              </a:solidFill>
            </a:endParaRPr>
          </a:p>
          <a:p>
            <a:pPr marL="171450" indent="-171450" defTabSz="1216025">
              <a:spcBef>
                <a:spcPts val="300"/>
              </a:spcBef>
              <a:buSzPct val="100000"/>
              <a:buChar char="➢"/>
              <a:defRPr b="1" sz="1600">
                <a:solidFill>
                  <a:srgbClr val="00B050"/>
                </a:solidFill>
                <a:latin typeface="Arial"/>
                <a:ea typeface="Arial"/>
                <a:cs typeface="Arial"/>
                <a:sym typeface="Arial"/>
              </a:defRPr>
            </a:pPr>
            <a:r>
              <a:t>Tokenization</a:t>
            </a:r>
            <a:r>
              <a:rPr>
                <a:solidFill>
                  <a:srgbClr val="FFFFFF"/>
                </a:solidFill>
              </a:rPr>
              <a:t> – to divide up character streams into tokens which can be used for further processing and understanding.</a:t>
            </a:r>
            <a:endParaRPr>
              <a:solidFill>
                <a:srgbClr val="FFFFFF"/>
              </a:solidFill>
            </a:endParaRPr>
          </a:p>
          <a:p>
            <a:pPr marL="171450" indent="-171450" defTabSz="1216025">
              <a:spcBef>
                <a:spcPts val="300"/>
              </a:spcBef>
              <a:buSzPct val="100000"/>
              <a:buChar char="➢"/>
              <a:defRPr b="1" sz="1600">
                <a:solidFill>
                  <a:srgbClr val="00B050"/>
                </a:solidFill>
                <a:latin typeface="Arial"/>
                <a:ea typeface="Arial"/>
                <a:cs typeface="Arial"/>
                <a:sym typeface="Arial"/>
              </a:defRPr>
            </a:pPr>
            <a:r>
              <a:t>Acronym normalization and tagging </a:t>
            </a:r>
            <a:r>
              <a:rPr>
                <a:solidFill>
                  <a:srgbClr val="FFFFFF"/>
                </a:solidFill>
              </a:rPr>
              <a:t>– acronyms can be specified as “I.B.M.” or “IBM” so these should be tagged and normalized.</a:t>
            </a:r>
            <a:endParaRPr>
              <a:solidFill>
                <a:srgbClr val="FFFFFF"/>
              </a:solidFill>
            </a:endParaRPr>
          </a:p>
          <a:p>
            <a:pPr marL="171450" indent="-171450" defTabSz="1216025">
              <a:spcBef>
                <a:spcPts val="300"/>
              </a:spcBef>
              <a:buSzPct val="100000"/>
              <a:buChar char="➢"/>
              <a:defRPr b="1" sz="1600">
                <a:solidFill>
                  <a:srgbClr val="00B050"/>
                </a:solidFill>
                <a:latin typeface="Arial"/>
                <a:ea typeface="Arial"/>
                <a:cs typeface="Arial"/>
                <a:sym typeface="Arial"/>
              </a:defRPr>
            </a:pPr>
            <a:r>
              <a:t>Lemmatization / Stemming </a:t>
            </a:r>
            <a:r>
              <a:rPr>
                <a:solidFill>
                  <a:srgbClr val="FFFFFF"/>
                </a:solidFill>
              </a:rPr>
              <a:t>– reduces word variations to simpler forms that may help increase the coverage of NLP utilities.</a:t>
            </a:r>
            <a:endParaRPr>
              <a:solidFill>
                <a:srgbClr val="FFFFFF"/>
              </a:solidFill>
            </a:endParaRPr>
          </a:p>
          <a:p>
            <a:pPr marL="171450" indent="-171450" defTabSz="1216025">
              <a:spcBef>
                <a:spcPts val="300"/>
              </a:spcBef>
              <a:buSzPct val="100000"/>
              <a:buChar char="➢"/>
              <a:defRPr b="1" sz="1600">
                <a:solidFill>
                  <a:srgbClr val="00B050"/>
                </a:solidFill>
                <a:latin typeface="Arial"/>
                <a:ea typeface="Arial"/>
                <a:cs typeface="Arial"/>
                <a:sym typeface="Arial"/>
              </a:defRPr>
            </a:pPr>
            <a:r>
              <a:t>De-compounding</a:t>
            </a:r>
            <a:r>
              <a:rPr>
                <a:solidFill>
                  <a:srgbClr val="FFFFFF"/>
                </a:solidFill>
              </a:rPr>
              <a:t> – for some languages (typically Germanic, Scandinavian, and Cyrillic languages), compound words will need to be split into smaller parts to allow for accurate NLP.</a:t>
            </a:r>
            <a:endParaRPr>
              <a:solidFill>
                <a:srgbClr val="FFFFFF"/>
              </a:solidFill>
            </a:endParaRPr>
          </a:p>
          <a:p>
            <a:pPr marL="171450" indent="-171450" defTabSz="1216025">
              <a:spcBef>
                <a:spcPts val="300"/>
              </a:spcBef>
              <a:buSzPct val="100000"/>
              <a:buChar char="➢"/>
              <a:defRPr b="1" sz="1600">
                <a:solidFill>
                  <a:srgbClr val="00B050"/>
                </a:solidFill>
                <a:latin typeface="Arial"/>
                <a:ea typeface="Arial"/>
                <a:cs typeface="Arial"/>
                <a:sym typeface="Arial"/>
              </a:defRPr>
            </a:pPr>
            <a:r>
              <a:t>Phrase extraction </a:t>
            </a:r>
            <a:r>
              <a:rPr>
                <a:solidFill>
                  <a:srgbClr val="FFFFFF"/>
                </a:solidFill>
              </a:rPr>
              <a:t>– extracts sequences of tokens (phrases) that have a strong meaning which is independent of the words when treated separately. </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219" name="Group"/>
          <p:cNvGrpSpPr/>
          <p:nvPr/>
        </p:nvGrpSpPr>
        <p:grpSpPr>
          <a:xfrm>
            <a:off x="10625137" y="5580062"/>
            <a:ext cx="1566864" cy="1281113"/>
            <a:chOff x="0" y="0"/>
            <a:chExt cx="1566862" cy="1281112"/>
          </a:xfrm>
        </p:grpSpPr>
        <p:pic>
          <p:nvPicPr>
            <p:cNvPr id="217"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218"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220"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21" name="IE tasks – Macro versus Micro"/>
          <p:cNvSpPr txBox="1"/>
          <p:nvPr/>
        </p:nvSpPr>
        <p:spPr>
          <a:xfrm>
            <a:off x="190182" y="207962"/>
            <a:ext cx="4458108"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IE tasks – Macro versus Micro</a:t>
            </a:r>
          </a:p>
        </p:txBody>
      </p:sp>
      <p:sp>
        <p:nvSpPr>
          <p:cNvPr id="222"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223"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24" name="Macro Understanding – provides a general understanding of the document as a whole or a collect of documents as a whole.…"/>
          <p:cNvSpPr txBox="1"/>
          <p:nvPr/>
        </p:nvSpPr>
        <p:spPr>
          <a:xfrm>
            <a:off x="1022350" y="2001837"/>
            <a:ext cx="10147300" cy="259745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71450" indent="-171450" defTabSz="1216025">
              <a:spcBef>
                <a:spcPts val="600"/>
              </a:spcBef>
              <a:buSzPct val="100000"/>
              <a:buChar char="➢"/>
              <a:defRPr b="1" sz="2800">
                <a:solidFill>
                  <a:srgbClr val="00B050"/>
                </a:solidFill>
                <a:latin typeface="Arial"/>
                <a:ea typeface="Arial"/>
                <a:cs typeface="Arial"/>
                <a:sym typeface="Arial"/>
              </a:defRPr>
            </a:pPr>
            <a:r>
              <a:t>Macro Understanding – </a:t>
            </a:r>
            <a:r>
              <a:rPr>
                <a:solidFill>
                  <a:srgbClr val="FFFFFF"/>
                </a:solidFill>
              </a:rPr>
              <a:t>provides a general understanding of the document as a whole or a collect of documents as a whole.</a:t>
            </a:r>
            <a:endParaRPr>
              <a:solidFill>
                <a:srgbClr val="FFFFFF"/>
              </a:solidFill>
            </a:endParaRPr>
          </a:p>
          <a:p>
            <a:pPr marL="171450" indent="-171450" defTabSz="1216025">
              <a:spcBef>
                <a:spcPts val="600"/>
              </a:spcBef>
              <a:buSzPct val="100000"/>
              <a:buChar char="➢"/>
              <a:defRPr b="1" sz="2800">
                <a:solidFill>
                  <a:srgbClr val="FFFFFF"/>
                </a:solidFill>
                <a:latin typeface="Arial"/>
                <a:ea typeface="Arial"/>
                <a:cs typeface="Arial"/>
                <a:sym typeface="Arial"/>
              </a:defRPr>
            </a:pPr>
          </a:p>
          <a:p>
            <a:pPr marL="171450" indent="-171450" defTabSz="1216025">
              <a:spcBef>
                <a:spcPts val="600"/>
              </a:spcBef>
              <a:buSzPct val="100000"/>
              <a:buChar char="➢"/>
              <a:defRPr b="1" sz="2800">
                <a:solidFill>
                  <a:srgbClr val="00B050"/>
                </a:solidFill>
                <a:latin typeface="Arial"/>
                <a:ea typeface="Arial"/>
                <a:cs typeface="Arial"/>
                <a:sym typeface="Arial"/>
              </a:defRPr>
            </a:pPr>
            <a:r>
              <a:t>Micro Understanding – </a:t>
            </a:r>
            <a:r>
              <a:rPr>
                <a:solidFill>
                  <a:srgbClr val="FFFFFF"/>
                </a:solidFill>
              </a:rPr>
              <a:t>extracts understanding from individual phrases or sentences.</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6"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229" name="Group"/>
          <p:cNvGrpSpPr/>
          <p:nvPr/>
        </p:nvGrpSpPr>
        <p:grpSpPr>
          <a:xfrm>
            <a:off x="10625137" y="5580062"/>
            <a:ext cx="1566864" cy="1281113"/>
            <a:chOff x="0" y="0"/>
            <a:chExt cx="1566862" cy="1281112"/>
          </a:xfrm>
        </p:grpSpPr>
        <p:pic>
          <p:nvPicPr>
            <p:cNvPr id="227"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228"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230"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31" name="IE tasks – Macro Understanding (the whole document or collection)"/>
          <p:cNvSpPr txBox="1"/>
          <p:nvPr/>
        </p:nvSpPr>
        <p:spPr>
          <a:xfrm>
            <a:off x="190182" y="207962"/>
            <a:ext cx="9859229"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IE tasks – Macro Understanding (the whole document or collection)</a:t>
            </a:r>
          </a:p>
        </p:txBody>
      </p:sp>
      <p:sp>
        <p:nvSpPr>
          <p:cNvPr id="232"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233"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34" name="Classifying / categorizing / organizing records…"/>
          <p:cNvSpPr txBox="1"/>
          <p:nvPr/>
        </p:nvSpPr>
        <p:spPr>
          <a:xfrm>
            <a:off x="758825" y="1817687"/>
            <a:ext cx="10147300" cy="34003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71450" indent="-171450" defTabSz="1216025">
              <a:spcBef>
                <a:spcPts val="400"/>
              </a:spcBef>
              <a:buSzPct val="100000"/>
              <a:buChar char="➢"/>
              <a:defRPr b="1" sz="2000">
                <a:solidFill>
                  <a:srgbClr val="FFFFFF"/>
                </a:solidFill>
                <a:latin typeface="Arial"/>
                <a:ea typeface="Arial"/>
                <a:cs typeface="Arial"/>
                <a:sym typeface="Arial"/>
              </a:defRPr>
            </a:pPr>
            <a:r>
              <a:t>Classifying / categorizing / organizing records</a:t>
            </a:r>
          </a:p>
          <a:p>
            <a:pPr marL="171450" indent="-171450" defTabSz="1216025">
              <a:spcBef>
                <a:spcPts val="400"/>
              </a:spcBef>
              <a:buSzPct val="100000"/>
              <a:buChar char="➢"/>
              <a:defRPr b="1" sz="2000">
                <a:solidFill>
                  <a:srgbClr val="FFFFFF"/>
                </a:solidFill>
                <a:latin typeface="Arial"/>
                <a:ea typeface="Arial"/>
                <a:cs typeface="Arial"/>
                <a:sym typeface="Arial"/>
              </a:defRPr>
            </a:pPr>
            <a:r>
              <a:t>Clustering records</a:t>
            </a:r>
          </a:p>
          <a:p>
            <a:pPr marL="171450" indent="-171450" defTabSz="1216025">
              <a:spcBef>
                <a:spcPts val="400"/>
              </a:spcBef>
              <a:buSzPct val="100000"/>
              <a:buChar char="➢"/>
              <a:defRPr b="1" sz="2000">
                <a:solidFill>
                  <a:srgbClr val="FFFFFF"/>
                </a:solidFill>
                <a:latin typeface="Arial"/>
                <a:ea typeface="Arial"/>
                <a:cs typeface="Arial"/>
                <a:sym typeface="Arial"/>
              </a:defRPr>
            </a:pPr>
            <a:r>
              <a:t>Extracting topics</a:t>
            </a:r>
          </a:p>
          <a:p>
            <a:pPr marL="171450" indent="-171450" defTabSz="1216025">
              <a:spcBef>
                <a:spcPts val="400"/>
              </a:spcBef>
              <a:buSzPct val="100000"/>
              <a:buChar char="➢"/>
              <a:defRPr b="1" sz="2000">
                <a:solidFill>
                  <a:srgbClr val="FFFFFF"/>
                </a:solidFill>
                <a:latin typeface="Arial"/>
                <a:ea typeface="Arial"/>
                <a:cs typeface="Arial"/>
                <a:sym typeface="Arial"/>
              </a:defRPr>
            </a:pPr>
            <a:r>
              <a:t>General sentiment analysis</a:t>
            </a:r>
          </a:p>
          <a:p>
            <a:pPr marL="171450" indent="-171450" defTabSz="1216025">
              <a:spcBef>
                <a:spcPts val="400"/>
              </a:spcBef>
              <a:buSzPct val="100000"/>
              <a:buChar char="➢"/>
              <a:defRPr b="1" sz="2000">
                <a:solidFill>
                  <a:srgbClr val="FFFFFF"/>
                </a:solidFill>
                <a:latin typeface="Arial"/>
                <a:ea typeface="Arial"/>
                <a:cs typeface="Arial"/>
                <a:sym typeface="Arial"/>
              </a:defRPr>
            </a:pPr>
            <a:r>
              <a:t>Record similarity, including finding similarities between different types of records (for example, job descriptions to résumés / CVs)</a:t>
            </a:r>
          </a:p>
          <a:p>
            <a:pPr marL="171450" indent="-171450" defTabSz="1216025">
              <a:spcBef>
                <a:spcPts val="400"/>
              </a:spcBef>
              <a:buSzPct val="100000"/>
              <a:buChar char="➢"/>
              <a:defRPr b="1" sz="2000">
                <a:solidFill>
                  <a:srgbClr val="FFFFFF"/>
                </a:solidFill>
                <a:latin typeface="Arial"/>
                <a:ea typeface="Arial"/>
                <a:cs typeface="Arial"/>
                <a:sym typeface="Arial"/>
              </a:defRPr>
            </a:pPr>
            <a:r>
              <a:t>Keyword / keyphrase extraction</a:t>
            </a:r>
          </a:p>
          <a:p>
            <a:pPr marL="171450" indent="-171450" defTabSz="1216025">
              <a:spcBef>
                <a:spcPts val="400"/>
              </a:spcBef>
              <a:buSzPct val="100000"/>
              <a:buChar char="➢"/>
              <a:defRPr b="1" sz="2000">
                <a:solidFill>
                  <a:srgbClr val="FFFFFF"/>
                </a:solidFill>
                <a:latin typeface="Arial"/>
                <a:ea typeface="Arial"/>
                <a:cs typeface="Arial"/>
                <a:sym typeface="Arial"/>
              </a:defRPr>
            </a:pPr>
            <a:r>
              <a:t>Duplicate and near-duplicate detection</a:t>
            </a:r>
          </a:p>
          <a:p>
            <a:pPr marL="171450" indent="-171450" defTabSz="1216025">
              <a:spcBef>
                <a:spcPts val="400"/>
              </a:spcBef>
              <a:buSzPct val="100000"/>
              <a:buChar char="➢"/>
              <a:defRPr b="1" sz="2000">
                <a:solidFill>
                  <a:srgbClr val="FFFFFF"/>
                </a:solidFill>
                <a:latin typeface="Arial"/>
                <a:ea typeface="Arial"/>
                <a:cs typeface="Arial"/>
                <a:sym typeface="Arial"/>
              </a:defRPr>
            </a:pPr>
            <a:r>
              <a:t>Summarization / key sentence extraction</a:t>
            </a:r>
          </a:p>
          <a:p>
            <a:pPr marL="171450" indent="-171450" defTabSz="1216025">
              <a:spcBef>
                <a:spcPts val="400"/>
              </a:spcBef>
              <a:buSzPct val="100000"/>
              <a:buChar char="➢"/>
              <a:defRPr b="1" sz="2000">
                <a:solidFill>
                  <a:srgbClr val="FFFFFF"/>
                </a:solidFill>
                <a:latin typeface="Arial"/>
                <a:ea typeface="Arial"/>
                <a:cs typeface="Arial"/>
                <a:sym typeface="Arial"/>
              </a:defRPr>
            </a:pPr>
            <a:r>
              <a:t>Semantic search</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6"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239" name="Group"/>
          <p:cNvGrpSpPr/>
          <p:nvPr/>
        </p:nvGrpSpPr>
        <p:grpSpPr>
          <a:xfrm>
            <a:off x="10625137" y="5580062"/>
            <a:ext cx="1566864" cy="1281113"/>
            <a:chOff x="0" y="0"/>
            <a:chExt cx="1566862" cy="1281112"/>
          </a:xfrm>
        </p:grpSpPr>
        <p:pic>
          <p:nvPicPr>
            <p:cNvPr id="237"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238"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240"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41" name="IE tasks – Micro Understanding (extracting facts, entities, and relationships)"/>
          <p:cNvSpPr txBox="1"/>
          <p:nvPr/>
        </p:nvSpPr>
        <p:spPr>
          <a:xfrm>
            <a:off x="190182" y="207962"/>
            <a:ext cx="11113404"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IE tasks – Micro Understanding (extracting facts, entities, and relationships)</a:t>
            </a:r>
          </a:p>
        </p:txBody>
      </p:sp>
      <p:sp>
        <p:nvSpPr>
          <p:cNvPr id="242"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243"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44" name="Extracting acronyms and their definitions…"/>
          <p:cNvSpPr txBox="1"/>
          <p:nvPr/>
        </p:nvSpPr>
        <p:spPr>
          <a:xfrm>
            <a:off x="776287" y="1811337"/>
            <a:ext cx="10147301" cy="363183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71450" indent="-171450" defTabSz="1216025">
              <a:spcBef>
                <a:spcPts val="400"/>
              </a:spcBef>
              <a:buSzPct val="100000"/>
              <a:buChar char="➢"/>
              <a:defRPr b="1">
                <a:solidFill>
                  <a:srgbClr val="FFFFFF"/>
                </a:solidFill>
                <a:latin typeface="Arial"/>
                <a:ea typeface="Arial"/>
                <a:cs typeface="Arial"/>
                <a:sym typeface="Arial"/>
              </a:defRPr>
            </a:pPr>
            <a:r>
              <a:t>Extracting acronyms and their definitions</a:t>
            </a:r>
          </a:p>
          <a:p>
            <a:pPr marL="171450" indent="-171450" defTabSz="1216025">
              <a:spcBef>
                <a:spcPts val="400"/>
              </a:spcBef>
              <a:buSzPct val="100000"/>
              <a:buChar char="➢"/>
              <a:defRPr b="1">
                <a:solidFill>
                  <a:srgbClr val="FFFFFF"/>
                </a:solidFill>
                <a:latin typeface="Arial"/>
                <a:ea typeface="Arial"/>
                <a:cs typeface="Arial"/>
                <a:sym typeface="Arial"/>
              </a:defRPr>
            </a:pPr>
            <a:r>
              <a:t>Extracting citation references to other documents</a:t>
            </a:r>
          </a:p>
          <a:p>
            <a:pPr marL="171450" indent="-171450" defTabSz="1216025">
              <a:spcBef>
                <a:spcPts val="400"/>
              </a:spcBef>
              <a:buSzPct val="100000"/>
              <a:buChar char="➢"/>
              <a:defRPr b="1">
                <a:solidFill>
                  <a:srgbClr val="FFFFFF"/>
                </a:solidFill>
                <a:latin typeface="Arial"/>
                <a:ea typeface="Arial"/>
                <a:cs typeface="Arial"/>
                <a:sym typeface="Arial"/>
              </a:defRPr>
            </a:pPr>
            <a:r>
              <a:t>Extracting key entities (people, company, product, dollar amounts, locations, dates). Note that extracting “key” entities is not the same as extracting “all” entities (there is some discrimination implied in selecting what entity is ‘key’)</a:t>
            </a:r>
          </a:p>
          <a:p>
            <a:pPr marL="171450" indent="-171450" defTabSz="1216025">
              <a:spcBef>
                <a:spcPts val="400"/>
              </a:spcBef>
              <a:buSzPct val="100000"/>
              <a:buChar char="➢"/>
              <a:defRPr b="1">
                <a:solidFill>
                  <a:srgbClr val="FFFFFF"/>
                </a:solidFill>
                <a:latin typeface="Arial"/>
                <a:ea typeface="Arial"/>
                <a:cs typeface="Arial"/>
                <a:sym typeface="Arial"/>
              </a:defRPr>
            </a:pPr>
            <a:r>
              <a:t>Extracting facts and metadata from full text when it’s not separately tagged in the web page</a:t>
            </a:r>
          </a:p>
          <a:p>
            <a:pPr marL="171450" indent="-171450" defTabSz="1216025">
              <a:spcBef>
                <a:spcPts val="400"/>
              </a:spcBef>
              <a:buSzPct val="100000"/>
              <a:buChar char="➢"/>
              <a:defRPr b="1">
                <a:solidFill>
                  <a:srgbClr val="FFFFFF"/>
                </a:solidFill>
                <a:latin typeface="Arial"/>
                <a:ea typeface="Arial"/>
                <a:cs typeface="Arial"/>
                <a:sym typeface="Arial"/>
              </a:defRPr>
            </a:pPr>
            <a:r>
              <a:t>Extracting entities with sentiment (e.g. positive sentiment towards a product or company)</a:t>
            </a:r>
          </a:p>
          <a:p>
            <a:pPr marL="171450" indent="-171450" defTabSz="1216025">
              <a:spcBef>
                <a:spcPts val="400"/>
              </a:spcBef>
              <a:buSzPct val="100000"/>
              <a:buChar char="➢"/>
              <a:defRPr b="1">
                <a:solidFill>
                  <a:srgbClr val="FFFFFF"/>
                </a:solidFill>
                <a:latin typeface="Arial"/>
                <a:ea typeface="Arial"/>
                <a:cs typeface="Arial"/>
                <a:sym typeface="Arial"/>
              </a:defRPr>
            </a:pPr>
            <a:r>
              <a:t>Identifying relationships such as business relationships, target / action / perpetrator, etc.</a:t>
            </a:r>
          </a:p>
          <a:p>
            <a:pPr marL="171450" indent="-171450" defTabSz="1216025">
              <a:spcBef>
                <a:spcPts val="400"/>
              </a:spcBef>
              <a:buSzPct val="100000"/>
              <a:buChar char="➢"/>
              <a:defRPr b="1">
                <a:solidFill>
                  <a:srgbClr val="FFFFFF"/>
                </a:solidFill>
                <a:latin typeface="Arial"/>
                <a:ea typeface="Arial"/>
                <a:cs typeface="Arial"/>
                <a:sym typeface="Arial"/>
              </a:defRPr>
            </a:pPr>
            <a:r>
              <a:t>Identifying compliance violations, statements which show possible violation of rules</a:t>
            </a:r>
          </a:p>
          <a:p>
            <a:pPr marL="171450" indent="-171450" defTabSz="1216025">
              <a:spcBef>
                <a:spcPts val="400"/>
              </a:spcBef>
              <a:buSzPct val="100000"/>
              <a:buChar char="➢"/>
              <a:defRPr b="1">
                <a:solidFill>
                  <a:srgbClr val="FFFFFF"/>
                </a:solidFill>
                <a:latin typeface="Arial"/>
                <a:ea typeface="Arial"/>
                <a:cs typeface="Arial"/>
                <a:sym typeface="Arial"/>
              </a:defRPr>
            </a:pPr>
            <a:r>
              <a:t>Extracting statements with attribution, for example, quotes from people (who said what)</a:t>
            </a:r>
          </a:p>
          <a:p>
            <a:pPr marL="171450" indent="-171450" defTabSz="1216025">
              <a:spcBef>
                <a:spcPts val="400"/>
              </a:spcBef>
              <a:buSzPct val="100000"/>
              <a:buChar char="➢"/>
              <a:defRPr b="1">
                <a:solidFill>
                  <a:srgbClr val="FFFFFF"/>
                </a:solidFill>
                <a:latin typeface="Arial"/>
                <a:ea typeface="Arial"/>
                <a:cs typeface="Arial"/>
                <a:sym typeface="Arial"/>
              </a:defRPr>
            </a:pPr>
            <a:r>
              <a:t>Extracting rules or requirements, such as contract terms, regulation requirements, etc.</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46" name="image.png" descr="image.png"/>
          <p:cNvPicPr>
            <a:picLocks noChangeAspect="1"/>
          </p:cNvPicPr>
          <p:nvPr/>
        </p:nvPicPr>
        <p:blipFill>
          <a:blip r:embed="rId2">
            <a:extLst/>
          </a:blip>
          <a:stretch>
            <a:fillRect/>
          </a:stretch>
        </p:blipFill>
        <p:spPr>
          <a:xfrm>
            <a:off x="2632075" y="354012"/>
            <a:ext cx="7481888" cy="3743326"/>
          </a:xfrm>
          <a:prstGeom prst="rect">
            <a:avLst/>
          </a:prstGeom>
          <a:ln w="12700">
            <a:miter lim="400000"/>
          </a:ln>
        </p:spPr>
      </p:pic>
      <p:sp>
        <p:nvSpPr>
          <p:cNvPr id="247" name="Rectangle"/>
          <p:cNvSpPr/>
          <p:nvPr/>
        </p:nvSpPr>
        <p:spPr>
          <a:xfrm>
            <a:off x="0" y="4902200"/>
            <a:ext cx="12192000" cy="1955800"/>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48" name="3"/>
          <p:cNvSpPr txBox="1"/>
          <p:nvPr/>
        </p:nvSpPr>
        <p:spPr>
          <a:xfrm>
            <a:off x="45720" y="1571625"/>
            <a:ext cx="1403985" cy="533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4400">
                <a:solidFill>
                  <a:srgbClr val="1C4885"/>
                </a:solidFill>
                <a:latin typeface="Microsoft YaHei"/>
                <a:ea typeface="Microsoft YaHei"/>
                <a:cs typeface="Microsoft YaHei"/>
                <a:sym typeface="Microsoft YaHei"/>
              </a:defRPr>
            </a:lvl1pPr>
          </a:lstStyle>
          <a:p>
            <a:pPr/>
            <a:r>
              <a:t>3</a:t>
            </a:r>
          </a:p>
        </p:txBody>
      </p:sp>
      <p:sp>
        <p:nvSpPr>
          <p:cNvPr id="249" name="IE Techniques"/>
          <p:cNvSpPr txBox="1"/>
          <p:nvPr/>
        </p:nvSpPr>
        <p:spPr>
          <a:xfrm>
            <a:off x="2544444" y="3832225"/>
            <a:ext cx="9930449" cy="9169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rgbClr val="1C4885"/>
                </a:solidFill>
                <a:latin typeface="Microsoft YaHei"/>
                <a:ea typeface="Microsoft YaHei"/>
                <a:cs typeface="Microsoft YaHei"/>
                <a:sym typeface="Microsoft YaHei"/>
              </a:defRPr>
            </a:lvl1pPr>
          </a:lstStyle>
          <a:p>
            <a:pPr/>
            <a:r>
              <a:t>IE Techniques</a:t>
            </a:r>
          </a:p>
        </p:txBody>
      </p:sp>
      <p:grpSp>
        <p:nvGrpSpPr>
          <p:cNvPr id="252" name="Group"/>
          <p:cNvGrpSpPr/>
          <p:nvPr/>
        </p:nvGrpSpPr>
        <p:grpSpPr>
          <a:xfrm>
            <a:off x="6804024" y="3178174"/>
            <a:ext cx="5578477" cy="3481389"/>
            <a:chOff x="0" y="0"/>
            <a:chExt cx="5578475" cy="3481387"/>
          </a:xfrm>
        </p:grpSpPr>
        <p:pic>
          <p:nvPicPr>
            <p:cNvPr id="250" name="image.png" descr="image.png"/>
            <p:cNvPicPr>
              <a:picLocks noChangeAspect="1"/>
            </p:cNvPicPr>
            <p:nvPr/>
          </p:nvPicPr>
          <p:blipFill>
            <a:blip r:embed="rId3">
              <a:extLst/>
            </a:blip>
            <a:srcRect l="0" t="0" r="0" b="52040"/>
            <a:stretch>
              <a:fillRect/>
            </a:stretch>
          </p:blipFill>
          <p:spPr>
            <a:xfrm>
              <a:off x="6646" y="0"/>
              <a:ext cx="5571830" cy="1720707"/>
            </a:xfrm>
            <a:prstGeom prst="rect">
              <a:avLst/>
            </a:prstGeom>
            <a:ln w="12700" cap="flat">
              <a:noFill/>
              <a:miter lim="400000"/>
            </a:ln>
            <a:effectLst/>
          </p:spPr>
        </p:pic>
        <p:pic>
          <p:nvPicPr>
            <p:cNvPr id="251" name="image.png" descr="image.png"/>
            <p:cNvPicPr>
              <a:picLocks noChangeAspect="1"/>
            </p:cNvPicPr>
            <p:nvPr/>
          </p:nvPicPr>
          <p:blipFill>
            <a:blip r:embed="rId3">
              <a:extLst/>
            </a:blip>
            <a:srcRect l="0" t="50633" r="2627" b="0"/>
            <a:stretch>
              <a:fillRect/>
            </a:stretch>
          </p:blipFill>
          <p:spPr>
            <a:xfrm>
              <a:off x="-1" y="1710252"/>
              <a:ext cx="5425464" cy="1771136"/>
            </a:xfrm>
            <a:prstGeom prst="rect">
              <a:avLst/>
            </a:prstGeom>
            <a:ln w="12700" cap="flat">
              <a:noFill/>
              <a:miter lim="400000"/>
            </a:ln>
            <a:effectLst/>
          </p:spPr>
        </p:pic>
      </p:grpSp>
      <p:sp>
        <p:nvSpPr>
          <p:cNvPr id="253" name="Shape"/>
          <p:cNvSpPr/>
          <p:nvPr/>
        </p:nvSpPr>
        <p:spPr>
          <a:xfrm>
            <a:off x="428625" y="4899025"/>
            <a:ext cx="2082800" cy="9763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292" y="0"/>
                </a:moveTo>
                <a:lnTo>
                  <a:pt x="21600" y="0"/>
                </a:lnTo>
                <a:lnTo>
                  <a:pt x="21401" y="4389"/>
                </a:lnTo>
                <a:cubicBezTo>
                  <a:pt x="20954" y="9033"/>
                  <a:pt x="19837" y="12819"/>
                  <a:pt x="18050" y="15746"/>
                </a:cubicBezTo>
                <a:cubicBezTo>
                  <a:pt x="15667" y="19649"/>
                  <a:pt x="12491" y="21600"/>
                  <a:pt x="8521" y="21600"/>
                </a:cubicBezTo>
                <a:cubicBezTo>
                  <a:pt x="4995" y="21600"/>
                  <a:pt x="2154" y="20357"/>
                  <a:pt x="0" y="17870"/>
                </a:cubicBezTo>
                <a:lnTo>
                  <a:pt x="0" y="4415"/>
                </a:lnTo>
                <a:cubicBezTo>
                  <a:pt x="2287" y="8066"/>
                  <a:pt x="4958" y="9892"/>
                  <a:pt x="8012" y="9892"/>
                </a:cubicBezTo>
                <a:cubicBezTo>
                  <a:pt x="9945" y="9892"/>
                  <a:pt x="11480" y="8979"/>
                  <a:pt x="12616" y="7154"/>
                </a:cubicBezTo>
                <a:cubicBezTo>
                  <a:pt x="13468" y="5784"/>
                  <a:pt x="14001" y="3982"/>
                  <a:pt x="14214" y="1745"/>
                </a:cubicBezTo>
                <a:lnTo>
                  <a:pt x="14292" y="0"/>
                </a:lnTo>
                <a:close/>
              </a:path>
            </a:pathLst>
          </a:custGeom>
          <a:solidFill>
            <a:srgbClr val="FFFFFF"/>
          </a:solidFill>
          <a:ln w="12700">
            <a:miter lim="400000"/>
          </a:ln>
        </p:spPr>
        <p:txBody>
          <a:bodyPr lIns="45719" rIns="45719"/>
          <a:lstStyle/>
          <a:p>
            <a:pPr/>
          </a:p>
        </p:txBody>
      </p:sp>
      <p:sp>
        <p:nvSpPr>
          <p:cNvPr id="254"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255"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7"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260" name="Group"/>
          <p:cNvGrpSpPr/>
          <p:nvPr/>
        </p:nvGrpSpPr>
        <p:grpSpPr>
          <a:xfrm>
            <a:off x="571500" y="1697037"/>
            <a:ext cx="546100" cy="541338"/>
            <a:chOff x="0" y="0"/>
            <a:chExt cx="546100" cy="541337"/>
          </a:xfrm>
        </p:grpSpPr>
        <p:sp>
          <p:nvSpPr>
            <p:cNvPr id="258" name="Shape"/>
            <p:cNvSpPr/>
            <p:nvPr/>
          </p:nvSpPr>
          <p:spPr>
            <a:xfrm>
              <a:off x="132892" y="133904"/>
              <a:ext cx="280316" cy="2735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073" y="229"/>
                  </a:moveTo>
                  <a:cubicBezTo>
                    <a:pt x="21073" y="229"/>
                    <a:pt x="18063" y="1069"/>
                    <a:pt x="15654" y="1069"/>
                  </a:cubicBezTo>
                  <a:cubicBezTo>
                    <a:pt x="13246" y="1069"/>
                    <a:pt x="10762" y="0"/>
                    <a:pt x="10762" y="0"/>
                  </a:cubicBezTo>
                  <a:cubicBezTo>
                    <a:pt x="10762" y="0"/>
                    <a:pt x="8354" y="1069"/>
                    <a:pt x="5946" y="1069"/>
                  </a:cubicBezTo>
                  <a:cubicBezTo>
                    <a:pt x="3462" y="1069"/>
                    <a:pt x="527" y="229"/>
                    <a:pt x="527" y="229"/>
                  </a:cubicBezTo>
                  <a:cubicBezTo>
                    <a:pt x="527" y="229"/>
                    <a:pt x="0" y="1984"/>
                    <a:pt x="0" y="4580"/>
                  </a:cubicBezTo>
                  <a:cubicBezTo>
                    <a:pt x="0" y="11372"/>
                    <a:pt x="2107" y="15723"/>
                    <a:pt x="5043" y="18089"/>
                  </a:cubicBezTo>
                  <a:cubicBezTo>
                    <a:pt x="6774" y="19539"/>
                    <a:pt x="9633" y="21600"/>
                    <a:pt x="10762" y="21600"/>
                  </a:cubicBezTo>
                  <a:cubicBezTo>
                    <a:pt x="11967" y="21600"/>
                    <a:pt x="14751" y="19539"/>
                    <a:pt x="16557" y="18089"/>
                  </a:cubicBezTo>
                  <a:cubicBezTo>
                    <a:pt x="19417" y="15647"/>
                    <a:pt x="21600" y="11372"/>
                    <a:pt x="21600" y="4580"/>
                  </a:cubicBezTo>
                  <a:cubicBezTo>
                    <a:pt x="21600" y="1984"/>
                    <a:pt x="21073" y="229"/>
                    <a:pt x="21073" y="229"/>
                  </a:cubicBezTo>
                  <a:close/>
                </a:path>
              </a:pathLst>
            </a:custGeom>
            <a:solidFill>
              <a:srgbClr val="FFFFFF"/>
            </a:solidFill>
            <a:ln w="12700" cap="flat">
              <a:noFill/>
              <a:miter lim="400000"/>
            </a:ln>
            <a:effectLst/>
          </p:spPr>
          <p:txBody>
            <a:bodyPr wrap="square" lIns="45719" tIns="45719" rIns="45719" bIns="45719" numCol="1" anchor="t">
              <a:noAutofit/>
            </a:bodyPr>
            <a:lstStyle/>
            <a:p>
              <a:pPr/>
            </a:p>
          </p:txBody>
        </p:sp>
        <p:sp>
          <p:nvSpPr>
            <p:cNvPr id="259" name="Circle"/>
            <p:cNvSpPr/>
            <p:nvPr/>
          </p:nvSpPr>
          <p:spPr>
            <a:xfrm>
              <a:off x="0" y="0"/>
              <a:ext cx="546100" cy="541338"/>
            </a:xfrm>
            <a:prstGeom prst="ellipse">
              <a:avLst/>
            </a:prstGeom>
            <a:noFill/>
            <a:ln w="25400" cap="flat">
              <a:solidFill>
                <a:srgbClr val="FFFFFF"/>
              </a:solidFill>
              <a:prstDash val="solid"/>
              <a:round/>
            </a:ln>
            <a:effectLst/>
          </p:spPr>
          <p:txBody>
            <a:bodyPr wrap="square" lIns="45719" tIns="45719" rIns="45719" bIns="45719" numCol="1" anchor="ctr">
              <a:noAutofit/>
            </a:bodyPr>
            <a:lstStyle/>
            <a:p>
              <a:pPr algn="ctr">
                <a:defRPr>
                  <a:solidFill>
                    <a:srgbClr val="FFFFFF"/>
                  </a:solidFill>
                </a:defRPr>
              </a:pPr>
            </a:p>
          </p:txBody>
        </p:sp>
      </p:grpSp>
      <p:grpSp>
        <p:nvGrpSpPr>
          <p:cNvPr id="263" name="Group"/>
          <p:cNvGrpSpPr/>
          <p:nvPr/>
        </p:nvGrpSpPr>
        <p:grpSpPr>
          <a:xfrm>
            <a:off x="10625137" y="5580062"/>
            <a:ext cx="1566864" cy="1281113"/>
            <a:chOff x="0" y="0"/>
            <a:chExt cx="1566862" cy="1281112"/>
          </a:xfrm>
        </p:grpSpPr>
        <p:pic>
          <p:nvPicPr>
            <p:cNvPr id="261"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262"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264" name="Rule-based Approach"/>
          <p:cNvSpPr txBox="1"/>
          <p:nvPr/>
        </p:nvSpPr>
        <p:spPr>
          <a:xfrm>
            <a:off x="1270000" y="1798637"/>
            <a:ext cx="8440738" cy="2837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400"/>
              </a:spcBef>
              <a:defRPr b="1" sz="2000">
                <a:solidFill>
                  <a:srgbClr val="FFFFFF"/>
                </a:solidFill>
                <a:latin typeface="Arial"/>
                <a:ea typeface="Arial"/>
                <a:cs typeface="Arial"/>
                <a:sym typeface="Arial"/>
              </a:defRPr>
            </a:lvl1pPr>
          </a:lstStyle>
          <a:p>
            <a:pPr/>
            <a:r>
              <a:t>Rule-based Approach</a:t>
            </a:r>
          </a:p>
        </p:txBody>
      </p:sp>
      <p:sp>
        <p:nvSpPr>
          <p:cNvPr id="265"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66" name="IE Techniques"/>
          <p:cNvSpPr txBox="1"/>
          <p:nvPr/>
        </p:nvSpPr>
        <p:spPr>
          <a:xfrm>
            <a:off x="190182" y="207962"/>
            <a:ext cx="2147998"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IE Techniques</a:t>
            </a:r>
          </a:p>
        </p:txBody>
      </p:sp>
      <p:grpSp>
        <p:nvGrpSpPr>
          <p:cNvPr id="269" name="Group"/>
          <p:cNvGrpSpPr/>
          <p:nvPr/>
        </p:nvGrpSpPr>
        <p:grpSpPr>
          <a:xfrm>
            <a:off x="571500" y="2581275"/>
            <a:ext cx="546100" cy="539750"/>
            <a:chOff x="0" y="0"/>
            <a:chExt cx="546100" cy="539750"/>
          </a:xfrm>
        </p:grpSpPr>
        <p:sp>
          <p:nvSpPr>
            <p:cNvPr id="267" name="Shape"/>
            <p:cNvSpPr/>
            <p:nvPr/>
          </p:nvSpPr>
          <p:spPr>
            <a:xfrm>
              <a:off x="132892" y="133511"/>
              <a:ext cx="280316" cy="2727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073" y="229"/>
                  </a:moveTo>
                  <a:cubicBezTo>
                    <a:pt x="21073" y="229"/>
                    <a:pt x="18063" y="1069"/>
                    <a:pt x="15654" y="1069"/>
                  </a:cubicBezTo>
                  <a:cubicBezTo>
                    <a:pt x="13246" y="1069"/>
                    <a:pt x="10762" y="0"/>
                    <a:pt x="10762" y="0"/>
                  </a:cubicBezTo>
                  <a:cubicBezTo>
                    <a:pt x="10762" y="0"/>
                    <a:pt x="8354" y="1069"/>
                    <a:pt x="5946" y="1069"/>
                  </a:cubicBezTo>
                  <a:cubicBezTo>
                    <a:pt x="3462" y="1069"/>
                    <a:pt x="527" y="229"/>
                    <a:pt x="527" y="229"/>
                  </a:cubicBezTo>
                  <a:cubicBezTo>
                    <a:pt x="527" y="229"/>
                    <a:pt x="0" y="1984"/>
                    <a:pt x="0" y="4580"/>
                  </a:cubicBezTo>
                  <a:cubicBezTo>
                    <a:pt x="0" y="11372"/>
                    <a:pt x="2107" y="15723"/>
                    <a:pt x="5043" y="18089"/>
                  </a:cubicBezTo>
                  <a:cubicBezTo>
                    <a:pt x="6774" y="19539"/>
                    <a:pt x="9633" y="21600"/>
                    <a:pt x="10762" y="21600"/>
                  </a:cubicBezTo>
                  <a:cubicBezTo>
                    <a:pt x="11967" y="21600"/>
                    <a:pt x="14751" y="19539"/>
                    <a:pt x="16557" y="18089"/>
                  </a:cubicBezTo>
                  <a:cubicBezTo>
                    <a:pt x="19417" y="15647"/>
                    <a:pt x="21600" y="11372"/>
                    <a:pt x="21600" y="4580"/>
                  </a:cubicBezTo>
                  <a:cubicBezTo>
                    <a:pt x="21600" y="1984"/>
                    <a:pt x="21073" y="229"/>
                    <a:pt x="21073" y="229"/>
                  </a:cubicBezTo>
                  <a:close/>
                </a:path>
              </a:pathLst>
            </a:custGeom>
            <a:solidFill>
              <a:srgbClr val="FFFFFF"/>
            </a:solidFill>
            <a:ln w="12700" cap="flat">
              <a:noFill/>
              <a:miter lim="400000"/>
            </a:ln>
            <a:effectLst/>
          </p:spPr>
          <p:txBody>
            <a:bodyPr wrap="square" lIns="45719" tIns="45719" rIns="45719" bIns="45719" numCol="1" anchor="t">
              <a:noAutofit/>
            </a:bodyPr>
            <a:lstStyle/>
            <a:p>
              <a:pPr/>
            </a:p>
          </p:txBody>
        </p:sp>
        <p:sp>
          <p:nvSpPr>
            <p:cNvPr id="268" name="Circle"/>
            <p:cNvSpPr/>
            <p:nvPr/>
          </p:nvSpPr>
          <p:spPr>
            <a:xfrm>
              <a:off x="0" y="0"/>
              <a:ext cx="546100" cy="539750"/>
            </a:xfrm>
            <a:prstGeom prst="ellipse">
              <a:avLst/>
            </a:prstGeom>
            <a:noFill/>
            <a:ln w="25400" cap="flat">
              <a:solidFill>
                <a:srgbClr val="FFFFFF"/>
              </a:solidFill>
              <a:prstDash val="solid"/>
              <a:round/>
            </a:ln>
            <a:effectLst/>
          </p:spPr>
          <p:txBody>
            <a:bodyPr wrap="square" lIns="45719" tIns="45719" rIns="45719" bIns="45719" numCol="1" anchor="ctr">
              <a:noAutofit/>
            </a:bodyPr>
            <a:lstStyle/>
            <a:p>
              <a:pPr algn="ctr">
                <a:defRPr>
                  <a:solidFill>
                    <a:srgbClr val="FFFFFF"/>
                  </a:solidFill>
                </a:defRPr>
              </a:pPr>
            </a:p>
          </p:txBody>
        </p:sp>
      </p:grpSp>
      <p:sp>
        <p:nvSpPr>
          <p:cNvPr id="270" name="Supervised Learning"/>
          <p:cNvSpPr txBox="1"/>
          <p:nvPr/>
        </p:nvSpPr>
        <p:spPr>
          <a:xfrm>
            <a:off x="1255712" y="2711450"/>
            <a:ext cx="11082338" cy="2837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400"/>
              </a:spcBef>
              <a:defRPr b="1" sz="2000">
                <a:solidFill>
                  <a:srgbClr val="FFFFFF"/>
                </a:solidFill>
                <a:latin typeface="Arial"/>
                <a:ea typeface="Arial"/>
                <a:cs typeface="Arial"/>
                <a:sym typeface="Arial"/>
              </a:defRPr>
            </a:lvl1pPr>
          </a:lstStyle>
          <a:p>
            <a:pPr/>
            <a:r>
              <a:t>Supervised Learning</a:t>
            </a:r>
          </a:p>
        </p:txBody>
      </p:sp>
      <p:grpSp>
        <p:nvGrpSpPr>
          <p:cNvPr id="273" name="Group"/>
          <p:cNvGrpSpPr/>
          <p:nvPr/>
        </p:nvGrpSpPr>
        <p:grpSpPr>
          <a:xfrm>
            <a:off x="571500" y="3457575"/>
            <a:ext cx="546100" cy="541338"/>
            <a:chOff x="0" y="0"/>
            <a:chExt cx="546100" cy="541337"/>
          </a:xfrm>
        </p:grpSpPr>
        <p:sp>
          <p:nvSpPr>
            <p:cNvPr id="271" name="Shape"/>
            <p:cNvSpPr/>
            <p:nvPr/>
          </p:nvSpPr>
          <p:spPr>
            <a:xfrm>
              <a:off x="132892" y="133904"/>
              <a:ext cx="280316" cy="2735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073" y="229"/>
                  </a:moveTo>
                  <a:cubicBezTo>
                    <a:pt x="21073" y="229"/>
                    <a:pt x="18063" y="1069"/>
                    <a:pt x="15654" y="1069"/>
                  </a:cubicBezTo>
                  <a:cubicBezTo>
                    <a:pt x="13246" y="1069"/>
                    <a:pt x="10762" y="0"/>
                    <a:pt x="10762" y="0"/>
                  </a:cubicBezTo>
                  <a:cubicBezTo>
                    <a:pt x="10762" y="0"/>
                    <a:pt x="8354" y="1069"/>
                    <a:pt x="5946" y="1069"/>
                  </a:cubicBezTo>
                  <a:cubicBezTo>
                    <a:pt x="3462" y="1069"/>
                    <a:pt x="527" y="229"/>
                    <a:pt x="527" y="229"/>
                  </a:cubicBezTo>
                  <a:cubicBezTo>
                    <a:pt x="527" y="229"/>
                    <a:pt x="0" y="1984"/>
                    <a:pt x="0" y="4580"/>
                  </a:cubicBezTo>
                  <a:cubicBezTo>
                    <a:pt x="0" y="11372"/>
                    <a:pt x="2107" y="15723"/>
                    <a:pt x="5043" y="18089"/>
                  </a:cubicBezTo>
                  <a:cubicBezTo>
                    <a:pt x="6774" y="19539"/>
                    <a:pt x="9633" y="21600"/>
                    <a:pt x="10762" y="21600"/>
                  </a:cubicBezTo>
                  <a:cubicBezTo>
                    <a:pt x="11967" y="21600"/>
                    <a:pt x="14751" y="19539"/>
                    <a:pt x="16557" y="18089"/>
                  </a:cubicBezTo>
                  <a:cubicBezTo>
                    <a:pt x="19417" y="15647"/>
                    <a:pt x="21600" y="11372"/>
                    <a:pt x="21600" y="4580"/>
                  </a:cubicBezTo>
                  <a:cubicBezTo>
                    <a:pt x="21600" y="1984"/>
                    <a:pt x="21073" y="229"/>
                    <a:pt x="21073" y="229"/>
                  </a:cubicBezTo>
                  <a:close/>
                </a:path>
              </a:pathLst>
            </a:custGeom>
            <a:solidFill>
              <a:srgbClr val="FFFFFF"/>
            </a:solidFill>
            <a:ln w="12700" cap="flat">
              <a:noFill/>
              <a:miter lim="400000"/>
            </a:ln>
            <a:effectLst/>
          </p:spPr>
          <p:txBody>
            <a:bodyPr wrap="square" lIns="45719" tIns="45719" rIns="45719" bIns="45719" numCol="1" anchor="t">
              <a:noAutofit/>
            </a:bodyPr>
            <a:lstStyle/>
            <a:p>
              <a:pPr/>
            </a:p>
          </p:txBody>
        </p:sp>
        <p:sp>
          <p:nvSpPr>
            <p:cNvPr id="272" name="Circle"/>
            <p:cNvSpPr/>
            <p:nvPr/>
          </p:nvSpPr>
          <p:spPr>
            <a:xfrm>
              <a:off x="0" y="0"/>
              <a:ext cx="546100" cy="541338"/>
            </a:xfrm>
            <a:prstGeom prst="ellipse">
              <a:avLst/>
            </a:prstGeom>
            <a:noFill/>
            <a:ln w="25400" cap="flat">
              <a:solidFill>
                <a:srgbClr val="FFFFFF"/>
              </a:solidFill>
              <a:prstDash val="solid"/>
              <a:round/>
            </a:ln>
            <a:effectLst/>
          </p:spPr>
          <p:txBody>
            <a:bodyPr wrap="square" lIns="45719" tIns="45719" rIns="45719" bIns="45719" numCol="1" anchor="ctr">
              <a:noAutofit/>
            </a:bodyPr>
            <a:lstStyle/>
            <a:p>
              <a:pPr algn="ctr">
                <a:defRPr>
                  <a:solidFill>
                    <a:srgbClr val="FFFFFF"/>
                  </a:solidFill>
                </a:defRPr>
              </a:pPr>
            </a:p>
          </p:txBody>
        </p:sp>
      </p:grpSp>
      <p:sp>
        <p:nvSpPr>
          <p:cNvPr id="274" name="Semi-supervised Learning"/>
          <p:cNvSpPr txBox="1"/>
          <p:nvPr/>
        </p:nvSpPr>
        <p:spPr>
          <a:xfrm>
            <a:off x="1270000" y="3559175"/>
            <a:ext cx="8440738" cy="2837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400"/>
              </a:spcBef>
              <a:defRPr b="1" sz="2000">
                <a:solidFill>
                  <a:srgbClr val="FFFFFF"/>
                </a:solidFill>
                <a:latin typeface="Arial"/>
                <a:ea typeface="Arial"/>
                <a:cs typeface="Arial"/>
                <a:sym typeface="Arial"/>
              </a:defRPr>
            </a:lvl1pPr>
          </a:lstStyle>
          <a:p>
            <a:pPr/>
            <a:r>
              <a:t>Semi-supervised Learning</a:t>
            </a:r>
          </a:p>
        </p:txBody>
      </p:sp>
      <p:grpSp>
        <p:nvGrpSpPr>
          <p:cNvPr id="277" name="Group"/>
          <p:cNvGrpSpPr/>
          <p:nvPr/>
        </p:nvGrpSpPr>
        <p:grpSpPr>
          <a:xfrm>
            <a:off x="574675" y="4286250"/>
            <a:ext cx="546100" cy="541338"/>
            <a:chOff x="0" y="0"/>
            <a:chExt cx="546100" cy="541337"/>
          </a:xfrm>
        </p:grpSpPr>
        <p:sp>
          <p:nvSpPr>
            <p:cNvPr id="275" name="Shape"/>
            <p:cNvSpPr/>
            <p:nvPr/>
          </p:nvSpPr>
          <p:spPr>
            <a:xfrm>
              <a:off x="132892" y="133904"/>
              <a:ext cx="280316" cy="2735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073" y="229"/>
                  </a:moveTo>
                  <a:cubicBezTo>
                    <a:pt x="21073" y="229"/>
                    <a:pt x="18063" y="1069"/>
                    <a:pt x="15654" y="1069"/>
                  </a:cubicBezTo>
                  <a:cubicBezTo>
                    <a:pt x="13246" y="1069"/>
                    <a:pt x="10762" y="0"/>
                    <a:pt x="10762" y="0"/>
                  </a:cubicBezTo>
                  <a:cubicBezTo>
                    <a:pt x="10762" y="0"/>
                    <a:pt x="8354" y="1069"/>
                    <a:pt x="5946" y="1069"/>
                  </a:cubicBezTo>
                  <a:cubicBezTo>
                    <a:pt x="3462" y="1069"/>
                    <a:pt x="527" y="229"/>
                    <a:pt x="527" y="229"/>
                  </a:cubicBezTo>
                  <a:cubicBezTo>
                    <a:pt x="527" y="229"/>
                    <a:pt x="0" y="1984"/>
                    <a:pt x="0" y="4580"/>
                  </a:cubicBezTo>
                  <a:cubicBezTo>
                    <a:pt x="0" y="11372"/>
                    <a:pt x="2107" y="15723"/>
                    <a:pt x="5043" y="18089"/>
                  </a:cubicBezTo>
                  <a:cubicBezTo>
                    <a:pt x="6774" y="19539"/>
                    <a:pt x="9633" y="21600"/>
                    <a:pt x="10762" y="21600"/>
                  </a:cubicBezTo>
                  <a:cubicBezTo>
                    <a:pt x="11967" y="21600"/>
                    <a:pt x="14751" y="19539"/>
                    <a:pt x="16557" y="18089"/>
                  </a:cubicBezTo>
                  <a:cubicBezTo>
                    <a:pt x="19417" y="15647"/>
                    <a:pt x="21600" y="11372"/>
                    <a:pt x="21600" y="4580"/>
                  </a:cubicBezTo>
                  <a:cubicBezTo>
                    <a:pt x="21600" y="1984"/>
                    <a:pt x="21073" y="229"/>
                    <a:pt x="21073" y="229"/>
                  </a:cubicBezTo>
                  <a:close/>
                </a:path>
              </a:pathLst>
            </a:custGeom>
            <a:solidFill>
              <a:srgbClr val="FFFFFF"/>
            </a:solidFill>
            <a:ln w="12700" cap="flat">
              <a:noFill/>
              <a:miter lim="400000"/>
            </a:ln>
            <a:effectLst/>
          </p:spPr>
          <p:txBody>
            <a:bodyPr wrap="square" lIns="45719" tIns="45719" rIns="45719" bIns="45719" numCol="1" anchor="t">
              <a:noAutofit/>
            </a:bodyPr>
            <a:lstStyle/>
            <a:p>
              <a:pPr/>
            </a:p>
          </p:txBody>
        </p:sp>
        <p:sp>
          <p:nvSpPr>
            <p:cNvPr id="276" name="Circle"/>
            <p:cNvSpPr/>
            <p:nvPr/>
          </p:nvSpPr>
          <p:spPr>
            <a:xfrm>
              <a:off x="0" y="0"/>
              <a:ext cx="546100" cy="541338"/>
            </a:xfrm>
            <a:prstGeom prst="ellipse">
              <a:avLst/>
            </a:prstGeom>
            <a:noFill/>
            <a:ln w="25400" cap="flat">
              <a:solidFill>
                <a:srgbClr val="FFFFFF"/>
              </a:solidFill>
              <a:prstDash val="solid"/>
              <a:round/>
            </a:ln>
            <a:effectLst/>
          </p:spPr>
          <p:txBody>
            <a:bodyPr wrap="square" lIns="45719" tIns="45719" rIns="45719" bIns="45719" numCol="1" anchor="ctr">
              <a:noAutofit/>
            </a:bodyPr>
            <a:lstStyle/>
            <a:p>
              <a:pPr algn="ctr">
                <a:defRPr>
                  <a:solidFill>
                    <a:srgbClr val="FFFFFF"/>
                  </a:solidFill>
                </a:defRPr>
              </a:pPr>
            </a:p>
          </p:txBody>
        </p:sp>
      </p:grpSp>
      <p:sp>
        <p:nvSpPr>
          <p:cNvPr id="278" name="Hybrid approaches"/>
          <p:cNvSpPr txBox="1"/>
          <p:nvPr/>
        </p:nvSpPr>
        <p:spPr>
          <a:xfrm>
            <a:off x="1273175" y="4387850"/>
            <a:ext cx="8440738" cy="2837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400"/>
              </a:spcBef>
              <a:defRPr b="1" sz="2000">
                <a:solidFill>
                  <a:srgbClr val="FFFFFF"/>
                </a:solidFill>
                <a:latin typeface="Arial"/>
                <a:ea typeface="Arial"/>
                <a:cs typeface="Arial"/>
                <a:sym typeface="Arial"/>
              </a:defRPr>
            </a:lvl1pPr>
          </a:lstStyle>
          <a:p>
            <a:pPr/>
            <a:r>
              <a:t>Hybrid approaches</a:t>
            </a:r>
          </a:p>
        </p:txBody>
      </p:sp>
      <p:grpSp>
        <p:nvGrpSpPr>
          <p:cNvPr id="281" name="Group"/>
          <p:cNvGrpSpPr/>
          <p:nvPr/>
        </p:nvGrpSpPr>
        <p:grpSpPr>
          <a:xfrm>
            <a:off x="568325" y="5089525"/>
            <a:ext cx="546100" cy="541338"/>
            <a:chOff x="0" y="0"/>
            <a:chExt cx="546100" cy="541337"/>
          </a:xfrm>
        </p:grpSpPr>
        <p:sp>
          <p:nvSpPr>
            <p:cNvPr id="279" name="Shape"/>
            <p:cNvSpPr/>
            <p:nvPr/>
          </p:nvSpPr>
          <p:spPr>
            <a:xfrm>
              <a:off x="132892" y="133904"/>
              <a:ext cx="280316" cy="2735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073" y="229"/>
                  </a:moveTo>
                  <a:cubicBezTo>
                    <a:pt x="21073" y="229"/>
                    <a:pt x="18063" y="1069"/>
                    <a:pt x="15654" y="1069"/>
                  </a:cubicBezTo>
                  <a:cubicBezTo>
                    <a:pt x="13246" y="1069"/>
                    <a:pt x="10762" y="0"/>
                    <a:pt x="10762" y="0"/>
                  </a:cubicBezTo>
                  <a:cubicBezTo>
                    <a:pt x="10762" y="0"/>
                    <a:pt x="8354" y="1069"/>
                    <a:pt x="5946" y="1069"/>
                  </a:cubicBezTo>
                  <a:cubicBezTo>
                    <a:pt x="3462" y="1069"/>
                    <a:pt x="527" y="229"/>
                    <a:pt x="527" y="229"/>
                  </a:cubicBezTo>
                  <a:cubicBezTo>
                    <a:pt x="527" y="229"/>
                    <a:pt x="0" y="1984"/>
                    <a:pt x="0" y="4580"/>
                  </a:cubicBezTo>
                  <a:cubicBezTo>
                    <a:pt x="0" y="11372"/>
                    <a:pt x="2107" y="15723"/>
                    <a:pt x="5043" y="18089"/>
                  </a:cubicBezTo>
                  <a:cubicBezTo>
                    <a:pt x="6774" y="19539"/>
                    <a:pt x="9633" y="21600"/>
                    <a:pt x="10762" y="21600"/>
                  </a:cubicBezTo>
                  <a:cubicBezTo>
                    <a:pt x="11967" y="21600"/>
                    <a:pt x="14751" y="19539"/>
                    <a:pt x="16557" y="18089"/>
                  </a:cubicBezTo>
                  <a:cubicBezTo>
                    <a:pt x="19417" y="15647"/>
                    <a:pt x="21600" y="11372"/>
                    <a:pt x="21600" y="4580"/>
                  </a:cubicBezTo>
                  <a:cubicBezTo>
                    <a:pt x="21600" y="1984"/>
                    <a:pt x="21073" y="229"/>
                    <a:pt x="21073" y="229"/>
                  </a:cubicBezTo>
                  <a:close/>
                </a:path>
              </a:pathLst>
            </a:custGeom>
            <a:solidFill>
              <a:srgbClr val="FFFFFF"/>
            </a:solidFill>
            <a:ln w="12700" cap="flat">
              <a:noFill/>
              <a:miter lim="400000"/>
            </a:ln>
            <a:effectLst/>
          </p:spPr>
          <p:txBody>
            <a:bodyPr wrap="square" lIns="45719" tIns="45719" rIns="45719" bIns="45719" numCol="1" anchor="t">
              <a:noAutofit/>
            </a:bodyPr>
            <a:lstStyle/>
            <a:p>
              <a:pPr/>
            </a:p>
          </p:txBody>
        </p:sp>
        <p:sp>
          <p:nvSpPr>
            <p:cNvPr id="280" name="Circle"/>
            <p:cNvSpPr/>
            <p:nvPr/>
          </p:nvSpPr>
          <p:spPr>
            <a:xfrm>
              <a:off x="0" y="0"/>
              <a:ext cx="546100" cy="541338"/>
            </a:xfrm>
            <a:prstGeom prst="ellipse">
              <a:avLst/>
            </a:prstGeom>
            <a:noFill/>
            <a:ln w="25400" cap="flat">
              <a:solidFill>
                <a:srgbClr val="FFFFFF"/>
              </a:solidFill>
              <a:prstDash val="solid"/>
              <a:round/>
            </a:ln>
            <a:effectLst/>
          </p:spPr>
          <p:txBody>
            <a:bodyPr wrap="square" lIns="45719" tIns="45719" rIns="45719" bIns="45719" numCol="1" anchor="ctr">
              <a:noAutofit/>
            </a:bodyPr>
            <a:lstStyle/>
            <a:p>
              <a:pPr algn="ctr">
                <a:defRPr>
                  <a:solidFill>
                    <a:srgbClr val="FFFFFF"/>
                  </a:solidFill>
                </a:defRPr>
              </a:pPr>
            </a:p>
          </p:txBody>
        </p:sp>
      </p:grpSp>
      <p:sp>
        <p:nvSpPr>
          <p:cNvPr id="282" name="Deep learning"/>
          <p:cNvSpPr txBox="1"/>
          <p:nvPr/>
        </p:nvSpPr>
        <p:spPr>
          <a:xfrm>
            <a:off x="1266825" y="5191125"/>
            <a:ext cx="8440738" cy="2837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400"/>
              </a:spcBef>
              <a:defRPr b="1" sz="2000">
                <a:solidFill>
                  <a:srgbClr val="FFFFFF"/>
                </a:solidFill>
                <a:latin typeface="Arial"/>
                <a:ea typeface="Arial"/>
                <a:cs typeface="Arial"/>
                <a:sym typeface="Arial"/>
              </a:defRPr>
            </a:lvl1pPr>
          </a:lstStyle>
          <a:p>
            <a:pPr/>
            <a:r>
              <a:t>Deep learning</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4"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287" name="Group"/>
          <p:cNvGrpSpPr/>
          <p:nvPr/>
        </p:nvGrpSpPr>
        <p:grpSpPr>
          <a:xfrm>
            <a:off x="10625137" y="5580062"/>
            <a:ext cx="1566864" cy="1281113"/>
            <a:chOff x="0" y="0"/>
            <a:chExt cx="1566862" cy="1281112"/>
          </a:xfrm>
        </p:grpSpPr>
        <p:pic>
          <p:nvPicPr>
            <p:cNvPr id="285" name="image.png" descr="image.png"/>
            <p:cNvPicPr>
              <a:picLocks noChangeAspect="1"/>
            </p:cNvPicPr>
            <p:nvPr/>
          </p:nvPicPr>
          <p:blipFill>
            <a:blip r:embed="rId3">
              <a:extLst/>
            </a:blip>
            <a:stretch>
              <a:fillRect/>
            </a:stretch>
          </p:blipFill>
          <p:spPr>
            <a:xfrm>
              <a:off x="-1" y="0"/>
              <a:ext cx="1566864" cy="1281113"/>
            </a:xfrm>
            <a:prstGeom prst="rect">
              <a:avLst/>
            </a:prstGeom>
            <a:ln w="12700" cap="flat">
              <a:noFill/>
              <a:miter lim="400000"/>
            </a:ln>
            <a:effectLst/>
          </p:spPr>
        </p:pic>
        <p:pic>
          <p:nvPicPr>
            <p:cNvPr id="286" name="image.png" descr="image.png"/>
            <p:cNvPicPr>
              <a:picLocks noChangeAspect="1"/>
            </p:cNvPicPr>
            <p:nvPr/>
          </p:nvPicPr>
          <p:blipFill>
            <a:blip r:embed="rId4">
              <a:extLst/>
            </a:blip>
            <a:srcRect l="0" t="0" r="0" b="6207"/>
            <a:stretch>
              <a:fillRect/>
            </a:stretch>
          </p:blipFill>
          <p:spPr>
            <a:xfrm>
              <a:off x="101332" y="44050"/>
              <a:ext cx="1365097" cy="865485"/>
            </a:xfrm>
            <a:prstGeom prst="rect">
              <a:avLst/>
            </a:prstGeom>
            <a:ln w="12700" cap="flat">
              <a:noFill/>
              <a:miter lim="400000"/>
            </a:ln>
            <a:effectLst/>
          </p:spPr>
        </p:pic>
      </p:grpSp>
      <p:sp>
        <p:nvSpPr>
          <p:cNvPr id="288"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89" name="IE Techniques - Rule-based Approach"/>
          <p:cNvSpPr txBox="1"/>
          <p:nvPr/>
        </p:nvSpPr>
        <p:spPr>
          <a:xfrm>
            <a:off x="190182" y="207962"/>
            <a:ext cx="5557799"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IE Techniques - Rule-based Approach</a:t>
            </a:r>
          </a:p>
        </p:txBody>
      </p:sp>
      <p:sp>
        <p:nvSpPr>
          <p:cNvPr id="290" name="“We define a set of rules for the syntax and other grammatical properties of a natural language and then use these rules to extract information from text.”"/>
          <p:cNvSpPr txBox="1"/>
          <p:nvPr/>
        </p:nvSpPr>
        <p:spPr>
          <a:xfrm>
            <a:off x="544512" y="1477962"/>
            <a:ext cx="11191876" cy="70123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6025">
              <a:spcBef>
                <a:spcPts val="500"/>
              </a:spcBef>
              <a:defRPr b="1" sz="2400">
                <a:solidFill>
                  <a:srgbClr val="00B050"/>
                </a:solidFill>
                <a:latin typeface="Arial"/>
                <a:ea typeface="Arial"/>
                <a:cs typeface="Arial"/>
                <a:sym typeface="Arial"/>
              </a:defRPr>
            </a:pPr>
            <a:r>
              <a:t>“</a:t>
            </a:r>
            <a:r>
              <a:rPr>
                <a:solidFill>
                  <a:srgbClr val="FFFFFF"/>
                </a:solidFill>
              </a:rPr>
              <a:t>We</a:t>
            </a:r>
            <a:r>
              <a:t> </a:t>
            </a:r>
            <a:r>
              <a:rPr>
                <a:solidFill>
                  <a:srgbClr val="FFFFFF"/>
                </a:solidFill>
              </a:rPr>
              <a:t>define a set of rules for the syntax and other grammatical properties of a natural language and then use these rules to extract information from text.</a:t>
            </a:r>
            <a:r>
              <a:t>”</a:t>
            </a:r>
          </a:p>
        </p:txBody>
      </p:sp>
      <p:pic>
        <p:nvPicPr>
          <p:cNvPr id="291" name="image.png" descr="image.png"/>
          <p:cNvPicPr>
            <a:picLocks noChangeAspect="1"/>
          </p:cNvPicPr>
          <p:nvPr/>
        </p:nvPicPr>
        <p:blipFill>
          <a:blip r:embed="rId5">
            <a:extLst/>
          </a:blip>
          <a:stretch>
            <a:fillRect/>
          </a:stretch>
        </p:blipFill>
        <p:spPr>
          <a:xfrm>
            <a:off x="2524125" y="2401887"/>
            <a:ext cx="6581775" cy="3717926"/>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4" presetID="2" grpId="2" fill="hold">
                                  <p:stCondLst>
                                    <p:cond delay="0"/>
                                  </p:stCondLst>
                                  <p:iterate type="el" backwards="0">
                                    <p:tmAbs val="0"/>
                                  </p:iterate>
                                  <p:childTnLst>
                                    <p:set>
                                      <p:cBhvr>
                                        <p:cTn id="10" fill="hold"/>
                                        <p:tgtEl>
                                          <p:spTgt spid="291"/>
                                        </p:tgtEl>
                                        <p:attrNameLst>
                                          <p:attrName>style.visibility</p:attrName>
                                        </p:attrNameLst>
                                      </p:cBhvr>
                                      <p:to>
                                        <p:strVal val="visible"/>
                                      </p:to>
                                    </p:set>
                                    <p:anim calcmode="lin" valueType="num">
                                      <p:cBhvr>
                                        <p:cTn id="11" dur="1000" fill="hold"/>
                                        <p:tgtEl>
                                          <p:spTgt spid="291"/>
                                        </p:tgtEl>
                                        <p:attrNameLst>
                                          <p:attrName>ppt_x</p:attrName>
                                        </p:attrNameLst>
                                      </p:cBhvr>
                                      <p:tavLst>
                                        <p:tav tm="0">
                                          <p:val>
                                            <p:strVal val="#ppt_x"/>
                                          </p:val>
                                        </p:tav>
                                        <p:tav tm="100000">
                                          <p:val>
                                            <p:strVal val="#ppt_x"/>
                                          </p:val>
                                        </p:tav>
                                      </p:tavLst>
                                    </p:anim>
                                    <p:anim calcmode="lin" valueType="num">
                                      <p:cBhvr>
                                        <p:cTn id="12" dur="1000" fill="hold"/>
                                        <p:tgtEl>
                                          <p:spTgt spid="2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90" grpId="1"/>
      <p:bldP build="whole" bldLvl="1" animBg="1" rev="0" advAuto="0" spid="291" grpId="2"/>
    </p:bldLst>
  </p:timing>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5"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sp>
        <p:nvSpPr>
          <p:cNvPr id="296"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97" name="IE Techniques - Supervised Learning"/>
          <p:cNvSpPr txBox="1"/>
          <p:nvPr/>
        </p:nvSpPr>
        <p:spPr>
          <a:xfrm>
            <a:off x="190182" y="207962"/>
            <a:ext cx="5433825"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IE Techniques - Supervised Learning</a:t>
            </a:r>
          </a:p>
        </p:txBody>
      </p:sp>
      <p:sp>
        <p:nvSpPr>
          <p:cNvPr id="298" name="“The use of supervised learning methods in IE applications is mainly focused on the automatic acquisition of the extraction patterns. These patterns are used to extract the information relevant to a particular task from each single document of a given co"/>
          <p:cNvSpPr txBox="1"/>
          <p:nvPr/>
        </p:nvSpPr>
        <p:spPr>
          <a:xfrm>
            <a:off x="358775" y="1470025"/>
            <a:ext cx="11471275" cy="8679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6025">
              <a:spcBef>
                <a:spcPts val="400"/>
              </a:spcBef>
              <a:defRPr b="1" sz="2000">
                <a:solidFill>
                  <a:srgbClr val="00B050"/>
                </a:solidFill>
                <a:latin typeface="Arial"/>
                <a:ea typeface="Arial"/>
                <a:cs typeface="Arial"/>
                <a:sym typeface="Arial"/>
              </a:defRPr>
            </a:pPr>
            <a:r>
              <a:t>“</a:t>
            </a:r>
            <a:r>
              <a:rPr>
                <a:solidFill>
                  <a:srgbClr val="FFFFFF"/>
                </a:solidFill>
              </a:rPr>
              <a:t>The use of supervised learning methods in IE applications is mainly focused on the automatic acquisition of the </a:t>
            </a:r>
            <a:r>
              <a:t>extraction patterns</a:t>
            </a:r>
            <a:r>
              <a:rPr>
                <a:solidFill>
                  <a:srgbClr val="FFFFFF"/>
                </a:solidFill>
              </a:rPr>
              <a:t>. These patterns are used to extract the information relevant to a particular task from each single document of a given collection.</a:t>
            </a:r>
            <a:r>
              <a:t>”</a:t>
            </a:r>
          </a:p>
        </p:txBody>
      </p:sp>
      <p:pic>
        <p:nvPicPr>
          <p:cNvPr id="299" name="image.png" descr="image.png"/>
          <p:cNvPicPr>
            <a:picLocks noChangeAspect="1"/>
          </p:cNvPicPr>
          <p:nvPr/>
        </p:nvPicPr>
        <p:blipFill>
          <a:blip r:embed="rId3">
            <a:extLst/>
          </a:blip>
          <a:stretch>
            <a:fillRect/>
          </a:stretch>
        </p:blipFill>
        <p:spPr>
          <a:xfrm>
            <a:off x="1671637" y="2805112"/>
            <a:ext cx="7842251" cy="3062288"/>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98" grpId="1"/>
    </p:bldLst>
  </p:timing>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3"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sp>
        <p:nvSpPr>
          <p:cNvPr id="304"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05" name="IE Techniques - Supervised Learning"/>
          <p:cNvSpPr txBox="1"/>
          <p:nvPr/>
        </p:nvSpPr>
        <p:spPr>
          <a:xfrm>
            <a:off x="190182" y="207962"/>
            <a:ext cx="5433825"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IE Techniques - Supervised Learning</a:t>
            </a:r>
          </a:p>
        </p:txBody>
      </p:sp>
      <p:sp>
        <p:nvSpPr>
          <p:cNvPr id="306" name="“The use of supervised learning methods in IE applications is mainly focused on the automatic acquisition of the extraction patterns. These patterns are used to extract the information relevant to a particular task from each single document of a given co"/>
          <p:cNvSpPr txBox="1"/>
          <p:nvPr/>
        </p:nvSpPr>
        <p:spPr>
          <a:xfrm>
            <a:off x="358775" y="1470025"/>
            <a:ext cx="11471275" cy="8679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6025">
              <a:spcBef>
                <a:spcPts val="400"/>
              </a:spcBef>
              <a:defRPr b="1" sz="2000">
                <a:solidFill>
                  <a:srgbClr val="00B050"/>
                </a:solidFill>
                <a:latin typeface="Arial"/>
                <a:ea typeface="Arial"/>
                <a:cs typeface="Arial"/>
                <a:sym typeface="Arial"/>
              </a:defRPr>
            </a:pPr>
            <a:r>
              <a:t>“</a:t>
            </a:r>
            <a:r>
              <a:rPr>
                <a:solidFill>
                  <a:srgbClr val="FFFFFF"/>
                </a:solidFill>
              </a:rPr>
              <a:t>The use of supervised learning methods in IE applications is mainly focused on the automatic acquisition of the </a:t>
            </a:r>
            <a:r>
              <a:t>extraction patterns</a:t>
            </a:r>
            <a:r>
              <a:rPr>
                <a:solidFill>
                  <a:srgbClr val="FFFFFF"/>
                </a:solidFill>
              </a:rPr>
              <a:t>. These patterns are used to extract the information relevant to a particular task from each single document of a given collection.</a:t>
            </a:r>
            <a:r>
              <a:t>”</a:t>
            </a:r>
          </a:p>
        </p:txBody>
      </p:sp>
      <p:pic>
        <p:nvPicPr>
          <p:cNvPr id="307" name="image.png" descr="image.png"/>
          <p:cNvPicPr>
            <a:picLocks noChangeAspect="1"/>
          </p:cNvPicPr>
          <p:nvPr/>
        </p:nvPicPr>
        <p:blipFill>
          <a:blip r:embed="rId3">
            <a:extLst/>
          </a:blip>
          <a:stretch>
            <a:fillRect/>
          </a:stretch>
        </p:blipFill>
        <p:spPr>
          <a:xfrm>
            <a:off x="2643187" y="2590800"/>
            <a:ext cx="6518276" cy="3465513"/>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3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06" grpId="1"/>
    </p:bldLst>
  </p:timing>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1"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314" name="Group"/>
          <p:cNvGrpSpPr/>
          <p:nvPr/>
        </p:nvGrpSpPr>
        <p:grpSpPr>
          <a:xfrm>
            <a:off x="10625137" y="5580062"/>
            <a:ext cx="1566864" cy="1281113"/>
            <a:chOff x="0" y="0"/>
            <a:chExt cx="1566862" cy="1281112"/>
          </a:xfrm>
        </p:grpSpPr>
        <p:pic>
          <p:nvPicPr>
            <p:cNvPr id="312" name="image.png" descr="image.png"/>
            <p:cNvPicPr>
              <a:picLocks noChangeAspect="1"/>
            </p:cNvPicPr>
            <p:nvPr/>
          </p:nvPicPr>
          <p:blipFill>
            <a:blip r:embed="rId3">
              <a:extLst/>
            </a:blip>
            <a:stretch>
              <a:fillRect/>
            </a:stretch>
          </p:blipFill>
          <p:spPr>
            <a:xfrm>
              <a:off x="-1" y="0"/>
              <a:ext cx="1566864" cy="1281113"/>
            </a:xfrm>
            <a:prstGeom prst="rect">
              <a:avLst/>
            </a:prstGeom>
            <a:ln w="12700" cap="flat">
              <a:noFill/>
              <a:miter lim="400000"/>
            </a:ln>
            <a:effectLst/>
          </p:spPr>
        </p:pic>
        <p:pic>
          <p:nvPicPr>
            <p:cNvPr id="313" name="image.png" descr="image.png"/>
            <p:cNvPicPr>
              <a:picLocks noChangeAspect="1"/>
            </p:cNvPicPr>
            <p:nvPr/>
          </p:nvPicPr>
          <p:blipFill>
            <a:blip r:embed="rId4">
              <a:extLst/>
            </a:blip>
            <a:srcRect l="0" t="0" r="0" b="6207"/>
            <a:stretch>
              <a:fillRect/>
            </a:stretch>
          </p:blipFill>
          <p:spPr>
            <a:xfrm>
              <a:off x="101332" y="44050"/>
              <a:ext cx="1365097" cy="865485"/>
            </a:xfrm>
            <a:prstGeom prst="rect">
              <a:avLst/>
            </a:prstGeom>
            <a:ln w="12700" cap="flat">
              <a:noFill/>
              <a:miter lim="400000"/>
            </a:ln>
            <a:effectLst/>
          </p:spPr>
        </p:pic>
      </p:grpSp>
      <p:sp>
        <p:nvSpPr>
          <p:cNvPr id="315"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16" name="IE Techniques - Semi-supervised Learning – why?"/>
          <p:cNvSpPr txBox="1"/>
          <p:nvPr/>
        </p:nvSpPr>
        <p:spPr>
          <a:xfrm>
            <a:off x="190182" y="207962"/>
            <a:ext cx="7347903" cy="8280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IE Techniques - Semi-supervised Learning – why?</a:t>
            </a:r>
          </a:p>
        </p:txBody>
      </p:sp>
      <p:sp>
        <p:nvSpPr>
          <p:cNvPr id="317" name="Data annotation: labor-intensive and time-consuming, limited available training data for supervised learning.…"/>
          <p:cNvSpPr txBox="1"/>
          <p:nvPr/>
        </p:nvSpPr>
        <p:spPr>
          <a:xfrm>
            <a:off x="485775" y="1550987"/>
            <a:ext cx="10509250" cy="403823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500"/>
              </a:spcBef>
              <a:buSzPct val="100000"/>
              <a:buChar char="➢"/>
              <a:defRPr b="1" sz="2200">
                <a:solidFill>
                  <a:srgbClr val="00B050"/>
                </a:solidFill>
                <a:latin typeface="Arial"/>
                <a:ea typeface="Arial"/>
                <a:cs typeface="Arial"/>
                <a:sym typeface="Arial"/>
              </a:defRPr>
            </a:pPr>
            <a:r>
              <a:t>Data annotation</a:t>
            </a:r>
            <a:r>
              <a:rPr>
                <a:solidFill>
                  <a:srgbClr val="FFFFFF"/>
                </a:solidFill>
              </a:rPr>
              <a:t>: labor-intensive and time-consuming, limited available training data for supervised learning.</a:t>
            </a:r>
            <a:endParaRPr>
              <a:solidFill>
                <a:srgbClr val="FFFFFF"/>
              </a:solidFill>
            </a:endParaRPr>
          </a:p>
          <a:p>
            <a:pPr marL="342900" indent="-342900" defTabSz="1216025">
              <a:spcBef>
                <a:spcPts val="500"/>
              </a:spcBef>
              <a:buSzPct val="100000"/>
              <a:buChar char="➢"/>
              <a:defRPr b="1" sz="2200">
                <a:solidFill>
                  <a:srgbClr val="00B050"/>
                </a:solidFill>
                <a:latin typeface="Arial"/>
                <a:ea typeface="Arial"/>
                <a:cs typeface="Arial"/>
                <a:sym typeface="Arial"/>
              </a:defRPr>
            </a:pPr>
            <a:r>
              <a:t>Label sparsity</a:t>
            </a:r>
            <a:r>
              <a:rPr>
                <a:solidFill>
                  <a:srgbClr val="FFFFFF"/>
                </a:solidFill>
              </a:rPr>
              <a:t>: </a:t>
            </a:r>
            <a:endParaRPr>
              <a:solidFill>
                <a:srgbClr val="FFFFFF"/>
              </a:solidFill>
            </a:endParaRPr>
          </a:p>
          <a:p>
            <a:pPr marL="342900" indent="-342900" defTabSz="1216025">
              <a:spcBef>
                <a:spcPts val="400"/>
              </a:spcBef>
              <a:buSzPct val="100000"/>
              <a:buChar char="➢"/>
              <a:defRPr b="1" sz="2000">
                <a:solidFill>
                  <a:srgbClr val="FFFFFF"/>
                </a:solidFill>
                <a:latin typeface="Arial"/>
                <a:ea typeface="Arial"/>
                <a:cs typeface="Arial"/>
                <a:sym typeface="Arial"/>
              </a:defRPr>
            </a:pPr>
            <a:r>
              <a:t> </a:t>
            </a:r>
            <a:r>
              <a:rPr sz="1800"/>
              <a:t>E.g.: medication entities have high lexical variation (medication names, reasons, and durations), challenging supervised ML systems.</a:t>
            </a:r>
            <a:endParaRPr sz="2600"/>
          </a:p>
          <a:p>
            <a:pPr marL="342900" indent="-342900" defTabSz="1216025">
              <a:spcBef>
                <a:spcPts val="500"/>
              </a:spcBef>
              <a:buSzPct val="100000"/>
              <a:buChar char="➢"/>
              <a:defRPr b="1" sz="2200">
                <a:solidFill>
                  <a:srgbClr val="00B050"/>
                </a:solidFill>
                <a:latin typeface="Arial"/>
                <a:ea typeface="Arial"/>
                <a:cs typeface="Arial"/>
                <a:sym typeface="Arial"/>
              </a:defRPr>
            </a:pPr>
            <a:r>
              <a:t>Availability of unannotated data</a:t>
            </a:r>
          </a:p>
          <a:p>
            <a:pPr marL="342900" indent="-342900" defTabSz="1216025">
              <a:spcBef>
                <a:spcPts val="500"/>
              </a:spcBef>
              <a:defRPr b="1" sz="2200">
                <a:solidFill>
                  <a:srgbClr val="FFFFFF"/>
                </a:solidFill>
                <a:latin typeface="Arial"/>
                <a:ea typeface="Arial"/>
                <a:cs typeface="Arial"/>
                <a:sym typeface="Arial"/>
              </a:defRPr>
            </a:pPr>
            <a:r>
              <a:t>   </a:t>
            </a:r>
            <a:r>
              <a:rPr sz="1800"/>
              <a:t>=&gt; opens up the possibility of combining annotated data with unannotated data for training semi-supervised models. </a:t>
            </a:r>
          </a:p>
          <a:p>
            <a:pPr marL="342900" indent="-342900" defTabSz="1216025">
              <a:spcBef>
                <a:spcPts val="500"/>
              </a:spcBef>
              <a:buSzPct val="100000"/>
              <a:buChar char="➢"/>
              <a:defRPr b="1" sz="2200">
                <a:solidFill>
                  <a:srgbClr val="FFFFFF"/>
                </a:solidFill>
                <a:latin typeface="Arial"/>
                <a:ea typeface="Arial"/>
                <a:cs typeface="Arial"/>
                <a:sym typeface="Arial"/>
              </a:defRPr>
            </a:pPr>
            <a:r>
              <a:t>The semi-supervised method (bootstrapping):</a:t>
            </a:r>
          </a:p>
          <a:p>
            <a:pPr marL="342900" indent="-342900" defTabSz="1216025">
              <a:spcBef>
                <a:spcPts val="400"/>
              </a:spcBef>
              <a:buSzPct val="100000"/>
              <a:buChar char="➢"/>
              <a:defRPr b="1">
                <a:solidFill>
                  <a:srgbClr val="FFFFFF"/>
                </a:solidFill>
                <a:latin typeface="Arial"/>
                <a:ea typeface="Arial"/>
                <a:cs typeface="Arial"/>
                <a:sym typeface="Arial"/>
              </a:defRPr>
            </a:pPr>
            <a:r>
              <a:t> automatically annotates unlabeled data </a:t>
            </a:r>
          </a:p>
          <a:p>
            <a:pPr marL="342900" indent="-342900" defTabSz="1216025">
              <a:spcBef>
                <a:spcPts val="400"/>
              </a:spcBef>
              <a:buSzPct val="100000"/>
              <a:buChar char="➢"/>
              <a:defRPr b="1">
                <a:solidFill>
                  <a:srgbClr val="FFFFFF"/>
                </a:solidFill>
                <a:latin typeface="Arial"/>
                <a:ea typeface="Arial"/>
                <a:cs typeface="Arial"/>
                <a:sym typeface="Arial"/>
              </a:defRPr>
            </a:pPr>
            <a:r>
              <a:t> and iteratively introduces these automatic annotations into the training set using a confidence-rated classifier until performance converges. </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3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17" grpId="1"/>
    </p:bldLst>
  </p:timing>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1"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sp>
        <p:nvSpPr>
          <p:cNvPr id="322"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23" name="IE Techniques - Semi-supervised Learning"/>
          <p:cNvSpPr txBox="1"/>
          <p:nvPr/>
        </p:nvSpPr>
        <p:spPr>
          <a:xfrm>
            <a:off x="190182" y="207962"/>
            <a:ext cx="6230055" cy="8280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IE Techniques - Semi-supervised Learning</a:t>
            </a:r>
          </a:p>
        </p:txBody>
      </p:sp>
      <p:sp>
        <p:nvSpPr>
          <p:cNvPr id="324" name="“FABLE employs semi-supervised learning to capitalize on unlabeled data to enhance recognition of sparsely represented, lexically and syntactically diverse medication entities. The unlabeled data also help it compensate for potentially incomplete.”"/>
          <p:cNvSpPr txBox="1"/>
          <p:nvPr/>
        </p:nvSpPr>
        <p:spPr>
          <a:xfrm>
            <a:off x="346075" y="1389062"/>
            <a:ext cx="11456988" cy="8679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6025">
              <a:spcBef>
                <a:spcPts val="400"/>
              </a:spcBef>
              <a:defRPr b="1" sz="2000">
                <a:solidFill>
                  <a:srgbClr val="00B050"/>
                </a:solidFill>
                <a:latin typeface="Arial"/>
                <a:ea typeface="Arial"/>
                <a:cs typeface="Arial"/>
                <a:sym typeface="Arial"/>
              </a:defRPr>
            </a:pPr>
            <a:r>
              <a:t>“FABLE </a:t>
            </a:r>
            <a:r>
              <a:rPr>
                <a:solidFill>
                  <a:srgbClr val="FFFFFF"/>
                </a:solidFill>
              </a:rPr>
              <a:t>employs semi-supervised learning to capitalize on unlabeled data to enhance recognition of sparsely represented, lexically and syntactically diverse medication entities. The unlabeled data also help it compensate for potentially incomplete.</a:t>
            </a:r>
            <a:r>
              <a:t>”</a:t>
            </a:r>
          </a:p>
        </p:txBody>
      </p:sp>
      <p:pic>
        <p:nvPicPr>
          <p:cNvPr id="325" name="image.png" descr="image.png"/>
          <p:cNvPicPr>
            <a:picLocks noChangeAspect="1"/>
          </p:cNvPicPr>
          <p:nvPr/>
        </p:nvPicPr>
        <p:blipFill>
          <a:blip r:embed="rId2">
            <a:extLst/>
          </a:blip>
          <a:stretch>
            <a:fillRect/>
          </a:stretch>
        </p:blipFill>
        <p:spPr>
          <a:xfrm>
            <a:off x="42862" y="2681287"/>
            <a:ext cx="6070601" cy="2974976"/>
          </a:xfrm>
          <a:prstGeom prst="rect">
            <a:avLst/>
          </a:prstGeom>
          <a:ln w="12700">
            <a:miter lim="400000"/>
          </a:ln>
        </p:spPr>
      </p:pic>
      <p:pic>
        <p:nvPicPr>
          <p:cNvPr id="326" name="image.png" descr="image.png"/>
          <p:cNvPicPr>
            <a:picLocks noChangeAspect="1"/>
          </p:cNvPicPr>
          <p:nvPr/>
        </p:nvPicPr>
        <p:blipFill>
          <a:blip r:embed="rId3">
            <a:extLst/>
          </a:blip>
          <a:srcRect l="2981" t="2717" r="5380" b="8682"/>
          <a:stretch>
            <a:fillRect/>
          </a:stretch>
        </p:blipFill>
        <p:spPr>
          <a:xfrm>
            <a:off x="6215062" y="2681287"/>
            <a:ext cx="5943601" cy="3013076"/>
          </a:xfrm>
          <a:prstGeom prst="rect">
            <a:avLst/>
          </a:prstGeom>
          <a:ln w="12700">
            <a:miter lim="400000"/>
          </a:ln>
        </p:spPr>
      </p:pic>
      <p:sp>
        <p:nvSpPr>
          <p:cNvPr id="327" name="Tao, C., Filannino, M., &amp; Uzuner, Ö. (2018). Fable: A semi-supervised prescription information extraction system. In AMIA Annual Symposium proceedings (Vol. 2018, p. 1534). American Medical Informatics Association."/>
          <p:cNvSpPr txBox="1"/>
          <p:nvPr/>
        </p:nvSpPr>
        <p:spPr>
          <a:xfrm>
            <a:off x="1246187" y="6221412"/>
            <a:ext cx="8132763" cy="3002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200"/>
              </a:spcBef>
              <a:defRPr sz="1100">
                <a:latin typeface="Arial"/>
                <a:ea typeface="Arial"/>
                <a:cs typeface="Arial"/>
                <a:sym typeface="Arial"/>
              </a:defRPr>
            </a:lvl1pPr>
          </a:lstStyle>
          <a:p>
            <a:pPr/>
            <a:r>
              <a:t>Tao, C., Filannino, M., &amp; Uzuner, Ö. (2018). Fable: A semi-supervised prescription information extraction system. In AMIA Annual Symposium proceedings (Vol. 2018, p. 1534). American Medical Informatics Association.</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3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24" grpId="1"/>
    </p:bldLst>
  </p:timing>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9"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332" name="Group"/>
          <p:cNvGrpSpPr/>
          <p:nvPr/>
        </p:nvGrpSpPr>
        <p:grpSpPr>
          <a:xfrm>
            <a:off x="10625137" y="5580062"/>
            <a:ext cx="1566864" cy="1281113"/>
            <a:chOff x="0" y="0"/>
            <a:chExt cx="1566862" cy="1281112"/>
          </a:xfrm>
        </p:grpSpPr>
        <p:pic>
          <p:nvPicPr>
            <p:cNvPr id="330"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331"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333"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34" name="IE Techniques – Rule-based vs Machine Learning-based"/>
          <p:cNvSpPr txBox="1"/>
          <p:nvPr/>
        </p:nvSpPr>
        <p:spPr>
          <a:xfrm>
            <a:off x="190182" y="207962"/>
            <a:ext cx="821185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IE Techniques – Rule-based vs Machine Learning-based</a:t>
            </a:r>
          </a:p>
        </p:txBody>
      </p:sp>
      <p:pic>
        <p:nvPicPr>
          <p:cNvPr id="335" name="image.png" descr="image.png"/>
          <p:cNvPicPr>
            <a:picLocks noChangeAspect="1"/>
          </p:cNvPicPr>
          <p:nvPr/>
        </p:nvPicPr>
        <p:blipFill>
          <a:blip r:embed="rId4">
            <a:extLst/>
          </a:blip>
          <a:stretch>
            <a:fillRect/>
          </a:stretch>
        </p:blipFill>
        <p:spPr>
          <a:xfrm>
            <a:off x="90487" y="1928812"/>
            <a:ext cx="12011026" cy="3175001"/>
          </a:xfrm>
          <a:prstGeom prst="rect">
            <a:avLst/>
          </a:prstGeom>
          <a:ln w="12700">
            <a:miter lim="400000"/>
          </a:ln>
        </p:spPr>
      </p:pic>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7"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340" name="Group"/>
          <p:cNvGrpSpPr/>
          <p:nvPr/>
        </p:nvGrpSpPr>
        <p:grpSpPr>
          <a:xfrm>
            <a:off x="10625137" y="5580062"/>
            <a:ext cx="1566864" cy="1281113"/>
            <a:chOff x="0" y="0"/>
            <a:chExt cx="1566862" cy="1281112"/>
          </a:xfrm>
        </p:grpSpPr>
        <p:pic>
          <p:nvPicPr>
            <p:cNvPr id="338"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339"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341"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42" name="IE Techniques - Hybrid approaches"/>
          <p:cNvSpPr txBox="1"/>
          <p:nvPr/>
        </p:nvSpPr>
        <p:spPr>
          <a:xfrm>
            <a:off x="190182" y="207962"/>
            <a:ext cx="5179775"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IE Techniques - Hybrid approaches</a:t>
            </a:r>
          </a:p>
        </p:txBody>
      </p:sp>
      <p:sp>
        <p:nvSpPr>
          <p:cNvPr id="343" name="“Hybrid approach refers to the combination between both rule based and machine learning approaches. For example, the tool TextRazor”"/>
          <p:cNvSpPr txBox="1"/>
          <p:nvPr/>
        </p:nvSpPr>
        <p:spPr>
          <a:xfrm>
            <a:off x="679450" y="1477962"/>
            <a:ext cx="10975975" cy="5758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6025">
              <a:spcBef>
                <a:spcPts val="400"/>
              </a:spcBef>
              <a:defRPr b="1" sz="2000">
                <a:solidFill>
                  <a:srgbClr val="00B050"/>
                </a:solidFill>
                <a:latin typeface="Arial"/>
                <a:ea typeface="Arial"/>
                <a:cs typeface="Arial"/>
                <a:sym typeface="Arial"/>
              </a:defRPr>
            </a:pPr>
            <a:r>
              <a:t>“</a:t>
            </a:r>
            <a:r>
              <a:rPr>
                <a:solidFill>
                  <a:srgbClr val="FFFFFF"/>
                </a:solidFill>
              </a:rPr>
              <a:t>Hybrid approach refers to the combination between both rule based and machine learning approaches. For example, the tool </a:t>
            </a:r>
            <a:r>
              <a:rPr u="sng">
                <a:solidFill>
                  <a:srgbClr val="0563C1"/>
                </a:solidFill>
                <a:uFill>
                  <a:solidFill>
                    <a:srgbClr val="0563C1"/>
                  </a:solidFill>
                </a:uFill>
                <a:hlinkClick r:id="rId4" invalidUrl="" action="" tgtFrame="" tooltip="" history="1" highlightClick="0" endSnd="0"/>
              </a:rPr>
              <a:t>TextRazor</a:t>
            </a:r>
            <a:r>
              <a:t>”</a:t>
            </a:r>
          </a:p>
        </p:txBody>
      </p:sp>
      <p:sp>
        <p:nvSpPr>
          <p:cNvPr id="344" name="The statistical ML approach focuses on extracting entities with regular expressions such as hashtags, emails, phone numbers, etc.…"/>
          <p:cNvSpPr txBox="1"/>
          <p:nvPr/>
        </p:nvSpPr>
        <p:spPr>
          <a:xfrm>
            <a:off x="428624" y="2673350"/>
            <a:ext cx="11226802" cy="249188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400"/>
              </a:spcBef>
              <a:buSzPct val="100000"/>
              <a:buChar char="➢"/>
              <a:defRPr b="1">
                <a:solidFill>
                  <a:srgbClr val="FFFFFF"/>
                </a:solidFill>
                <a:latin typeface="Arial"/>
                <a:ea typeface="Arial"/>
                <a:cs typeface="Arial"/>
                <a:sym typeface="Arial"/>
              </a:defRPr>
            </a:pPr>
            <a:r>
              <a:t>The statistical ML approach focuses on extracting entities with regular expressions such as hashtags, emails, phone numbers, etc. </a:t>
            </a:r>
          </a:p>
          <a:p>
            <a:pPr marL="342900" indent="-342900" defTabSz="1216025">
              <a:spcBef>
                <a:spcPts val="600"/>
              </a:spcBef>
              <a:defRPr b="1">
                <a:solidFill>
                  <a:srgbClr val="FFFFFF"/>
                </a:solidFill>
                <a:latin typeface="Arial"/>
                <a:ea typeface="Arial"/>
                <a:cs typeface="Arial"/>
                <a:sym typeface="Arial"/>
              </a:defRPr>
            </a:pPr>
          </a:p>
          <a:p>
            <a:pPr marL="342900" indent="-342900" defTabSz="1216025">
              <a:spcBef>
                <a:spcPts val="400"/>
              </a:spcBef>
              <a:buSzPct val="100000"/>
              <a:buChar char="➢"/>
              <a:defRPr b="1">
                <a:solidFill>
                  <a:srgbClr val="FFFFFF"/>
                </a:solidFill>
                <a:latin typeface="Arial"/>
                <a:ea typeface="Arial"/>
                <a:cs typeface="Arial"/>
                <a:sym typeface="Arial"/>
              </a:defRPr>
            </a:pPr>
            <a:r>
              <a:t>The rule-based method makes use of web resources such as Wikipedia and Freebase to build a dictionary of different entity combinations.</a:t>
            </a:r>
          </a:p>
          <a:p>
            <a:pPr marL="342900" indent="-342900" defTabSz="1216025">
              <a:spcBef>
                <a:spcPts val="600"/>
              </a:spcBef>
              <a:buSzPct val="100000"/>
              <a:buChar char="➢"/>
              <a:defRPr b="1">
                <a:solidFill>
                  <a:srgbClr val="FFFFFF"/>
                </a:solidFill>
                <a:latin typeface="Arial"/>
                <a:ea typeface="Arial"/>
                <a:cs typeface="Arial"/>
                <a:sym typeface="Arial"/>
              </a:defRPr>
            </a:pPr>
          </a:p>
          <a:p>
            <a:pPr marL="342900" indent="-342900" defTabSz="1216025">
              <a:spcBef>
                <a:spcPts val="400"/>
              </a:spcBef>
              <a:buSzPct val="100000"/>
              <a:buChar char="➢"/>
              <a:defRPr b="1">
                <a:solidFill>
                  <a:srgbClr val="FFFFFF"/>
                </a:solidFill>
                <a:latin typeface="Arial"/>
                <a:ea typeface="Arial"/>
                <a:cs typeface="Arial"/>
                <a:sym typeface="Arial"/>
              </a:defRPr>
            </a:pPr>
            <a:r>
              <a:t>The ML approach is integrated with the rule-based approach. </a:t>
            </a:r>
          </a:p>
        </p:txBody>
      </p:sp>
      <p:sp>
        <p:nvSpPr>
          <p:cNvPr id="345" name="Abdallah, Z. S., Carman, M., &amp; Haffari, G. (2017). Multi-domain evaluation framework for named entity recognition tools. Computer Speech &amp; Language, 43, 34-55."/>
          <p:cNvSpPr txBox="1"/>
          <p:nvPr/>
        </p:nvSpPr>
        <p:spPr>
          <a:xfrm>
            <a:off x="1246187" y="6240462"/>
            <a:ext cx="8132763" cy="3002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200"/>
              </a:spcBef>
              <a:defRPr b="1" sz="1100">
                <a:latin typeface="Arial"/>
                <a:ea typeface="Arial"/>
                <a:cs typeface="Arial"/>
                <a:sym typeface="Arial"/>
              </a:defRPr>
            </a:lvl1pPr>
          </a:lstStyle>
          <a:p>
            <a:pPr/>
            <a:r>
              <a:t>Abdallah, Z. S., Carman, M., &amp; Haffari, G. (2017). Multi-domain evaluation framework for named entity recognition tools. Computer Speech &amp; Language, 43, 34-55.</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3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3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43" grpId="1"/>
      <p:bldP build="whole" bldLvl="1" animBg="1" rev="0" advAuto="0" spid="344" grpId="2"/>
    </p:bldLst>
  </p:timing>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7"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48" name="IE Techniques – Deep learning"/>
          <p:cNvSpPr txBox="1"/>
          <p:nvPr/>
        </p:nvSpPr>
        <p:spPr>
          <a:xfrm>
            <a:off x="190182" y="207962"/>
            <a:ext cx="4502459"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IE Techniques – Deep learning</a:t>
            </a:r>
          </a:p>
        </p:txBody>
      </p:sp>
      <p:sp>
        <p:nvSpPr>
          <p:cNvPr id="349" name="NER with Bidirectional RNNs"/>
          <p:cNvSpPr txBox="1"/>
          <p:nvPr/>
        </p:nvSpPr>
        <p:spPr>
          <a:xfrm>
            <a:off x="1250950" y="5688012"/>
            <a:ext cx="40513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400"/>
              </a:spcBef>
              <a:defRPr b="1">
                <a:solidFill>
                  <a:srgbClr val="00B050"/>
                </a:solidFill>
                <a:latin typeface="Arial"/>
                <a:ea typeface="Arial"/>
                <a:cs typeface="Arial"/>
                <a:sym typeface="Arial"/>
              </a:defRPr>
            </a:lvl1pPr>
          </a:lstStyle>
          <a:p>
            <a:pPr/>
            <a:r>
              <a:t>NER with Bidirectional RNNs</a:t>
            </a:r>
          </a:p>
        </p:txBody>
      </p:sp>
      <p:sp>
        <p:nvSpPr>
          <p:cNvPr id="350" name="Nguyen, T. H. (2018). Deep Learning for Information Extraction (Doctoral dissertation, New York University)."/>
          <p:cNvSpPr txBox="1"/>
          <p:nvPr/>
        </p:nvSpPr>
        <p:spPr>
          <a:xfrm>
            <a:off x="296862" y="6359525"/>
            <a:ext cx="4854576" cy="30023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200"/>
              </a:spcBef>
              <a:defRPr b="1" sz="1100">
                <a:latin typeface="Arial"/>
                <a:ea typeface="Arial"/>
                <a:cs typeface="Arial"/>
                <a:sym typeface="Arial"/>
              </a:defRPr>
            </a:lvl1pPr>
          </a:lstStyle>
          <a:p>
            <a:pPr/>
            <a:r>
              <a:t>Nguyen, T. H. (2018). Deep Learning for Information Extraction (Doctoral dissertation, New York University).</a:t>
            </a:r>
          </a:p>
        </p:txBody>
      </p:sp>
      <p:pic>
        <p:nvPicPr>
          <p:cNvPr id="351" name="image.png" descr="image.png"/>
          <p:cNvPicPr>
            <a:picLocks noChangeAspect="1"/>
          </p:cNvPicPr>
          <p:nvPr/>
        </p:nvPicPr>
        <p:blipFill>
          <a:blip r:embed="rId3">
            <a:extLst/>
          </a:blip>
          <a:srcRect l="8909" t="11448" r="7698" b="8772"/>
          <a:stretch>
            <a:fillRect/>
          </a:stretch>
        </p:blipFill>
        <p:spPr>
          <a:xfrm>
            <a:off x="71437" y="1362074"/>
            <a:ext cx="6218238" cy="4210052"/>
          </a:xfrm>
          <a:prstGeom prst="rect">
            <a:avLst/>
          </a:prstGeom>
          <a:ln w="12700">
            <a:miter lim="400000"/>
          </a:ln>
        </p:spPr>
      </p:pic>
      <p:pic>
        <p:nvPicPr>
          <p:cNvPr id="352" name="image.png" descr="image.png"/>
          <p:cNvPicPr>
            <a:picLocks noChangeAspect="1"/>
          </p:cNvPicPr>
          <p:nvPr/>
        </p:nvPicPr>
        <p:blipFill>
          <a:blip r:embed="rId4">
            <a:extLst/>
          </a:blip>
          <a:stretch>
            <a:fillRect/>
          </a:stretch>
        </p:blipFill>
        <p:spPr>
          <a:xfrm>
            <a:off x="6770687" y="420687"/>
            <a:ext cx="5137151" cy="5761038"/>
          </a:xfrm>
          <a:prstGeom prst="rect">
            <a:avLst/>
          </a:prstGeom>
          <a:ln w="12700">
            <a:miter lim="400000"/>
          </a:ln>
        </p:spPr>
      </p:pic>
      <p:sp>
        <p:nvSpPr>
          <p:cNvPr id="353" name="Keyword extraction with BERT"/>
          <p:cNvSpPr txBox="1"/>
          <p:nvPr/>
        </p:nvSpPr>
        <p:spPr>
          <a:xfrm>
            <a:off x="8142287" y="6299200"/>
            <a:ext cx="4049713"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400"/>
              </a:spcBef>
              <a:defRPr b="1">
                <a:solidFill>
                  <a:srgbClr val="00B050"/>
                </a:solidFill>
                <a:latin typeface="Arial"/>
                <a:ea typeface="Arial"/>
                <a:cs typeface="Arial"/>
                <a:sym typeface="Arial"/>
              </a:defRPr>
            </a:lvl1pPr>
          </a:lstStyle>
          <a:p>
            <a:pPr/>
            <a:r>
              <a:t>Keyword extraction with BERT</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3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3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53" grpId="2"/>
      <p:bldP build="whole" bldLvl="1" animBg="1" rev="0" advAuto="0" spid="349" grpId="1"/>
    </p:bldLst>
  </p:timing>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359" name="Group"/>
          <p:cNvGrpSpPr/>
          <p:nvPr/>
        </p:nvGrpSpPr>
        <p:grpSpPr>
          <a:xfrm>
            <a:off x="6804024" y="3178174"/>
            <a:ext cx="5578477" cy="3481389"/>
            <a:chOff x="0" y="0"/>
            <a:chExt cx="5578475" cy="3481387"/>
          </a:xfrm>
        </p:grpSpPr>
        <p:pic>
          <p:nvPicPr>
            <p:cNvPr id="357" name="image.png" descr="image.png"/>
            <p:cNvPicPr>
              <a:picLocks noChangeAspect="1"/>
            </p:cNvPicPr>
            <p:nvPr/>
          </p:nvPicPr>
          <p:blipFill>
            <a:blip r:embed="rId2">
              <a:extLst/>
            </a:blip>
            <a:srcRect l="0" t="0" r="0" b="52040"/>
            <a:stretch>
              <a:fillRect/>
            </a:stretch>
          </p:blipFill>
          <p:spPr>
            <a:xfrm>
              <a:off x="6646" y="0"/>
              <a:ext cx="5571830" cy="1720707"/>
            </a:xfrm>
            <a:prstGeom prst="rect">
              <a:avLst/>
            </a:prstGeom>
            <a:ln w="12700" cap="flat">
              <a:noFill/>
              <a:miter lim="400000"/>
            </a:ln>
            <a:effectLst/>
          </p:spPr>
        </p:pic>
        <p:pic>
          <p:nvPicPr>
            <p:cNvPr id="358" name="image.png" descr="image.png"/>
            <p:cNvPicPr>
              <a:picLocks noChangeAspect="1"/>
            </p:cNvPicPr>
            <p:nvPr/>
          </p:nvPicPr>
          <p:blipFill>
            <a:blip r:embed="rId2">
              <a:extLst/>
            </a:blip>
            <a:srcRect l="0" t="50633" r="2627" b="0"/>
            <a:stretch>
              <a:fillRect/>
            </a:stretch>
          </p:blipFill>
          <p:spPr>
            <a:xfrm>
              <a:off x="-1" y="1710252"/>
              <a:ext cx="5425464" cy="1771136"/>
            </a:xfrm>
            <a:prstGeom prst="rect">
              <a:avLst/>
            </a:prstGeom>
            <a:ln w="12700" cap="flat">
              <a:noFill/>
              <a:miter lim="400000"/>
            </a:ln>
            <a:effectLst/>
          </p:spPr>
        </p:pic>
      </p:grpSp>
      <p:pic>
        <p:nvPicPr>
          <p:cNvPr id="360" name="image.png" descr="image.png"/>
          <p:cNvPicPr>
            <a:picLocks noChangeAspect="1"/>
          </p:cNvPicPr>
          <p:nvPr/>
        </p:nvPicPr>
        <p:blipFill>
          <a:blip r:embed="rId3">
            <a:extLst/>
          </a:blip>
          <a:stretch>
            <a:fillRect/>
          </a:stretch>
        </p:blipFill>
        <p:spPr>
          <a:xfrm>
            <a:off x="2632075" y="354012"/>
            <a:ext cx="7481888" cy="3743326"/>
          </a:xfrm>
          <a:prstGeom prst="rect">
            <a:avLst/>
          </a:prstGeom>
          <a:ln w="12700">
            <a:miter lim="400000"/>
          </a:ln>
        </p:spPr>
      </p:pic>
      <p:sp>
        <p:nvSpPr>
          <p:cNvPr id="361" name="Rectangle"/>
          <p:cNvSpPr/>
          <p:nvPr/>
        </p:nvSpPr>
        <p:spPr>
          <a:xfrm>
            <a:off x="0" y="4902200"/>
            <a:ext cx="12192000" cy="1955800"/>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62" name="4"/>
          <p:cNvSpPr txBox="1"/>
          <p:nvPr/>
        </p:nvSpPr>
        <p:spPr>
          <a:xfrm>
            <a:off x="45720" y="1571625"/>
            <a:ext cx="1403985" cy="533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4400">
                <a:solidFill>
                  <a:srgbClr val="1C4885"/>
                </a:solidFill>
                <a:latin typeface="Microsoft YaHei"/>
                <a:ea typeface="Microsoft YaHei"/>
                <a:cs typeface="Microsoft YaHei"/>
                <a:sym typeface="Microsoft YaHei"/>
              </a:defRPr>
            </a:lvl1pPr>
          </a:lstStyle>
          <a:p>
            <a:pPr/>
            <a:r>
              <a:t>4</a:t>
            </a:r>
          </a:p>
        </p:txBody>
      </p:sp>
      <p:sp>
        <p:nvSpPr>
          <p:cNvPr id="363" name="Challenges for IE"/>
          <p:cNvSpPr txBox="1"/>
          <p:nvPr/>
        </p:nvSpPr>
        <p:spPr>
          <a:xfrm>
            <a:off x="2677794" y="3975100"/>
            <a:ext cx="9066849" cy="9169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rgbClr val="1C4885"/>
                </a:solidFill>
                <a:latin typeface="Microsoft YaHei"/>
                <a:ea typeface="Microsoft YaHei"/>
                <a:cs typeface="Microsoft YaHei"/>
                <a:sym typeface="Microsoft YaHei"/>
              </a:defRPr>
            </a:lvl1pPr>
          </a:lstStyle>
          <a:p>
            <a:pPr/>
            <a:r>
              <a:t>Challenges for IE</a:t>
            </a:r>
          </a:p>
        </p:txBody>
      </p:sp>
      <p:sp>
        <p:nvSpPr>
          <p:cNvPr id="364" name="Shape"/>
          <p:cNvSpPr/>
          <p:nvPr/>
        </p:nvSpPr>
        <p:spPr>
          <a:xfrm>
            <a:off x="168275" y="4889500"/>
            <a:ext cx="2484438" cy="9286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4833"/>
                </a:lnTo>
                <a:lnTo>
                  <a:pt x="18111" y="4833"/>
                </a:lnTo>
                <a:lnTo>
                  <a:pt x="18111" y="21600"/>
                </a:lnTo>
                <a:lnTo>
                  <a:pt x="12637" y="21600"/>
                </a:lnTo>
                <a:lnTo>
                  <a:pt x="12637" y="4833"/>
                </a:lnTo>
                <a:lnTo>
                  <a:pt x="0" y="4833"/>
                </a:lnTo>
                <a:lnTo>
                  <a:pt x="0" y="0"/>
                </a:lnTo>
                <a:close/>
              </a:path>
            </a:pathLst>
          </a:custGeom>
          <a:solidFill>
            <a:srgbClr val="FFFFFF"/>
          </a:solidFill>
          <a:ln w="12700">
            <a:miter lim="400000"/>
          </a:ln>
        </p:spPr>
        <p:txBody>
          <a:bodyPr lIns="45719" rIns="45719"/>
          <a:lstStyle/>
          <a:p>
            <a:pPr/>
          </a:p>
        </p:txBody>
      </p:sp>
      <p:sp>
        <p:nvSpPr>
          <p:cNvPr id="365"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366"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8"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371" name="Group"/>
          <p:cNvGrpSpPr/>
          <p:nvPr/>
        </p:nvGrpSpPr>
        <p:grpSpPr>
          <a:xfrm>
            <a:off x="10625137" y="5580062"/>
            <a:ext cx="1566864" cy="1281113"/>
            <a:chOff x="0" y="0"/>
            <a:chExt cx="1566862" cy="1281112"/>
          </a:xfrm>
        </p:grpSpPr>
        <p:pic>
          <p:nvPicPr>
            <p:cNvPr id="369"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370"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372"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73" name="IE Challenges (Adnan and Akbar, 2019)"/>
          <p:cNvSpPr txBox="1"/>
          <p:nvPr/>
        </p:nvSpPr>
        <p:spPr>
          <a:xfrm>
            <a:off x="190182" y="207962"/>
            <a:ext cx="5818248"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IE Challenges (Adnan and Akbar, 2019) </a:t>
            </a:r>
          </a:p>
        </p:txBody>
      </p:sp>
      <p:sp>
        <p:nvSpPr>
          <p:cNvPr id="374" name="Quality of unstructured big data…"/>
          <p:cNvSpPr txBox="1"/>
          <p:nvPr/>
        </p:nvSpPr>
        <p:spPr>
          <a:xfrm>
            <a:off x="977899" y="1666875"/>
            <a:ext cx="9467852" cy="32535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71450" indent="-171450" defTabSz="1216025">
              <a:lnSpc>
                <a:spcPct val="150000"/>
              </a:lnSpc>
              <a:spcBef>
                <a:spcPts val="400"/>
              </a:spcBef>
              <a:buSzPct val="100000"/>
              <a:buChar char="➢"/>
              <a:defRPr b="1" sz="2000">
                <a:solidFill>
                  <a:srgbClr val="FFFFFF"/>
                </a:solidFill>
                <a:latin typeface="Arial"/>
                <a:ea typeface="Arial"/>
                <a:cs typeface="Arial"/>
                <a:sym typeface="Arial"/>
              </a:defRPr>
            </a:pPr>
            <a:r>
              <a:t>Quality of unstructured big data</a:t>
            </a:r>
          </a:p>
          <a:p>
            <a:pPr marL="171450" indent="-171450" defTabSz="1216025">
              <a:lnSpc>
                <a:spcPct val="150000"/>
              </a:lnSpc>
              <a:spcBef>
                <a:spcPts val="400"/>
              </a:spcBef>
              <a:buSzPct val="100000"/>
              <a:buChar char="➢"/>
              <a:defRPr b="1" sz="2000">
                <a:solidFill>
                  <a:srgbClr val="FFFFFF"/>
                </a:solidFill>
                <a:latin typeface="Arial"/>
                <a:ea typeface="Arial"/>
                <a:cs typeface="Arial"/>
                <a:sym typeface="Arial"/>
              </a:defRPr>
            </a:pPr>
            <a:r>
              <a:t>Data sparsity</a:t>
            </a:r>
          </a:p>
          <a:p>
            <a:pPr marL="171450" indent="-171450" defTabSz="1216025">
              <a:lnSpc>
                <a:spcPct val="150000"/>
              </a:lnSpc>
              <a:spcBef>
                <a:spcPts val="400"/>
              </a:spcBef>
              <a:buSzPct val="100000"/>
              <a:buChar char="➢"/>
              <a:defRPr b="1" sz="2000">
                <a:solidFill>
                  <a:srgbClr val="FFFFFF"/>
                </a:solidFill>
                <a:latin typeface="Arial"/>
                <a:ea typeface="Arial"/>
                <a:cs typeface="Arial"/>
                <a:sym typeface="Arial"/>
              </a:defRPr>
            </a:pPr>
            <a:r>
              <a:t>Volume of unstructured big data</a:t>
            </a:r>
          </a:p>
          <a:p>
            <a:pPr marL="171450" indent="-171450" defTabSz="1216025">
              <a:lnSpc>
                <a:spcPct val="150000"/>
              </a:lnSpc>
              <a:spcBef>
                <a:spcPts val="400"/>
              </a:spcBef>
              <a:buSzPct val="100000"/>
              <a:buChar char="➢"/>
              <a:defRPr b="1" sz="2000">
                <a:solidFill>
                  <a:srgbClr val="FFFFFF"/>
                </a:solidFill>
                <a:latin typeface="Arial"/>
                <a:ea typeface="Arial"/>
                <a:cs typeface="Arial"/>
                <a:sym typeface="Arial"/>
              </a:defRPr>
            </a:pPr>
            <a:r>
              <a:t>Dimensionality and heterogeneity</a:t>
            </a:r>
          </a:p>
          <a:p>
            <a:pPr marL="171450" indent="-171450" defTabSz="1216025">
              <a:lnSpc>
                <a:spcPct val="150000"/>
              </a:lnSpc>
              <a:spcBef>
                <a:spcPts val="400"/>
              </a:spcBef>
              <a:buSzPct val="100000"/>
              <a:buChar char="➢"/>
              <a:defRPr b="1" sz="2000">
                <a:solidFill>
                  <a:srgbClr val="FFFFFF"/>
                </a:solidFill>
                <a:latin typeface="Arial"/>
                <a:ea typeface="Arial"/>
                <a:cs typeface="Arial"/>
                <a:sym typeface="Arial"/>
              </a:defRPr>
            </a:pPr>
            <a:r>
              <a:t>Data usability</a:t>
            </a:r>
          </a:p>
          <a:p>
            <a:pPr marL="171450" indent="-171450" defTabSz="1216025">
              <a:lnSpc>
                <a:spcPct val="150000"/>
              </a:lnSpc>
              <a:spcBef>
                <a:spcPts val="400"/>
              </a:spcBef>
              <a:buSzPct val="100000"/>
              <a:buChar char="➢"/>
              <a:defRPr b="1" sz="2000">
                <a:solidFill>
                  <a:srgbClr val="FFFFFF"/>
                </a:solidFill>
                <a:latin typeface="Arial"/>
                <a:ea typeface="Arial"/>
                <a:cs typeface="Arial"/>
                <a:sym typeface="Arial"/>
              </a:defRPr>
            </a:pPr>
            <a:r>
              <a:t>Context and semantic understanding</a:t>
            </a:r>
          </a:p>
          <a:p>
            <a:pPr marL="171450" indent="-171450" defTabSz="1216025">
              <a:lnSpc>
                <a:spcPct val="150000"/>
              </a:lnSpc>
              <a:spcBef>
                <a:spcPts val="400"/>
              </a:spcBef>
              <a:buSzPct val="100000"/>
              <a:buChar char="➢"/>
              <a:defRPr b="1" sz="2000">
                <a:solidFill>
                  <a:srgbClr val="FFFFFF"/>
                </a:solidFill>
                <a:latin typeface="Arial"/>
                <a:ea typeface="Arial"/>
                <a:cs typeface="Arial"/>
                <a:sym typeface="Arial"/>
              </a:defRPr>
            </a:pPr>
            <a:r>
              <a:t>Data modeling</a:t>
            </a:r>
          </a:p>
        </p:txBody>
      </p:sp>
      <p:sp>
        <p:nvSpPr>
          <p:cNvPr id="375" name="Adnan, K., Akbar, R. An analytical study of information extraction from unstructured and multidimensional big data. J Big Data 6, 91 (2019). https://doi.org/10.1186/s40537-019-0254-8"/>
          <p:cNvSpPr txBox="1"/>
          <p:nvPr/>
        </p:nvSpPr>
        <p:spPr>
          <a:xfrm>
            <a:off x="1354137" y="5580062"/>
            <a:ext cx="6919913" cy="3002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200"/>
              </a:spcBef>
              <a:defRPr b="1" sz="1100">
                <a:solidFill>
                  <a:srgbClr val="FFFFFF"/>
                </a:solidFill>
                <a:latin typeface="Arial"/>
                <a:ea typeface="Arial"/>
                <a:cs typeface="Arial"/>
                <a:sym typeface="Arial"/>
              </a:defRPr>
            </a:lvl1pPr>
          </a:lstStyle>
          <a:p>
            <a:pPr/>
            <a:r>
              <a:t>Adnan, K., Akbar, R. An analytical study of information extraction from unstructured and multidimensional big data. J Big Data 6, 91 (2019). https://doi.org/10.1186/s40537-019-0254-8</a:t>
            </a: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7"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380" name="Group"/>
          <p:cNvGrpSpPr/>
          <p:nvPr/>
        </p:nvGrpSpPr>
        <p:grpSpPr>
          <a:xfrm>
            <a:off x="10625137" y="5580062"/>
            <a:ext cx="1566864" cy="1281113"/>
            <a:chOff x="0" y="0"/>
            <a:chExt cx="1566862" cy="1281112"/>
          </a:xfrm>
        </p:grpSpPr>
        <p:pic>
          <p:nvPicPr>
            <p:cNvPr id="378"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379"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381"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82" name="IE Challenges - Quality of unstructured big data"/>
          <p:cNvSpPr txBox="1"/>
          <p:nvPr/>
        </p:nvSpPr>
        <p:spPr>
          <a:xfrm>
            <a:off x="190182" y="207962"/>
            <a:ext cx="6996818"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IE Challenges - Quality of unstructured big data</a:t>
            </a:r>
          </a:p>
        </p:txBody>
      </p:sp>
      <p:sp>
        <p:nvSpPr>
          <p:cNvPr id="383" name="Noise, missing data, incomplete data and low quality data are major quality issues of unstructured big data that degrades the performance of IE process. The quality issues of unstructured big data are huge barriers in extracting useful and most relevant "/>
          <p:cNvSpPr txBox="1"/>
          <p:nvPr/>
        </p:nvSpPr>
        <p:spPr>
          <a:xfrm>
            <a:off x="1444625" y="2466975"/>
            <a:ext cx="8243888" cy="20363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6025">
              <a:spcBef>
                <a:spcPts val="400"/>
              </a:spcBef>
              <a:defRPr b="1" sz="2000">
                <a:solidFill>
                  <a:srgbClr val="00B050"/>
                </a:solidFill>
                <a:latin typeface="Arial"/>
                <a:ea typeface="Arial"/>
                <a:cs typeface="Arial"/>
                <a:sym typeface="Arial"/>
              </a:defRPr>
            </a:pPr>
            <a:r>
              <a:t>Noise</a:t>
            </a:r>
            <a:r>
              <a:rPr>
                <a:solidFill>
                  <a:srgbClr val="FFFFFF"/>
                </a:solidFill>
              </a:rPr>
              <a:t>, </a:t>
            </a:r>
            <a:r>
              <a:t>missing data</a:t>
            </a:r>
            <a:r>
              <a:rPr>
                <a:solidFill>
                  <a:srgbClr val="FFFFFF"/>
                </a:solidFill>
              </a:rPr>
              <a:t>, </a:t>
            </a:r>
            <a:r>
              <a:t>incomplete data </a:t>
            </a:r>
            <a:r>
              <a:rPr>
                <a:solidFill>
                  <a:srgbClr val="FFFFFF"/>
                </a:solidFill>
              </a:rPr>
              <a:t>and </a:t>
            </a:r>
            <a:r>
              <a:t>low quality </a:t>
            </a:r>
            <a:r>
              <a:rPr>
                <a:solidFill>
                  <a:srgbClr val="FFFFFF"/>
                </a:solidFill>
              </a:rPr>
              <a:t>data are major quality issues of unstructured big data that degrades the performance of IE process. The quality issues of unstructured big data are huge barriers in extracting useful and most relevant information that makes IE process arduous. Quality improvement, early in the process, is the utmost requirement of IE from unstructured big data.</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4" presetID="2" grpId="1" fill="hold">
                                  <p:stCondLst>
                                    <p:cond delay="0"/>
                                  </p:stCondLst>
                                  <p:iterate type="el" backwards="0">
                                    <p:tmAbs val="0"/>
                                  </p:iterate>
                                  <p:childTnLst>
                                    <p:set>
                                      <p:cBhvr>
                                        <p:cTn id="6" fill="hold"/>
                                        <p:tgtEl>
                                          <p:spTgt spid="383"/>
                                        </p:tgtEl>
                                        <p:attrNameLst>
                                          <p:attrName>style.visibility</p:attrName>
                                        </p:attrNameLst>
                                      </p:cBhvr>
                                      <p:to>
                                        <p:strVal val="visible"/>
                                      </p:to>
                                    </p:set>
                                    <p:anim calcmode="lin" valueType="num">
                                      <p:cBhvr>
                                        <p:cTn id="7" dur="500" fill="hold"/>
                                        <p:tgtEl>
                                          <p:spTgt spid="383"/>
                                        </p:tgtEl>
                                        <p:attrNameLst>
                                          <p:attrName>ppt_x</p:attrName>
                                        </p:attrNameLst>
                                      </p:cBhvr>
                                      <p:tavLst>
                                        <p:tav tm="0">
                                          <p:val>
                                            <p:strVal val="#ppt_x"/>
                                          </p:val>
                                        </p:tav>
                                        <p:tav tm="100000">
                                          <p:val>
                                            <p:strVal val="#ppt_x"/>
                                          </p:val>
                                        </p:tav>
                                      </p:tavLst>
                                    </p:anim>
                                    <p:anim calcmode="lin" valueType="num">
                                      <p:cBhvr>
                                        <p:cTn id="8" dur="500" fill="hold"/>
                                        <p:tgtEl>
                                          <p:spTgt spid="3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83" grpId="1"/>
    </p:bldLst>
  </p:timing>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5"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388" name="Group"/>
          <p:cNvGrpSpPr/>
          <p:nvPr/>
        </p:nvGrpSpPr>
        <p:grpSpPr>
          <a:xfrm>
            <a:off x="10625137" y="5580062"/>
            <a:ext cx="1566864" cy="1281113"/>
            <a:chOff x="0" y="0"/>
            <a:chExt cx="1566862" cy="1281112"/>
          </a:xfrm>
        </p:grpSpPr>
        <p:pic>
          <p:nvPicPr>
            <p:cNvPr id="386"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387"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389"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90" name="IE Challenges - Data sparsity"/>
          <p:cNvSpPr txBox="1"/>
          <p:nvPr/>
        </p:nvSpPr>
        <p:spPr>
          <a:xfrm>
            <a:off x="190182" y="207962"/>
            <a:ext cx="4288146"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IE Challenges - Data sparsity</a:t>
            </a:r>
          </a:p>
        </p:txBody>
      </p:sp>
      <p:sp>
        <p:nvSpPr>
          <p:cNvPr id="391" name="The enormous growth of user-generated content increased the data sparsity (a.k.a. data sparseness and data paucity) issues where only small fraction of data contains interesting and useful information. Text analysis of social media data, summarization of"/>
          <p:cNvSpPr txBox="1"/>
          <p:nvPr/>
        </p:nvSpPr>
        <p:spPr>
          <a:xfrm>
            <a:off x="1285875" y="2001837"/>
            <a:ext cx="8859838" cy="29126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6025">
              <a:spcBef>
                <a:spcPts val="400"/>
              </a:spcBef>
              <a:defRPr b="1" sz="2000">
                <a:solidFill>
                  <a:srgbClr val="FFFFFF"/>
                </a:solidFill>
                <a:latin typeface="Arial"/>
                <a:ea typeface="Arial"/>
                <a:cs typeface="Arial"/>
                <a:sym typeface="Arial"/>
              </a:defRPr>
            </a:pPr>
            <a:r>
              <a:t>The enormous growth of user-generated content increased the data sparsity (a.k.a. data sparseness and data paucity) issues where only </a:t>
            </a:r>
            <a:r>
              <a:rPr>
                <a:solidFill>
                  <a:srgbClr val="00B050"/>
                </a:solidFill>
              </a:rPr>
              <a:t>small fraction of data contains interesting and useful information</a:t>
            </a:r>
            <a:r>
              <a:t>. Text analysis of social media data, summarization of visual data are directly associated with user-generated content. Due to the sparsity of content, it became difficult to find most relevant representative data to produce semantically rich results. </a:t>
            </a:r>
            <a:r>
              <a:rPr>
                <a:solidFill>
                  <a:srgbClr val="00B050"/>
                </a:solidFill>
              </a:rPr>
              <a:t>There is a false assumption about large datasets that frequent extractions from large datasets can produce better results</a:t>
            </a:r>
            <a:r>
              <a:t>. Extracting a small amount of evidence in the corpus to present useful information is a challenge for unstructured big datasets. </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4" presetID="2" grpId="1" fill="hold">
                                  <p:stCondLst>
                                    <p:cond delay="0"/>
                                  </p:stCondLst>
                                  <p:iterate type="el" backwards="0">
                                    <p:tmAbs val="0"/>
                                  </p:iterate>
                                  <p:childTnLst>
                                    <p:set>
                                      <p:cBhvr>
                                        <p:cTn id="6" fill="hold"/>
                                        <p:tgtEl>
                                          <p:spTgt spid="391"/>
                                        </p:tgtEl>
                                        <p:attrNameLst>
                                          <p:attrName>style.visibility</p:attrName>
                                        </p:attrNameLst>
                                      </p:cBhvr>
                                      <p:to>
                                        <p:strVal val="visible"/>
                                      </p:to>
                                    </p:set>
                                    <p:anim calcmode="lin" valueType="num">
                                      <p:cBhvr>
                                        <p:cTn id="7" dur="1000" fill="hold"/>
                                        <p:tgtEl>
                                          <p:spTgt spid="391"/>
                                        </p:tgtEl>
                                        <p:attrNameLst>
                                          <p:attrName>ppt_x</p:attrName>
                                        </p:attrNameLst>
                                      </p:cBhvr>
                                      <p:tavLst>
                                        <p:tav tm="0">
                                          <p:val>
                                            <p:strVal val="#ppt_x"/>
                                          </p:val>
                                        </p:tav>
                                        <p:tav tm="100000">
                                          <p:val>
                                            <p:strVal val="#ppt_x"/>
                                          </p:val>
                                        </p:tav>
                                      </p:tavLst>
                                    </p:anim>
                                    <p:anim calcmode="lin" valueType="num">
                                      <p:cBhvr>
                                        <p:cTn id="8" dur="1000" fill="hold"/>
                                        <p:tgtEl>
                                          <p:spTgt spid="3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91" grpId="1"/>
    </p:bldLst>
  </p:timing>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3"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396" name="Group"/>
          <p:cNvGrpSpPr/>
          <p:nvPr/>
        </p:nvGrpSpPr>
        <p:grpSpPr>
          <a:xfrm>
            <a:off x="10625137" y="5580062"/>
            <a:ext cx="1566864" cy="1281113"/>
            <a:chOff x="0" y="0"/>
            <a:chExt cx="1566862" cy="1281112"/>
          </a:xfrm>
        </p:grpSpPr>
        <p:pic>
          <p:nvPicPr>
            <p:cNvPr id="394"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395"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397"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98" name="IE Challenges - Volume of unstructured big data"/>
          <p:cNvSpPr txBox="1"/>
          <p:nvPr/>
        </p:nvSpPr>
        <p:spPr>
          <a:xfrm>
            <a:off x="190182" y="207962"/>
            <a:ext cx="7042062"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IE Challenges - Volume of unstructured big data</a:t>
            </a:r>
          </a:p>
        </p:txBody>
      </p:sp>
      <p:sp>
        <p:nvSpPr>
          <p:cNvPr id="399" name="Existing techniques should adopt new size and time requirements to deal with IE from big data. Automatic IE and structuring the unstructured big data requires the scaling of existing methods designed for very small data to process millions of data record"/>
          <p:cNvSpPr txBox="1"/>
          <p:nvPr/>
        </p:nvSpPr>
        <p:spPr>
          <a:xfrm>
            <a:off x="1208087" y="2362200"/>
            <a:ext cx="8859838" cy="17442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6025">
              <a:spcBef>
                <a:spcPts val="400"/>
              </a:spcBef>
              <a:defRPr b="1" sz="2000">
                <a:solidFill>
                  <a:srgbClr val="FFFFFF"/>
                </a:solidFill>
                <a:latin typeface="Arial"/>
                <a:ea typeface="Arial"/>
                <a:cs typeface="Arial"/>
                <a:sym typeface="Arial"/>
              </a:defRPr>
            </a:pPr>
            <a:r>
              <a:t>Existing techniques should adopt new size and time requirements to deal with IE from big data. Automatic IE and structuring the unstructured big data requires </a:t>
            </a:r>
            <a:r>
              <a:rPr>
                <a:solidFill>
                  <a:srgbClr val="00B050"/>
                </a:solidFill>
              </a:rPr>
              <a:t>the scaling of existing methods designed for very small data to process millions of data records</a:t>
            </a:r>
            <a:r>
              <a:t>. Therefore, </a:t>
            </a:r>
            <a:r>
              <a:rPr>
                <a:solidFill>
                  <a:srgbClr val="00B050"/>
                </a:solidFill>
              </a:rPr>
              <a:t>distributed and parallel computing</a:t>
            </a:r>
            <a:r>
              <a:t> should be adopted for improved </a:t>
            </a:r>
            <a:r>
              <a:rPr>
                <a:solidFill>
                  <a:srgbClr val="00B050"/>
                </a:solidFill>
              </a:rPr>
              <a:t>efficacy</a:t>
            </a:r>
            <a:r>
              <a:t> of IE from unstructured big data. </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4" presetID="2" grpId="1" fill="hold">
                                  <p:stCondLst>
                                    <p:cond delay="0"/>
                                  </p:stCondLst>
                                  <p:iterate type="el" backwards="0">
                                    <p:tmAbs val="0"/>
                                  </p:iterate>
                                  <p:childTnLst>
                                    <p:set>
                                      <p:cBhvr>
                                        <p:cTn id="6" fill="hold"/>
                                        <p:tgtEl>
                                          <p:spTgt spid="399"/>
                                        </p:tgtEl>
                                        <p:attrNameLst>
                                          <p:attrName>style.visibility</p:attrName>
                                        </p:attrNameLst>
                                      </p:cBhvr>
                                      <p:to>
                                        <p:strVal val="visible"/>
                                      </p:to>
                                    </p:set>
                                    <p:anim calcmode="lin" valueType="num">
                                      <p:cBhvr>
                                        <p:cTn id="7" dur="1000" fill="hold"/>
                                        <p:tgtEl>
                                          <p:spTgt spid="399"/>
                                        </p:tgtEl>
                                        <p:attrNameLst>
                                          <p:attrName>ppt_x</p:attrName>
                                        </p:attrNameLst>
                                      </p:cBhvr>
                                      <p:tavLst>
                                        <p:tav tm="0">
                                          <p:val>
                                            <p:strVal val="#ppt_x"/>
                                          </p:val>
                                        </p:tav>
                                        <p:tav tm="100000">
                                          <p:val>
                                            <p:strVal val="#ppt_x"/>
                                          </p:val>
                                        </p:tav>
                                      </p:tavLst>
                                    </p:anim>
                                    <p:anim calcmode="lin" valueType="num">
                                      <p:cBhvr>
                                        <p:cTn id="8" dur="1000" fill="hold"/>
                                        <p:tgtEl>
                                          <p:spTgt spid="3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99" grpId="1"/>
    </p:bldLst>
  </p:timing>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1"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404" name="Group"/>
          <p:cNvGrpSpPr/>
          <p:nvPr/>
        </p:nvGrpSpPr>
        <p:grpSpPr>
          <a:xfrm>
            <a:off x="10625137" y="5580062"/>
            <a:ext cx="1566864" cy="1281113"/>
            <a:chOff x="0" y="0"/>
            <a:chExt cx="1566862" cy="1281112"/>
          </a:xfrm>
        </p:grpSpPr>
        <p:pic>
          <p:nvPicPr>
            <p:cNvPr id="402"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403"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405"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06" name="IE Challenges - Dimensionality and heterogeneity"/>
          <p:cNvSpPr txBox="1"/>
          <p:nvPr/>
        </p:nvSpPr>
        <p:spPr>
          <a:xfrm>
            <a:off x="190182" y="207962"/>
            <a:ext cx="7251612"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IE Challenges - Dimensionality and heterogeneity</a:t>
            </a:r>
          </a:p>
        </p:txBody>
      </p:sp>
      <p:sp>
        <p:nvSpPr>
          <p:cNvPr id="407" name="Unstructured big data comes with high dimensionality, diversity, dynamicity and heterogeneity. Dimensionality reduction and semantic annotation can further improve the IE performance of high dimensional and heterogeneous data respectively. The techniques"/>
          <p:cNvSpPr txBox="1"/>
          <p:nvPr/>
        </p:nvSpPr>
        <p:spPr>
          <a:xfrm>
            <a:off x="1208087" y="2362200"/>
            <a:ext cx="9245601" cy="20363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6025">
              <a:spcBef>
                <a:spcPts val="400"/>
              </a:spcBef>
              <a:defRPr b="1" sz="2000">
                <a:solidFill>
                  <a:srgbClr val="FFFFFF"/>
                </a:solidFill>
                <a:latin typeface="Arial"/>
                <a:ea typeface="Arial"/>
                <a:cs typeface="Arial"/>
                <a:sym typeface="Arial"/>
              </a:defRPr>
            </a:pPr>
            <a:r>
              <a:t>Unstructured big data comes with </a:t>
            </a:r>
            <a:r>
              <a:rPr>
                <a:solidFill>
                  <a:srgbClr val="00B050"/>
                </a:solidFill>
              </a:rPr>
              <a:t>high dimensionality</a:t>
            </a:r>
            <a:r>
              <a:t>, </a:t>
            </a:r>
            <a:r>
              <a:rPr>
                <a:solidFill>
                  <a:srgbClr val="00B050"/>
                </a:solidFill>
              </a:rPr>
              <a:t>diversity</a:t>
            </a:r>
            <a:r>
              <a:t>, </a:t>
            </a:r>
            <a:r>
              <a:rPr>
                <a:solidFill>
                  <a:srgbClr val="00B050"/>
                </a:solidFill>
              </a:rPr>
              <a:t>dynamicity</a:t>
            </a:r>
            <a:r>
              <a:t> and </a:t>
            </a:r>
            <a:r>
              <a:rPr>
                <a:solidFill>
                  <a:srgbClr val="00B050"/>
                </a:solidFill>
              </a:rPr>
              <a:t>heterogeneity</a:t>
            </a:r>
            <a:r>
              <a:t>. Dimensionality reduction and semantic annotation can further improve the IE performance of high dimensional and heterogeneous data respectively. The techniques with high representational power are appropriate for high dimensional data. With the influx of data from </a:t>
            </a:r>
            <a:r>
              <a:rPr>
                <a:solidFill>
                  <a:srgbClr val="00B050"/>
                </a:solidFill>
              </a:rPr>
              <a:t>increasingly diverse sources</a:t>
            </a:r>
            <a:r>
              <a:t>, big data IE and analytics require advanced techniques to handle more than data accessibility.</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4" presetID="2" grpId="1" fill="hold">
                                  <p:stCondLst>
                                    <p:cond delay="0"/>
                                  </p:stCondLst>
                                  <p:iterate type="el" backwards="0">
                                    <p:tmAbs val="0"/>
                                  </p:iterate>
                                  <p:childTnLst>
                                    <p:set>
                                      <p:cBhvr>
                                        <p:cTn id="6" fill="hold"/>
                                        <p:tgtEl>
                                          <p:spTgt spid="407"/>
                                        </p:tgtEl>
                                        <p:attrNameLst>
                                          <p:attrName>style.visibility</p:attrName>
                                        </p:attrNameLst>
                                      </p:cBhvr>
                                      <p:to>
                                        <p:strVal val="visible"/>
                                      </p:to>
                                    </p:set>
                                    <p:anim calcmode="lin" valueType="num">
                                      <p:cBhvr>
                                        <p:cTn id="7" dur="1000" fill="hold"/>
                                        <p:tgtEl>
                                          <p:spTgt spid="407"/>
                                        </p:tgtEl>
                                        <p:attrNameLst>
                                          <p:attrName>ppt_x</p:attrName>
                                        </p:attrNameLst>
                                      </p:cBhvr>
                                      <p:tavLst>
                                        <p:tav tm="0">
                                          <p:val>
                                            <p:strVal val="#ppt_x"/>
                                          </p:val>
                                        </p:tav>
                                        <p:tav tm="100000">
                                          <p:val>
                                            <p:strVal val="#ppt_x"/>
                                          </p:val>
                                        </p:tav>
                                      </p:tavLst>
                                    </p:anim>
                                    <p:anim calcmode="lin" valueType="num">
                                      <p:cBhvr>
                                        <p:cTn id="8" dur="1000" fill="hold"/>
                                        <p:tgtEl>
                                          <p:spTgt spid="4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07" grpId="1"/>
    </p:bldLst>
  </p:timing>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9"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412" name="Group"/>
          <p:cNvGrpSpPr/>
          <p:nvPr/>
        </p:nvGrpSpPr>
        <p:grpSpPr>
          <a:xfrm>
            <a:off x="10625137" y="5580062"/>
            <a:ext cx="1566864" cy="1281113"/>
            <a:chOff x="0" y="0"/>
            <a:chExt cx="1566862" cy="1281112"/>
          </a:xfrm>
        </p:grpSpPr>
        <p:pic>
          <p:nvPicPr>
            <p:cNvPr id="410"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411"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413"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14" name="IE Challenges - Data usability"/>
          <p:cNvSpPr txBox="1"/>
          <p:nvPr/>
        </p:nvSpPr>
        <p:spPr>
          <a:xfrm>
            <a:off x="190182" y="207962"/>
            <a:ext cx="4355565"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IE Challenges - Data usability</a:t>
            </a:r>
          </a:p>
        </p:txBody>
      </p:sp>
      <p:sp>
        <p:nvSpPr>
          <p:cNvPr id="415" name="Unstructured big data is a rich source of information but exploitation of relevant information is one of the major challenges. It is more relevant to the optimal data selection with balance of cost, speed and accuracy. The main problem with unstructured "/>
          <p:cNvSpPr txBox="1"/>
          <p:nvPr/>
        </p:nvSpPr>
        <p:spPr>
          <a:xfrm>
            <a:off x="1208087" y="2362200"/>
            <a:ext cx="9245601" cy="20363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6025">
              <a:spcBef>
                <a:spcPts val="400"/>
              </a:spcBef>
              <a:defRPr b="1" sz="2000">
                <a:solidFill>
                  <a:srgbClr val="FFFFFF"/>
                </a:solidFill>
                <a:latin typeface="Arial"/>
                <a:ea typeface="Arial"/>
                <a:cs typeface="Arial"/>
                <a:sym typeface="Arial"/>
              </a:defRPr>
            </a:pPr>
            <a:r>
              <a:t>Unstructured big data is a rich source of information but </a:t>
            </a:r>
            <a:r>
              <a:rPr>
                <a:solidFill>
                  <a:srgbClr val="00B050"/>
                </a:solidFill>
              </a:rPr>
              <a:t>exploitation of relevant information</a:t>
            </a:r>
            <a:r>
              <a:t> is one of the major challenges. It is more relevant to the optimal data selection </a:t>
            </a:r>
            <a:r>
              <a:rPr>
                <a:solidFill>
                  <a:srgbClr val="00B050"/>
                </a:solidFill>
              </a:rPr>
              <a:t>with balance of cost, speed and accuracy</a:t>
            </a:r>
            <a:r>
              <a:t>. The main problem with unstructured big data is, </a:t>
            </a:r>
            <a:r>
              <a:rPr>
                <a:solidFill>
                  <a:srgbClr val="00B050"/>
                </a:solidFill>
              </a:rPr>
              <a:t>huge deluge of data is available, but it is not usable</a:t>
            </a:r>
            <a:r>
              <a:t>. Usability of data is defined as the capacity of data to fulfill the requirements of user for a given purpose, area and epoch. Data usability helps to know more about data, its understanding and its usage.</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4" presetID="2" grpId="1" fill="hold">
                                  <p:stCondLst>
                                    <p:cond delay="0"/>
                                  </p:stCondLst>
                                  <p:iterate type="el" backwards="0">
                                    <p:tmAbs val="0"/>
                                  </p:iterate>
                                  <p:childTnLst>
                                    <p:set>
                                      <p:cBhvr>
                                        <p:cTn id="6" fill="hold"/>
                                        <p:tgtEl>
                                          <p:spTgt spid="415"/>
                                        </p:tgtEl>
                                        <p:attrNameLst>
                                          <p:attrName>style.visibility</p:attrName>
                                        </p:attrNameLst>
                                      </p:cBhvr>
                                      <p:to>
                                        <p:strVal val="visible"/>
                                      </p:to>
                                    </p:set>
                                    <p:anim calcmode="lin" valueType="num">
                                      <p:cBhvr>
                                        <p:cTn id="7" dur="1000" fill="hold"/>
                                        <p:tgtEl>
                                          <p:spTgt spid="415"/>
                                        </p:tgtEl>
                                        <p:attrNameLst>
                                          <p:attrName>ppt_x</p:attrName>
                                        </p:attrNameLst>
                                      </p:cBhvr>
                                      <p:tavLst>
                                        <p:tav tm="0">
                                          <p:val>
                                            <p:strVal val="#ppt_x"/>
                                          </p:val>
                                        </p:tav>
                                        <p:tav tm="100000">
                                          <p:val>
                                            <p:strVal val="#ppt_x"/>
                                          </p:val>
                                        </p:tav>
                                      </p:tavLst>
                                    </p:anim>
                                    <p:anim calcmode="lin" valueType="num">
                                      <p:cBhvr>
                                        <p:cTn id="8" dur="1000" fill="hold"/>
                                        <p:tgtEl>
                                          <p:spTgt spid="4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15" grpId="1"/>
    </p:bldLst>
  </p:timing>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7"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420" name="Group"/>
          <p:cNvGrpSpPr/>
          <p:nvPr/>
        </p:nvGrpSpPr>
        <p:grpSpPr>
          <a:xfrm>
            <a:off x="10625137" y="5580062"/>
            <a:ext cx="1566864" cy="1281113"/>
            <a:chOff x="0" y="0"/>
            <a:chExt cx="1566862" cy="1281112"/>
          </a:xfrm>
        </p:grpSpPr>
        <p:pic>
          <p:nvPicPr>
            <p:cNvPr id="418"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419"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421"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22" name="IE Challenges - Context and semantic understanding"/>
          <p:cNvSpPr txBox="1"/>
          <p:nvPr/>
        </p:nvSpPr>
        <p:spPr>
          <a:xfrm>
            <a:off x="190182" y="207962"/>
            <a:ext cx="7742298"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IE Challenges - Context and semantic understanding</a:t>
            </a:r>
          </a:p>
        </p:txBody>
      </p:sp>
      <p:sp>
        <p:nvSpPr>
          <p:cNvPr id="423" name="Identifying the context of interaction among entities and objects is a crucial task in IE, especially with high dimensional, heterogeneous, complex and poor quality data. Data ambiguities add more challenges to contextual IE. Semantics are important to f"/>
          <p:cNvSpPr txBox="1"/>
          <p:nvPr/>
        </p:nvSpPr>
        <p:spPr>
          <a:xfrm>
            <a:off x="1208087" y="2362200"/>
            <a:ext cx="9245601" cy="26205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6025">
              <a:spcBef>
                <a:spcPts val="400"/>
              </a:spcBef>
              <a:defRPr b="1" sz="2000">
                <a:solidFill>
                  <a:srgbClr val="FFFFFF"/>
                </a:solidFill>
                <a:latin typeface="Arial"/>
                <a:ea typeface="Arial"/>
                <a:cs typeface="Arial"/>
                <a:sym typeface="Arial"/>
              </a:defRPr>
            </a:pPr>
            <a:r>
              <a:t>Identifying the context of interaction among entities and objects is a crucial task in IE, especially with high dimensional, heterogeneous, complex and poor quality data. </a:t>
            </a:r>
            <a:r>
              <a:rPr>
                <a:solidFill>
                  <a:srgbClr val="00B050"/>
                </a:solidFill>
              </a:rPr>
              <a:t>Data ambiguities </a:t>
            </a:r>
            <a:r>
              <a:t>add more challenges to contextual IE. </a:t>
            </a:r>
            <a:r>
              <a:rPr>
                <a:solidFill>
                  <a:srgbClr val="00B050"/>
                </a:solidFill>
              </a:rPr>
              <a:t>Semantics</a:t>
            </a:r>
            <a:r>
              <a:t> are important to find relationship among entities and objects. Entities and object extraction from text and visual data </a:t>
            </a:r>
            <a:r>
              <a:rPr>
                <a:solidFill>
                  <a:srgbClr val="00B050"/>
                </a:solidFill>
              </a:rPr>
              <a:t>could not provide accurate information unless the context and semantics of interaction are identified</a:t>
            </a:r>
            <a:r>
              <a:t>. Efficient data prioritization and curation is important in this regard. Therefore, semantic and context understanding is important as well as challenging for big data IE due to quality and usability issues.</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4" presetID="2" grpId="1" fill="hold">
                                  <p:stCondLst>
                                    <p:cond delay="0"/>
                                  </p:stCondLst>
                                  <p:iterate type="el" backwards="0">
                                    <p:tmAbs val="0"/>
                                  </p:iterate>
                                  <p:childTnLst>
                                    <p:set>
                                      <p:cBhvr>
                                        <p:cTn id="6" fill="hold"/>
                                        <p:tgtEl>
                                          <p:spTgt spid="423"/>
                                        </p:tgtEl>
                                        <p:attrNameLst>
                                          <p:attrName>style.visibility</p:attrName>
                                        </p:attrNameLst>
                                      </p:cBhvr>
                                      <p:to>
                                        <p:strVal val="visible"/>
                                      </p:to>
                                    </p:set>
                                    <p:anim calcmode="lin" valueType="num">
                                      <p:cBhvr>
                                        <p:cTn id="7" dur="1000" fill="hold"/>
                                        <p:tgtEl>
                                          <p:spTgt spid="423"/>
                                        </p:tgtEl>
                                        <p:attrNameLst>
                                          <p:attrName>ppt_x</p:attrName>
                                        </p:attrNameLst>
                                      </p:cBhvr>
                                      <p:tavLst>
                                        <p:tav tm="0">
                                          <p:val>
                                            <p:strVal val="#ppt_x"/>
                                          </p:val>
                                        </p:tav>
                                        <p:tav tm="100000">
                                          <p:val>
                                            <p:strVal val="#ppt_x"/>
                                          </p:val>
                                        </p:tav>
                                      </p:tavLst>
                                    </p:anim>
                                    <p:anim calcmode="lin" valueType="num">
                                      <p:cBhvr>
                                        <p:cTn id="8" dur="1000" fill="hold"/>
                                        <p:tgtEl>
                                          <p:spTgt spid="4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23" grpId="1"/>
    </p:bldLst>
  </p:timing>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5"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428" name="Group"/>
          <p:cNvGrpSpPr/>
          <p:nvPr/>
        </p:nvGrpSpPr>
        <p:grpSpPr>
          <a:xfrm>
            <a:off x="10625137" y="5580062"/>
            <a:ext cx="1566864" cy="1281113"/>
            <a:chOff x="0" y="0"/>
            <a:chExt cx="1566862" cy="1281112"/>
          </a:xfrm>
        </p:grpSpPr>
        <p:pic>
          <p:nvPicPr>
            <p:cNvPr id="426"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427"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429"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30" name="IE Challenges - Data modeling"/>
          <p:cNvSpPr txBox="1"/>
          <p:nvPr/>
        </p:nvSpPr>
        <p:spPr>
          <a:xfrm>
            <a:off x="190182" y="207962"/>
            <a:ext cx="4473735"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IE Challenges - Data modeling</a:t>
            </a:r>
          </a:p>
        </p:txBody>
      </p:sp>
      <p:sp>
        <p:nvSpPr>
          <p:cNvPr id="431" name="Machine learning-based techniques are more popular for IE as it reduces manual intensive labor. Efficient data modeling is an important task in learning-based IE techniques. High dimensionality, heterogeneity and low quality of unstructured big data add "/>
          <p:cNvSpPr txBox="1"/>
          <p:nvPr/>
        </p:nvSpPr>
        <p:spPr>
          <a:xfrm>
            <a:off x="1208087" y="2362200"/>
            <a:ext cx="9518651" cy="17442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6025">
              <a:spcBef>
                <a:spcPts val="400"/>
              </a:spcBef>
              <a:defRPr b="1" sz="2000">
                <a:solidFill>
                  <a:srgbClr val="FFFFFF"/>
                </a:solidFill>
                <a:latin typeface="Arial"/>
                <a:ea typeface="Arial"/>
                <a:cs typeface="Arial"/>
                <a:sym typeface="Arial"/>
              </a:defRPr>
            </a:pPr>
            <a:r>
              <a:t>Machine learning-based techniques are more popular for IE as it reduces manual intensive labor. </a:t>
            </a:r>
            <a:r>
              <a:rPr>
                <a:solidFill>
                  <a:srgbClr val="00B050"/>
                </a:solidFill>
              </a:rPr>
              <a:t>Efficient data modeling </a:t>
            </a:r>
            <a:r>
              <a:t>is an important task in learning-based IE techniques. High dimensionality, heterogeneity and low quality of unstructured big data add complexities to data modeling process. </a:t>
            </a:r>
            <a:r>
              <a:rPr>
                <a:solidFill>
                  <a:srgbClr val="00B050"/>
                </a:solidFill>
              </a:rPr>
              <a:t>Efficient parallelism and computational power are required to support large data models</a:t>
            </a:r>
            <a:r>
              <a:t>.</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4" presetID="2" grpId="1" fill="hold">
                                  <p:stCondLst>
                                    <p:cond delay="0"/>
                                  </p:stCondLst>
                                  <p:iterate type="el" backwards="0">
                                    <p:tmAbs val="0"/>
                                  </p:iterate>
                                  <p:childTnLst>
                                    <p:set>
                                      <p:cBhvr>
                                        <p:cTn id="6" fill="hold"/>
                                        <p:tgtEl>
                                          <p:spTgt spid="431"/>
                                        </p:tgtEl>
                                        <p:attrNameLst>
                                          <p:attrName>style.visibility</p:attrName>
                                        </p:attrNameLst>
                                      </p:cBhvr>
                                      <p:to>
                                        <p:strVal val="visible"/>
                                      </p:to>
                                    </p:set>
                                    <p:anim calcmode="lin" valueType="num">
                                      <p:cBhvr>
                                        <p:cTn id="7" dur="1000" fill="hold"/>
                                        <p:tgtEl>
                                          <p:spTgt spid="431"/>
                                        </p:tgtEl>
                                        <p:attrNameLst>
                                          <p:attrName>ppt_x</p:attrName>
                                        </p:attrNameLst>
                                      </p:cBhvr>
                                      <p:tavLst>
                                        <p:tav tm="0">
                                          <p:val>
                                            <p:strVal val="#ppt_x"/>
                                          </p:val>
                                        </p:tav>
                                        <p:tav tm="100000">
                                          <p:val>
                                            <p:strVal val="#ppt_x"/>
                                          </p:val>
                                        </p:tav>
                                      </p:tavLst>
                                    </p:anim>
                                    <p:anim calcmode="lin" valueType="num">
                                      <p:cBhvr>
                                        <p:cTn id="8" dur="1000" fill="hold"/>
                                        <p:tgtEl>
                                          <p:spTgt spid="4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31" grpId="1"/>
    </p:bldLst>
  </p:timing>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433" name="image.png" descr="image.png"/>
          <p:cNvPicPr>
            <a:picLocks noChangeAspect="1"/>
          </p:cNvPicPr>
          <p:nvPr/>
        </p:nvPicPr>
        <p:blipFill>
          <a:blip r:embed="rId2">
            <a:extLst/>
          </a:blip>
          <a:stretch>
            <a:fillRect/>
          </a:stretch>
        </p:blipFill>
        <p:spPr>
          <a:xfrm>
            <a:off x="2632075" y="354012"/>
            <a:ext cx="7481888" cy="3743326"/>
          </a:xfrm>
          <a:prstGeom prst="rect">
            <a:avLst/>
          </a:prstGeom>
          <a:ln w="12700">
            <a:miter lim="400000"/>
          </a:ln>
        </p:spPr>
      </p:pic>
      <p:sp>
        <p:nvSpPr>
          <p:cNvPr id="434" name="Rectangle"/>
          <p:cNvSpPr/>
          <p:nvPr/>
        </p:nvSpPr>
        <p:spPr>
          <a:xfrm>
            <a:off x="0" y="4902200"/>
            <a:ext cx="12192000" cy="1955800"/>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35" name="5"/>
          <p:cNvSpPr txBox="1"/>
          <p:nvPr/>
        </p:nvSpPr>
        <p:spPr>
          <a:xfrm>
            <a:off x="45720" y="1571625"/>
            <a:ext cx="1403985" cy="533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4400">
                <a:solidFill>
                  <a:srgbClr val="1C4885"/>
                </a:solidFill>
                <a:latin typeface="Microsoft YaHei"/>
                <a:ea typeface="Microsoft YaHei"/>
                <a:cs typeface="Microsoft YaHei"/>
                <a:sym typeface="Microsoft YaHei"/>
              </a:defRPr>
            </a:lvl1pPr>
          </a:lstStyle>
          <a:p>
            <a:pPr/>
            <a:r>
              <a:t>5</a:t>
            </a:r>
          </a:p>
        </p:txBody>
      </p:sp>
      <p:sp>
        <p:nvSpPr>
          <p:cNvPr id="436" name="IE using Python"/>
          <p:cNvSpPr txBox="1"/>
          <p:nvPr/>
        </p:nvSpPr>
        <p:spPr>
          <a:xfrm>
            <a:off x="2544444" y="3832225"/>
            <a:ext cx="9370062" cy="9169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rgbClr val="1C4885"/>
                </a:solidFill>
                <a:latin typeface="Microsoft YaHei"/>
                <a:ea typeface="Microsoft YaHei"/>
                <a:cs typeface="Microsoft YaHei"/>
                <a:sym typeface="Microsoft YaHei"/>
              </a:defRPr>
            </a:lvl1pPr>
          </a:lstStyle>
          <a:p>
            <a:pPr/>
            <a:r>
              <a:t>IE using Python</a:t>
            </a:r>
          </a:p>
        </p:txBody>
      </p:sp>
      <p:grpSp>
        <p:nvGrpSpPr>
          <p:cNvPr id="439" name="Group"/>
          <p:cNvGrpSpPr/>
          <p:nvPr/>
        </p:nvGrpSpPr>
        <p:grpSpPr>
          <a:xfrm>
            <a:off x="6804024" y="3178174"/>
            <a:ext cx="5578477" cy="3481389"/>
            <a:chOff x="0" y="0"/>
            <a:chExt cx="5578475" cy="3481387"/>
          </a:xfrm>
        </p:grpSpPr>
        <p:pic>
          <p:nvPicPr>
            <p:cNvPr id="437" name="image.png" descr="image.png"/>
            <p:cNvPicPr>
              <a:picLocks noChangeAspect="1"/>
            </p:cNvPicPr>
            <p:nvPr/>
          </p:nvPicPr>
          <p:blipFill>
            <a:blip r:embed="rId3">
              <a:extLst/>
            </a:blip>
            <a:srcRect l="0" t="0" r="0" b="52040"/>
            <a:stretch>
              <a:fillRect/>
            </a:stretch>
          </p:blipFill>
          <p:spPr>
            <a:xfrm>
              <a:off x="6646" y="0"/>
              <a:ext cx="5571830" cy="1720707"/>
            </a:xfrm>
            <a:prstGeom prst="rect">
              <a:avLst/>
            </a:prstGeom>
            <a:ln w="12700" cap="flat">
              <a:noFill/>
              <a:miter lim="400000"/>
            </a:ln>
            <a:effectLst/>
          </p:spPr>
        </p:pic>
        <p:pic>
          <p:nvPicPr>
            <p:cNvPr id="438" name="image.png" descr="image.png"/>
            <p:cNvPicPr>
              <a:picLocks noChangeAspect="1"/>
            </p:cNvPicPr>
            <p:nvPr/>
          </p:nvPicPr>
          <p:blipFill>
            <a:blip r:embed="rId3">
              <a:extLst/>
            </a:blip>
            <a:srcRect l="0" t="50633" r="2627" b="0"/>
            <a:stretch>
              <a:fillRect/>
            </a:stretch>
          </p:blipFill>
          <p:spPr>
            <a:xfrm>
              <a:off x="-1" y="1710252"/>
              <a:ext cx="5425464" cy="1771136"/>
            </a:xfrm>
            <a:prstGeom prst="rect">
              <a:avLst/>
            </a:prstGeom>
            <a:ln w="12700" cap="flat">
              <a:noFill/>
              <a:miter lim="400000"/>
            </a:ln>
            <a:effectLst/>
          </p:spPr>
        </p:pic>
      </p:grpSp>
      <p:sp>
        <p:nvSpPr>
          <p:cNvPr id="440" name="Shape"/>
          <p:cNvSpPr/>
          <p:nvPr/>
        </p:nvSpPr>
        <p:spPr>
          <a:xfrm>
            <a:off x="428625" y="4899025"/>
            <a:ext cx="2082800" cy="9763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292" y="0"/>
                </a:moveTo>
                <a:lnTo>
                  <a:pt x="21600" y="0"/>
                </a:lnTo>
                <a:lnTo>
                  <a:pt x="21401" y="4389"/>
                </a:lnTo>
                <a:cubicBezTo>
                  <a:pt x="20954" y="9033"/>
                  <a:pt x="19837" y="12819"/>
                  <a:pt x="18050" y="15746"/>
                </a:cubicBezTo>
                <a:cubicBezTo>
                  <a:pt x="15667" y="19649"/>
                  <a:pt x="12491" y="21600"/>
                  <a:pt x="8521" y="21600"/>
                </a:cubicBezTo>
                <a:cubicBezTo>
                  <a:pt x="4995" y="21600"/>
                  <a:pt x="2154" y="20357"/>
                  <a:pt x="0" y="17870"/>
                </a:cubicBezTo>
                <a:lnTo>
                  <a:pt x="0" y="4415"/>
                </a:lnTo>
                <a:cubicBezTo>
                  <a:pt x="2287" y="8066"/>
                  <a:pt x="4958" y="9892"/>
                  <a:pt x="8012" y="9892"/>
                </a:cubicBezTo>
                <a:cubicBezTo>
                  <a:pt x="9945" y="9892"/>
                  <a:pt x="11480" y="8979"/>
                  <a:pt x="12616" y="7154"/>
                </a:cubicBezTo>
                <a:cubicBezTo>
                  <a:pt x="13468" y="5784"/>
                  <a:pt x="14001" y="3982"/>
                  <a:pt x="14214" y="1745"/>
                </a:cubicBezTo>
                <a:lnTo>
                  <a:pt x="14292" y="0"/>
                </a:lnTo>
                <a:close/>
              </a:path>
            </a:pathLst>
          </a:custGeom>
          <a:solidFill>
            <a:srgbClr val="FFFFFF"/>
          </a:solidFill>
          <a:ln w="12700">
            <a:miter lim="400000"/>
          </a:ln>
        </p:spPr>
        <p:txBody>
          <a:bodyPr lIns="45719" rIns="45719"/>
          <a:lstStyle/>
          <a:p>
            <a:pPr/>
          </a:p>
        </p:txBody>
      </p:sp>
      <p:sp>
        <p:nvSpPr>
          <p:cNvPr id="441"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442"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444" name="image.png" descr="image.png"/>
          <p:cNvPicPr>
            <a:picLocks noChangeAspect="1"/>
          </p:cNvPicPr>
          <p:nvPr/>
        </p:nvPicPr>
        <p:blipFill>
          <a:blip r:embed="rId2">
            <a:extLst/>
          </a:blip>
          <a:stretch>
            <a:fillRect/>
          </a:stretch>
        </p:blipFill>
        <p:spPr>
          <a:xfrm>
            <a:off x="2632075" y="354012"/>
            <a:ext cx="7481888" cy="3743326"/>
          </a:xfrm>
          <a:prstGeom prst="rect">
            <a:avLst/>
          </a:prstGeom>
          <a:ln w="12700">
            <a:miter lim="400000"/>
          </a:ln>
        </p:spPr>
      </p:pic>
      <p:sp>
        <p:nvSpPr>
          <p:cNvPr id="445" name="Rectangle"/>
          <p:cNvSpPr/>
          <p:nvPr/>
        </p:nvSpPr>
        <p:spPr>
          <a:xfrm>
            <a:off x="0" y="4902200"/>
            <a:ext cx="12192000" cy="1955800"/>
          </a:xfrm>
          <a:prstGeom prst="rect">
            <a:avLst/>
          </a:prstGeom>
          <a:solidFill>
            <a:srgbClr val="1C4885"/>
          </a:solidFill>
          <a:ln w="12700">
            <a:miter lim="400000"/>
          </a:ln>
        </p:spPr>
        <p:txBody>
          <a:bodyPr lIns="45719" rIns="45719" anchor="ctr"/>
          <a:lstStyle/>
          <a:p>
            <a:pPr algn="ctr">
              <a:defRPr>
                <a:solidFill>
                  <a:srgbClr val="FFFFFF"/>
                </a:solidFill>
              </a:defRPr>
            </a:pPr>
          </a:p>
        </p:txBody>
      </p:sp>
      <p:grpSp>
        <p:nvGrpSpPr>
          <p:cNvPr id="448" name="Group"/>
          <p:cNvGrpSpPr/>
          <p:nvPr/>
        </p:nvGrpSpPr>
        <p:grpSpPr>
          <a:xfrm>
            <a:off x="6804024" y="3178174"/>
            <a:ext cx="5578477" cy="3481389"/>
            <a:chOff x="0" y="0"/>
            <a:chExt cx="5578475" cy="3481387"/>
          </a:xfrm>
        </p:grpSpPr>
        <p:pic>
          <p:nvPicPr>
            <p:cNvPr id="446" name="image.png" descr="image.png"/>
            <p:cNvPicPr>
              <a:picLocks noChangeAspect="1"/>
            </p:cNvPicPr>
            <p:nvPr/>
          </p:nvPicPr>
          <p:blipFill>
            <a:blip r:embed="rId3">
              <a:extLst/>
            </a:blip>
            <a:srcRect l="0" t="0" r="0" b="52040"/>
            <a:stretch>
              <a:fillRect/>
            </a:stretch>
          </p:blipFill>
          <p:spPr>
            <a:xfrm>
              <a:off x="6646" y="0"/>
              <a:ext cx="5571830" cy="1720707"/>
            </a:xfrm>
            <a:prstGeom prst="rect">
              <a:avLst/>
            </a:prstGeom>
            <a:ln w="12700" cap="flat">
              <a:noFill/>
              <a:miter lim="400000"/>
            </a:ln>
            <a:effectLst/>
          </p:spPr>
        </p:pic>
        <p:pic>
          <p:nvPicPr>
            <p:cNvPr id="447" name="image.png" descr="image.png"/>
            <p:cNvPicPr>
              <a:picLocks noChangeAspect="1"/>
            </p:cNvPicPr>
            <p:nvPr/>
          </p:nvPicPr>
          <p:blipFill>
            <a:blip r:embed="rId3">
              <a:extLst/>
            </a:blip>
            <a:srcRect l="0" t="50633" r="2627" b="0"/>
            <a:stretch>
              <a:fillRect/>
            </a:stretch>
          </p:blipFill>
          <p:spPr>
            <a:xfrm>
              <a:off x="-1" y="1710252"/>
              <a:ext cx="5425464" cy="1771136"/>
            </a:xfrm>
            <a:prstGeom prst="rect">
              <a:avLst/>
            </a:prstGeom>
            <a:ln w="12700" cap="flat">
              <a:noFill/>
              <a:miter lim="400000"/>
            </a:ln>
            <a:effectLst/>
          </p:spPr>
        </p:pic>
      </p:grpSp>
      <p:sp>
        <p:nvSpPr>
          <p:cNvPr id="449" name="Thank you"/>
          <p:cNvSpPr txBox="1"/>
          <p:nvPr/>
        </p:nvSpPr>
        <p:spPr>
          <a:xfrm>
            <a:off x="3395344" y="2900362"/>
            <a:ext cx="5609274" cy="1183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7200">
                <a:solidFill>
                  <a:srgbClr val="1C4885"/>
                </a:solidFill>
                <a:latin typeface="Microsoft YaHei"/>
                <a:ea typeface="Microsoft YaHei"/>
                <a:cs typeface="Microsoft YaHei"/>
                <a:sym typeface="Microsoft YaHei"/>
              </a:defRPr>
            </a:lvl1pPr>
          </a:lstStyle>
          <a:p>
            <a:pPr/>
            <a:r>
              <a:t>Thank you</a:t>
            </a:r>
          </a:p>
        </p:txBody>
      </p:sp>
      <p:sp>
        <p:nvSpPr>
          <p:cNvPr id="450" name="Line"/>
          <p:cNvSpPr/>
          <p:nvPr/>
        </p:nvSpPr>
        <p:spPr>
          <a:xfrm>
            <a:off x="3230562" y="4137025"/>
            <a:ext cx="5251451" cy="0"/>
          </a:xfrm>
          <a:prstGeom prst="line">
            <a:avLst/>
          </a:prstGeom>
          <a:ln w="6350">
            <a:solidFill>
              <a:srgbClr val="7F7F7F"/>
            </a:solidFill>
          </a:ln>
        </p:spPr>
        <p:txBody>
          <a:bodyPr lIns="45719" rIns="45719"/>
          <a:lstStyle/>
          <a:p>
            <a:pPr/>
          </a:p>
        </p:txBody>
      </p:sp>
      <p:sp>
        <p:nvSpPr>
          <p:cNvPr id="451"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452"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清风素材 https://12sc.taobao.com">
  <a:themeElements>
    <a:clrScheme name="清风素材 https://12sc.taobao.com">
      <a:dk1>
        <a:srgbClr val="000000"/>
      </a:dk1>
      <a:lt1>
        <a:srgbClr val="FFFFFF"/>
      </a:lt1>
      <a:dk2>
        <a:srgbClr val="A7A7A7"/>
      </a:dk2>
      <a:lt2>
        <a:srgbClr val="535353"/>
      </a:lt2>
      <a:accent1>
        <a:srgbClr val="5B9BD5"/>
      </a:accent1>
      <a:accent2>
        <a:srgbClr val="ED7D31"/>
      </a:accent2>
      <a:accent3>
        <a:srgbClr val="9BBB59"/>
      </a:accent3>
      <a:accent4>
        <a:srgbClr val="8064A2"/>
      </a:accent4>
      <a:accent5>
        <a:srgbClr val="4BACC6"/>
      </a:accent5>
      <a:accent6>
        <a:srgbClr val="F79646"/>
      </a:accent6>
      <a:hlink>
        <a:srgbClr val="0000FF"/>
      </a:hlink>
      <a:folHlink>
        <a:srgbClr val="FF00FF"/>
      </a:folHlink>
    </a:clrScheme>
    <a:fontScheme name="清风素材 https://12sc.taobao.com">
      <a:majorFont>
        <a:latin typeface="Helvetica"/>
        <a:ea typeface="Helvetica"/>
        <a:cs typeface="Helvetica"/>
      </a:majorFont>
      <a:minorFont>
        <a:latin typeface="DengXian"/>
        <a:ea typeface="DengXian"/>
        <a:cs typeface="DengXian"/>
      </a:minorFont>
    </a:fontScheme>
    <a:fmtScheme name="清风素材 https://12sc.taobao.co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清风素材 https://12sc.taobao.com">
  <a:themeElements>
    <a:clrScheme name="清风素材 https://12sc.taobao.com">
      <a:dk1>
        <a:srgbClr val="000000"/>
      </a:dk1>
      <a:lt1>
        <a:srgbClr val="FFFFFF"/>
      </a:lt1>
      <a:dk2>
        <a:srgbClr val="A7A7A7"/>
      </a:dk2>
      <a:lt2>
        <a:srgbClr val="535353"/>
      </a:lt2>
      <a:accent1>
        <a:srgbClr val="5B9BD5"/>
      </a:accent1>
      <a:accent2>
        <a:srgbClr val="ED7D31"/>
      </a:accent2>
      <a:accent3>
        <a:srgbClr val="9BBB59"/>
      </a:accent3>
      <a:accent4>
        <a:srgbClr val="8064A2"/>
      </a:accent4>
      <a:accent5>
        <a:srgbClr val="4BACC6"/>
      </a:accent5>
      <a:accent6>
        <a:srgbClr val="F79646"/>
      </a:accent6>
      <a:hlink>
        <a:srgbClr val="0000FF"/>
      </a:hlink>
      <a:folHlink>
        <a:srgbClr val="FF00FF"/>
      </a:folHlink>
    </a:clrScheme>
    <a:fontScheme name="清风素材 https://12sc.taobao.com">
      <a:majorFont>
        <a:latin typeface="Helvetica"/>
        <a:ea typeface="Helvetica"/>
        <a:cs typeface="Helvetica"/>
      </a:majorFont>
      <a:minorFont>
        <a:latin typeface="DengXian"/>
        <a:ea typeface="DengXian"/>
        <a:cs typeface="DengXian"/>
      </a:minorFont>
    </a:fontScheme>
    <a:fmtScheme name="清风素材 https://12sc.taobao.co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