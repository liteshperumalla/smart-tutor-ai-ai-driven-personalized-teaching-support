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0DEEF"/>
          </a:solidFill>
        </a:fill>
      </a:tcStyle>
    </a:wholeTbl>
    <a:band2H>
      <a:tcTxStyle b="def" i="def"/>
      <a:tcStyle>
        <a:tcBdr/>
        <a:fill>
          <a:solidFill>
            <a:srgbClr val="E9EFF7"/>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b="def" i="def"/>
      <a:tcStyle>
        <a:tcBdr/>
        <a:fill>
          <a:solidFill>
            <a:srgbClr val="EFF3E9"/>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b="def" i="def"/>
      <a:tcStyle>
        <a:tcBdr/>
        <a:fill>
          <a:solidFill>
            <a:srgbClr val="FDEEE8"/>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Calibri"/>
          <a:ea typeface="Calibri"/>
          <a:cs typeface="Calibri"/>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
          <a:latin typeface="Calibri"/>
          <a:ea typeface="Calibri"/>
          <a:cs typeface="Calibri"/>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Calibri"/>
          <a:ea typeface="Calibri"/>
          <a:cs typeface="Calibri"/>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Calibri"/>
          <a:ea typeface="Calibri"/>
          <a:cs typeface="Calibri"/>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spcBef>
        <a:spcPts val="400"/>
      </a:spcBef>
      <a:defRPr sz="1200">
        <a:latin typeface="+mj-lt"/>
        <a:ea typeface="+mj-ea"/>
        <a:cs typeface="+mj-cs"/>
        <a:sym typeface="DengXian"/>
      </a:defRPr>
    </a:lvl1pPr>
    <a:lvl2pPr indent="228600" latinLnBrk="0">
      <a:spcBef>
        <a:spcPts val="400"/>
      </a:spcBef>
      <a:defRPr sz="1200">
        <a:latin typeface="+mj-lt"/>
        <a:ea typeface="+mj-ea"/>
        <a:cs typeface="+mj-cs"/>
        <a:sym typeface="DengXian"/>
      </a:defRPr>
    </a:lvl2pPr>
    <a:lvl3pPr indent="457200" latinLnBrk="0">
      <a:spcBef>
        <a:spcPts val="400"/>
      </a:spcBef>
      <a:defRPr sz="1200">
        <a:latin typeface="+mj-lt"/>
        <a:ea typeface="+mj-ea"/>
        <a:cs typeface="+mj-cs"/>
        <a:sym typeface="DengXian"/>
      </a:defRPr>
    </a:lvl3pPr>
    <a:lvl4pPr indent="685800" latinLnBrk="0">
      <a:spcBef>
        <a:spcPts val="400"/>
      </a:spcBef>
      <a:defRPr sz="1200">
        <a:latin typeface="+mj-lt"/>
        <a:ea typeface="+mj-ea"/>
        <a:cs typeface="+mj-cs"/>
        <a:sym typeface="DengXian"/>
      </a:defRPr>
    </a:lvl4pPr>
    <a:lvl5pPr indent="914400" latinLnBrk="0">
      <a:spcBef>
        <a:spcPts val="400"/>
      </a:spcBef>
      <a:defRPr sz="1200">
        <a:latin typeface="+mj-lt"/>
        <a:ea typeface="+mj-ea"/>
        <a:cs typeface="+mj-cs"/>
        <a:sym typeface="DengXian"/>
      </a:defRPr>
    </a:lvl5pPr>
    <a:lvl6pPr indent="1143000" latinLnBrk="0">
      <a:spcBef>
        <a:spcPts val="400"/>
      </a:spcBef>
      <a:defRPr sz="1200">
        <a:latin typeface="+mj-lt"/>
        <a:ea typeface="+mj-ea"/>
        <a:cs typeface="+mj-cs"/>
        <a:sym typeface="DengXian"/>
      </a:defRPr>
    </a:lvl6pPr>
    <a:lvl7pPr indent="1371600" latinLnBrk="0">
      <a:spcBef>
        <a:spcPts val="400"/>
      </a:spcBef>
      <a:defRPr sz="1200">
        <a:latin typeface="+mj-lt"/>
        <a:ea typeface="+mj-ea"/>
        <a:cs typeface="+mj-cs"/>
        <a:sym typeface="DengXian"/>
      </a:defRPr>
    </a:lvl7pPr>
    <a:lvl8pPr indent="1600200" latinLnBrk="0">
      <a:spcBef>
        <a:spcPts val="400"/>
      </a:spcBef>
      <a:defRPr sz="1200">
        <a:latin typeface="+mj-lt"/>
        <a:ea typeface="+mj-ea"/>
        <a:cs typeface="+mj-cs"/>
        <a:sym typeface="DengXian"/>
      </a:defRPr>
    </a:lvl8pPr>
    <a:lvl9pPr indent="1828800" latinLnBrk="0">
      <a:spcBef>
        <a:spcPts val="400"/>
      </a:spcBef>
      <a:defRPr sz="1200">
        <a:latin typeface="+mj-lt"/>
        <a:ea typeface="+mj-ea"/>
        <a:cs typeface="+mj-cs"/>
        <a:sym typeface="DengXian"/>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5" name="Shape 95"/>
          <p:cNvSpPr/>
          <p:nvPr>
            <p:ph type="sldImg"/>
          </p:nvPr>
        </p:nvSpPr>
        <p:spPr>
          <a:prstGeom prst="rect">
            <a:avLst/>
          </a:prstGeom>
        </p:spPr>
        <p:txBody>
          <a:bodyPr/>
          <a:lstStyle/>
          <a:p>
            <a:pPr/>
          </a:p>
        </p:txBody>
      </p:sp>
      <p:sp>
        <p:nvSpPr>
          <p:cNvPr id="96" name="Shape 96"/>
          <p:cNvSpPr/>
          <p:nvPr>
            <p:ph type="body" sz="quarter" idx="1"/>
          </p:nvPr>
        </p:nvSpPr>
        <p:spPr>
          <a:prstGeom prst="rect">
            <a:avLst/>
          </a:prstGeom>
        </p:spPr>
        <p:txBody>
          <a:bodyPr/>
          <a:lstStyle/>
          <a:p>
            <a:pPr/>
            <a:r>
              <a:t>An impromptu experiment: Feel free to write down the most relevant words/phrases describing this lecture hall or classroom; A summary of the words/phrases; Possible tasks of using these words/phrases (Differentiate this kind of rooms from others, Characterize all similar rooms)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7" name="Shape 467"/>
          <p:cNvSpPr/>
          <p:nvPr>
            <p:ph type="sldImg"/>
          </p:nvPr>
        </p:nvSpPr>
        <p:spPr>
          <a:prstGeom prst="rect">
            <a:avLst/>
          </a:prstGeom>
        </p:spPr>
        <p:txBody>
          <a:bodyPr/>
          <a:lstStyle/>
          <a:p>
            <a:pPr/>
          </a:p>
        </p:txBody>
      </p:sp>
      <p:sp>
        <p:nvSpPr>
          <p:cNvPr id="468" name="Shape 468"/>
          <p:cNvSpPr/>
          <p:nvPr>
            <p:ph type="body" sz="quarter" idx="1"/>
          </p:nvPr>
        </p:nvSpPr>
        <p:spPr>
          <a:prstGeom prst="rect">
            <a:avLst/>
          </a:prstGeom>
        </p:spPr>
        <p:txBody>
          <a:bodyPr/>
          <a:lstStyle/>
          <a:p>
            <a:pPr/>
            <a:r>
              <a:t>Word embeddings are in fact a class of techniques where individual words are represented as real-valued vectors in a predefined vector space. Each word is mapped to one vector and the vector values are learned in a way that resembles a neural network, and hence the technique is often lumped into the field of deep learning.</a:t>
            </a:r>
          </a:p>
          <a:p>
            <a:pPr/>
            <a:r>
              <a:t>Key to the approach is the idea of using a dense distributed representation for each word.</a:t>
            </a:r>
          </a:p>
          <a:p>
            <a:pPr/>
            <a:r>
              <a:t>Each word is represented by a real-valued vector, often tens or hundreds of dimensions. This is contrasted to the thousands or millions of dimensions required for sparse word representations, such as a one-hot encoding.</a:t>
            </a:r>
          </a:p>
          <a:p>
            <a:pPr>
              <a:defRPr i="1"/>
            </a:pPr>
            <a:r>
              <a:t>associate with each word in the vocabulary a distributed word feature vector … The feature vector represents different aspects of the word: each word is associated with a point in a vector space. The number of features … is much smaller than the size of the vocabulary</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91" name="Shape 491"/>
          <p:cNvSpPr/>
          <p:nvPr>
            <p:ph type="sldImg"/>
          </p:nvPr>
        </p:nvSpPr>
        <p:spPr>
          <a:prstGeom prst="rect">
            <a:avLst/>
          </a:prstGeom>
        </p:spPr>
        <p:txBody>
          <a:bodyPr/>
          <a:lstStyle/>
          <a:p>
            <a:pPr/>
          </a:p>
        </p:txBody>
      </p:sp>
      <p:sp>
        <p:nvSpPr>
          <p:cNvPr id="492" name="Shape 492"/>
          <p:cNvSpPr/>
          <p:nvPr>
            <p:ph type="body" sz="quarter" idx="1"/>
          </p:nvPr>
        </p:nvSpPr>
        <p:spPr>
          <a:prstGeom prst="rect">
            <a:avLst/>
          </a:prstGeom>
        </p:spPr>
        <p:txBody>
          <a:bodyPr/>
          <a:lstStyle/>
          <a:p>
            <a:pPr>
              <a:defRPr i="1"/>
            </a:pPr>
            <a:r>
              <a:t>learns word representations from local context windows. </a:t>
            </a:r>
            <a:r>
              <a:rPr i="0"/>
              <a:t>Static word embedding. the polysemous word bank has two meanings, but word embedding cannot distinguish the two meanings when encoding the word bank. Although the words in the context are the same, in language model training, no matter what context sentences pass through Word2vec, they all predict the same word bank, and the same word occupies the same line of parameter space, which leads to two different contextual information encoding into the same word embedding space. Therefore, word embedding can not distinguish the different semantics of polysemy, which is a serious problem.</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03" name="Shape 503"/>
          <p:cNvSpPr/>
          <p:nvPr>
            <p:ph type="sldImg"/>
          </p:nvPr>
        </p:nvSpPr>
        <p:spPr>
          <a:prstGeom prst="rect">
            <a:avLst/>
          </a:prstGeom>
        </p:spPr>
        <p:txBody>
          <a:bodyPr/>
          <a:lstStyle/>
          <a:p>
            <a:pPr/>
          </a:p>
        </p:txBody>
      </p:sp>
      <p:sp>
        <p:nvSpPr>
          <p:cNvPr id="504" name="Shape 504"/>
          <p:cNvSpPr/>
          <p:nvPr>
            <p:ph type="body" sz="quarter" idx="1"/>
          </p:nvPr>
        </p:nvSpPr>
        <p:spPr>
          <a:prstGeom prst="rect">
            <a:avLst/>
          </a:prstGeom>
        </p:spPr>
        <p:txBody>
          <a:bodyPr/>
          <a:lstStyle>
            <a:lvl1pPr>
              <a:defRPr i="1"/>
            </a:lvl1pPr>
          </a:lstStyle>
          <a:p>
            <a:pPr/>
            <a:r>
              <a:t>https://humboldt-wi.github.io/blog/research/information_systems_1819/group4_ulmfit/ </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15" name="Shape 515"/>
          <p:cNvSpPr/>
          <p:nvPr>
            <p:ph type="sldImg"/>
          </p:nvPr>
        </p:nvSpPr>
        <p:spPr>
          <a:prstGeom prst="rect">
            <a:avLst/>
          </a:prstGeom>
        </p:spPr>
        <p:txBody>
          <a:bodyPr/>
          <a:lstStyle/>
          <a:p>
            <a:pPr/>
          </a:p>
        </p:txBody>
      </p:sp>
      <p:sp>
        <p:nvSpPr>
          <p:cNvPr id="516" name="Shape 516"/>
          <p:cNvSpPr/>
          <p:nvPr>
            <p:ph type="body" sz="quarter" idx="1"/>
          </p:nvPr>
        </p:nvSpPr>
        <p:spPr>
          <a:prstGeom prst="rect">
            <a:avLst/>
          </a:prstGeom>
        </p:spPr>
        <p:txBody>
          <a:bodyPr/>
          <a:lstStyle>
            <a:lvl1pPr>
              <a:defRPr i="1"/>
            </a:lvl1pPr>
          </a:lstStyle>
          <a:p>
            <a:pPr/>
            <a:r>
              <a:t>https://www.analyticsvidhya.com/blog/2019/03/learn-to-use-elmo-to-extract-features-from-text/ </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27" name="Shape 527"/>
          <p:cNvSpPr/>
          <p:nvPr>
            <p:ph type="sldImg"/>
          </p:nvPr>
        </p:nvSpPr>
        <p:spPr>
          <a:prstGeom prst="rect">
            <a:avLst/>
          </a:prstGeom>
        </p:spPr>
        <p:txBody>
          <a:bodyPr/>
          <a:lstStyle/>
          <a:p>
            <a:pPr/>
          </a:p>
        </p:txBody>
      </p:sp>
      <p:sp>
        <p:nvSpPr>
          <p:cNvPr id="528" name="Shape 528"/>
          <p:cNvSpPr/>
          <p:nvPr>
            <p:ph type="body" sz="quarter" idx="1"/>
          </p:nvPr>
        </p:nvSpPr>
        <p:spPr>
          <a:prstGeom prst="rect">
            <a:avLst/>
          </a:prstGeom>
        </p:spPr>
        <p:txBody>
          <a:bodyPr/>
          <a:lstStyle/>
          <a:p>
            <a:pPr>
              <a:defRPr i="1"/>
            </a:pPr>
            <a:r>
              <a:t>https://towardsdatascience.com/bert-explained-state-of-the-art-language-model-for-nlp-f8b21a9b6270 </a:t>
            </a:r>
          </a:p>
          <a:p>
            <a:pPr>
              <a:defRPr i="1"/>
            </a:pPr>
            <a:r>
              <a:t>http://jalammar.github.io/illustrated-bert/ </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E7E6E6"/>
        </a:solidFill>
      </p:bgPr>
    </p:bg>
    <p:spTree>
      <p:nvGrpSpPr>
        <p:cNvPr id="1" name=""/>
        <p:cNvGrpSpPr/>
        <p:nvPr/>
      </p:nvGrpSpPr>
      <p:grpSpPr>
        <a:xfrm>
          <a:off x="0" y="0"/>
          <a:ext cx="0" cy="0"/>
          <a:chOff x="0" y="0"/>
          <a:chExt cx="0" cy="0"/>
        </a:xfrm>
      </p:grpSpPr>
      <p:sp>
        <p:nvSpPr>
          <p:cNvPr id="2" name="Slide Number"/>
          <p:cNvSpPr txBox="1"/>
          <p:nvPr>
            <p:ph type="sldNum" sz="quarter" idx="2"/>
          </p:nvPr>
        </p:nvSpPr>
        <p:spPr>
          <a:xfrm>
            <a:off x="11095176" y="6414760"/>
            <a:ext cx="258624" cy="248305"/>
          </a:xfrm>
          <a:prstGeom prst="rect">
            <a:avLst/>
          </a:prstGeom>
          <a:ln w="12700">
            <a:miter lim="400000"/>
          </a:ln>
        </p:spPr>
        <p:txBody>
          <a:bodyPr wrap="none" lIns="45719" rIns="45719" anchor="ctr">
            <a:spAutoFit/>
          </a:bodyPr>
          <a:lstStyle>
            <a:lvl1pPr algn="r">
              <a:defRPr sz="1200">
                <a:solidFill>
                  <a:srgbClr val="898989"/>
                </a:solidFill>
              </a:defRPr>
            </a:lvl1pPr>
          </a:lstStyle>
          <a:p>
            <a:pPr/>
            <a:fld id="{86CB4B4D-7CA3-9044-876B-883B54F8677D}" type="slidenum"/>
          </a:p>
        </p:txBody>
      </p:sp>
      <p:sp>
        <p:nvSpPr>
          <p:cNvPr id="3" name="Title Text"/>
          <p:cNvSpPr txBox="1"/>
          <p:nvPr>
            <p:ph type="title"/>
          </p:nvPr>
        </p:nvSpPr>
        <p:spPr>
          <a:xfrm>
            <a:off x="609600" y="92074"/>
            <a:ext cx="10972800" cy="1508127"/>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4" name="Body Level One…"/>
          <p:cNvSpPr txBox="1"/>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45720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91440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137160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182880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Calibri"/>
          <a:ea typeface="Calibri"/>
          <a:cs typeface="Calibri"/>
          <a:sym typeface="Calibri"/>
        </a:defRPr>
      </a:lvl1pPr>
      <a:lvl2pPr marL="723900" marR="0" indent="-2667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Calibri"/>
          <a:ea typeface="Calibri"/>
          <a:cs typeface="Calibri"/>
          <a:sym typeface="Calibri"/>
        </a:defRPr>
      </a:lvl2pPr>
      <a:lvl3pPr marL="1234439" marR="0" indent="-320039"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Calibri"/>
          <a:ea typeface="Calibri"/>
          <a:cs typeface="Calibri"/>
          <a:sym typeface="Calibri"/>
        </a:defRPr>
      </a:lvl3pPr>
      <a:lvl4pPr marL="1727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Calibri"/>
          <a:ea typeface="Calibri"/>
          <a:cs typeface="Calibri"/>
          <a:sym typeface="Calibri"/>
        </a:defRPr>
      </a:lvl4pPr>
      <a:lvl5pPr marL="21844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Calibri"/>
          <a:ea typeface="Calibri"/>
          <a:cs typeface="Calibri"/>
          <a:sym typeface="Calibri"/>
        </a:defRPr>
      </a:lvl5pPr>
      <a:lvl6pPr marL="26416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Calibri"/>
          <a:ea typeface="Calibri"/>
          <a:cs typeface="Calibri"/>
          <a:sym typeface="Calibri"/>
        </a:defRPr>
      </a:lvl6pPr>
      <a:lvl7pPr marL="30988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Calibri"/>
          <a:ea typeface="Calibri"/>
          <a:cs typeface="Calibri"/>
          <a:sym typeface="Calibri"/>
        </a:defRPr>
      </a:lvl7pPr>
      <a:lvl8pPr marL="35560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Calibri"/>
          <a:ea typeface="Calibri"/>
          <a:cs typeface="Calibri"/>
          <a:sym typeface="Calibri"/>
        </a:defRPr>
      </a:lvl8pPr>
      <a:lvl9pPr marL="4013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Calibri"/>
          <a:ea typeface="Calibri"/>
          <a:cs typeface="Calibri"/>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7.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13.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14.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15.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16.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17.png"/><Relationship Id="rId5" Type="http://schemas.openxmlformats.org/officeDocument/2006/relationships/image" Target="../media/image18.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18.png"/></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19.png"/></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20.png"/></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21.png"/></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22.png"/></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23.png"/><Relationship Id="rId5" Type="http://schemas.openxmlformats.org/officeDocument/2006/relationships/image" Target="../media/image24.png"/></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25.png"/></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hyperlink" Target="http://wordnet.princeton.edu/" TargetMode="External"/></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26.png"/></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27.png"/></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23.png"/></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28.png"/></Relationships>

</file>

<file path=ppt/slides/_rels/slide3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s>

</file>

<file path=ppt/slides/_rels/slide3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29.png"/></Relationships>

</file>

<file path=ppt/slides/_rels/slide3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s>

</file>

<file path=ppt/slides/_rels/slide3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s>

</file>

<file path=ppt/slides/_rels/slide3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30.png"/></Relationships>

</file>

<file path=ppt/slides/_rels/slide3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31.png"/><Relationship Id="rId5" Type="http://schemas.openxmlformats.org/officeDocument/2006/relationships/image" Target="../media/image32.png"/></Relationships>

</file>

<file path=ppt/slides/_rels/slide3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33.png"/></Relationships>

</file>

<file path=ppt/slides/_rels/slide3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34.png"/></Relationships>

</file>

<file path=ppt/slides/_rels/slide3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35.png"/></Relationships>

</file>

<file path=ppt/slides/_rels/slide3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36.png"/></Relationships>

</file>

<file path=ppt/slides/_rels/slide4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s>

</file>

<file path=ppt/slides/_rels/slide4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1.png"/></Relationships>

</file>

<file path=ppt/slides/_rels/slide4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hyperlink" Target="http://dsspace.wzb.eu/pyug/text_proc_feature_extraction/" TargetMode="External"/></Relationships>

</file>

<file path=ppt/slides/_rels/slide4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hyperlink" Target="https://spacy.io/usage/linguistic-features" TargetMode="External"/><Relationship Id="rId5" Type="http://schemas.openxmlformats.org/officeDocument/2006/relationships/hyperlink" Target="https://github.com/novoic/blabla" TargetMode="External"/><Relationship Id="rId6" Type="http://schemas.openxmlformats.org/officeDocument/2006/relationships/hyperlink" Target="https://github.com/novoic/blabla/tree/master/blabla/sentence_processor" TargetMode="External"/></Relationships>

</file>

<file path=ppt/slides/_rels/slide4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hyperlink" Target="https://github.com/lutzhamel/word2vec-simplified/blob/master/Exploring%20Word2Vec.ipynb" TargetMode="External"/><Relationship Id="rId5" Type="http://schemas.openxmlformats.org/officeDocument/2006/relationships/hyperlink" Target="https://www.kaggle.com/pierremegret/gensim-word2vec-tutorial" TargetMode="External"/></Relationships>

</file>

<file path=ppt/slides/_rels/slide4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hyperlink" Target="https://humboldt-wi.github.io/blog/research/information_systems_1819/group4_ulmfit/" TargetMode="External"/><Relationship Id="rId5" Type="http://schemas.openxmlformats.org/officeDocument/2006/relationships/hyperlink" Target="https://www.analyticsvidhya.com/blog/2019/03/learn-to-use-elmo-to-extract-features-from-text/" TargetMode="External"/><Relationship Id="rId6" Type="http://schemas.openxmlformats.org/officeDocument/2006/relationships/hyperlink" Target="https://github.com/huggingface/transformers" TargetMode="External"/></Relationships>

</file>

<file path=ppt/slides/_rels/slide4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hyperlink" Target="https://kleiber.me/blog/2018/02/25/top-10-python-nlp-libraries-2018/" TargetMode="External"/><Relationship Id="rId5" Type="http://schemas.openxmlformats.org/officeDocument/2006/relationships/hyperlink" Target="https://kleiber.me/blog/2020/08/26/top-10-python-nlp-libraries-2020/" TargetMode="External"/></Relationships>

</file>

<file path=ppt/slides/_rels/slide4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0" name="image.png" descr="image.png"/>
          <p:cNvPicPr>
            <a:picLocks noChangeAspect="1"/>
          </p:cNvPicPr>
          <p:nvPr/>
        </p:nvPicPr>
        <p:blipFill>
          <a:blip r:embed="rId2">
            <a:extLst/>
          </a:blip>
          <a:stretch>
            <a:fillRect/>
          </a:stretch>
        </p:blipFill>
        <p:spPr>
          <a:xfrm>
            <a:off x="2095500" y="504825"/>
            <a:ext cx="7480300" cy="3743325"/>
          </a:xfrm>
          <a:prstGeom prst="rect">
            <a:avLst/>
          </a:prstGeom>
          <a:ln w="12700">
            <a:miter lim="400000"/>
          </a:ln>
        </p:spPr>
      </p:pic>
      <p:sp>
        <p:nvSpPr>
          <p:cNvPr id="21" name="Rectangle"/>
          <p:cNvSpPr/>
          <p:nvPr/>
        </p:nvSpPr>
        <p:spPr>
          <a:xfrm>
            <a:off x="0" y="4902200"/>
            <a:ext cx="12192000" cy="1955800"/>
          </a:xfrm>
          <a:prstGeom prst="rect">
            <a:avLst/>
          </a:prstGeom>
          <a:solidFill>
            <a:srgbClr val="1C4885"/>
          </a:solidFill>
          <a:ln w="12700">
            <a:miter lim="400000"/>
          </a:ln>
        </p:spPr>
        <p:txBody>
          <a:bodyPr lIns="45719" rIns="45719" anchor="ctr"/>
          <a:lstStyle/>
          <a:p>
            <a:pPr algn="ctr">
              <a:defRPr>
                <a:solidFill>
                  <a:srgbClr val="FFFFFF"/>
                </a:solidFill>
              </a:defRPr>
            </a:pPr>
          </a:p>
        </p:txBody>
      </p:sp>
      <p:grpSp>
        <p:nvGrpSpPr>
          <p:cNvPr id="24" name="Group"/>
          <p:cNvGrpSpPr/>
          <p:nvPr/>
        </p:nvGrpSpPr>
        <p:grpSpPr>
          <a:xfrm>
            <a:off x="5605462" y="2808287"/>
            <a:ext cx="6777038" cy="4229101"/>
            <a:chOff x="0" y="0"/>
            <a:chExt cx="6777037" cy="4229100"/>
          </a:xfrm>
        </p:grpSpPr>
        <p:pic>
          <p:nvPicPr>
            <p:cNvPr id="22" name="image.png" descr="image.png"/>
            <p:cNvPicPr>
              <a:picLocks noChangeAspect="1"/>
            </p:cNvPicPr>
            <p:nvPr/>
          </p:nvPicPr>
          <p:blipFill>
            <a:blip r:embed="rId3">
              <a:extLst/>
            </a:blip>
            <a:srcRect l="0" t="0" r="0" b="52040"/>
            <a:stretch>
              <a:fillRect/>
            </a:stretch>
          </p:blipFill>
          <p:spPr>
            <a:xfrm>
              <a:off x="8074" y="-1"/>
              <a:ext cx="6768964" cy="2090272"/>
            </a:xfrm>
            <a:prstGeom prst="rect">
              <a:avLst/>
            </a:prstGeom>
            <a:ln w="12700" cap="flat">
              <a:noFill/>
              <a:miter lim="400000"/>
            </a:ln>
            <a:effectLst/>
          </p:spPr>
        </p:pic>
        <p:pic>
          <p:nvPicPr>
            <p:cNvPr id="23" name="image.png" descr="image.png"/>
            <p:cNvPicPr>
              <a:picLocks noChangeAspect="1"/>
            </p:cNvPicPr>
            <p:nvPr/>
          </p:nvPicPr>
          <p:blipFill>
            <a:blip r:embed="rId3">
              <a:extLst/>
            </a:blip>
            <a:srcRect l="0" t="50633" r="2627" b="0"/>
            <a:stretch>
              <a:fillRect/>
            </a:stretch>
          </p:blipFill>
          <p:spPr>
            <a:xfrm>
              <a:off x="0" y="2077570"/>
              <a:ext cx="6591149" cy="2151530"/>
            </a:xfrm>
            <a:prstGeom prst="rect">
              <a:avLst/>
            </a:prstGeom>
            <a:ln w="12700" cap="flat">
              <a:noFill/>
              <a:miter lim="400000"/>
            </a:ln>
            <a:effectLst/>
          </p:spPr>
        </p:pic>
      </p:grpSp>
      <p:grpSp>
        <p:nvGrpSpPr>
          <p:cNvPr id="27" name="Group"/>
          <p:cNvGrpSpPr/>
          <p:nvPr/>
        </p:nvGrpSpPr>
        <p:grpSpPr>
          <a:xfrm>
            <a:off x="573087" y="6332537"/>
            <a:ext cx="2412352" cy="317675"/>
            <a:chOff x="0" y="0"/>
            <a:chExt cx="2412350" cy="317673"/>
          </a:xfrm>
        </p:grpSpPr>
        <p:sp>
          <p:nvSpPr>
            <p:cNvPr id="25" name="Haihua.chen@unt.edu"/>
            <p:cNvSpPr txBox="1"/>
            <p:nvPr/>
          </p:nvSpPr>
          <p:spPr>
            <a:xfrm>
              <a:off x="447660" y="0"/>
              <a:ext cx="1964691" cy="30059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1600">
                  <a:solidFill>
                    <a:srgbClr val="FFFFFF"/>
                  </a:solidFill>
                </a:defRPr>
              </a:lvl1pPr>
            </a:lstStyle>
            <a:p>
              <a:pPr/>
              <a:r>
                <a:t>Haihua.chen@unt.edu</a:t>
              </a:r>
            </a:p>
          </p:txBody>
        </p:sp>
        <p:pic>
          <p:nvPicPr>
            <p:cNvPr id="26" name="image.png" descr="image.png"/>
            <p:cNvPicPr>
              <a:picLocks noChangeAspect="1"/>
            </p:cNvPicPr>
            <p:nvPr/>
          </p:nvPicPr>
          <p:blipFill>
            <a:blip r:embed="rId4">
              <a:extLst/>
            </a:blip>
            <a:stretch>
              <a:fillRect/>
            </a:stretch>
          </p:blipFill>
          <p:spPr>
            <a:xfrm>
              <a:off x="0" y="21537"/>
              <a:ext cx="299098" cy="296137"/>
            </a:xfrm>
            <a:prstGeom prst="rect">
              <a:avLst/>
            </a:prstGeom>
            <a:ln w="12700" cap="flat">
              <a:noFill/>
              <a:miter lim="400000"/>
            </a:ln>
            <a:effectLst/>
          </p:spPr>
        </p:pic>
      </p:grpSp>
      <p:grpSp>
        <p:nvGrpSpPr>
          <p:cNvPr id="30" name="Group"/>
          <p:cNvGrpSpPr/>
          <p:nvPr/>
        </p:nvGrpSpPr>
        <p:grpSpPr>
          <a:xfrm>
            <a:off x="573087" y="5910262"/>
            <a:ext cx="1580761" cy="316390"/>
            <a:chOff x="0" y="0"/>
            <a:chExt cx="1580759" cy="316388"/>
          </a:xfrm>
        </p:grpSpPr>
        <p:sp>
          <p:nvSpPr>
            <p:cNvPr id="28" name="9402200057"/>
            <p:cNvSpPr txBox="1"/>
            <p:nvPr/>
          </p:nvSpPr>
          <p:spPr>
            <a:xfrm>
              <a:off x="446729" y="0"/>
              <a:ext cx="1134031" cy="30059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1600">
                  <a:solidFill>
                    <a:srgbClr val="FFFFFF"/>
                  </a:solidFill>
                </a:defRPr>
              </a:lvl1pPr>
            </a:lstStyle>
            <a:p>
              <a:pPr/>
              <a:r>
                <a:t>9402200057</a:t>
              </a:r>
            </a:p>
          </p:txBody>
        </p:sp>
        <p:pic>
          <p:nvPicPr>
            <p:cNvPr id="29" name="image.png" descr="image.png"/>
            <p:cNvPicPr>
              <a:picLocks noChangeAspect="1"/>
            </p:cNvPicPr>
            <p:nvPr/>
          </p:nvPicPr>
          <p:blipFill>
            <a:blip r:embed="rId5">
              <a:extLst/>
            </a:blip>
            <a:stretch>
              <a:fillRect/>
            </a:stretch>
          </p:blipFill>
          <p:spPr>
            <a:xfrm>
              <a:off x="0" y="19152"/>
              <a:ext cx="298405" cy="297237"/>
            </a:xfrm>
            <a:prstGeom prst="rect">
              <a:avLst/>
            </a:prstGeom>
            <a:ln w="12700" cap="flat">
              <a:noFill/>
              <a:miter lim="400000"/>
            </a:ln>
            <a:effectLst/>
          </p:spPr>
        </p:pic>
      </p:grpSp>
      <p:sp>
        <p:nvSpPr>
          <p:cNvPr id="31" name="Lesson 6: Feature extraction from Text Data (Text Representation)"/>
          <p:cNvSpPr txBox="1"/>
          <p:nvPr/>
        </p:nvSpPr>
        <p:spPr>
          <a:xfrm>
            <a:off x="202882" y="1073150"/>
            <a:ext cx="11265536" cy="14376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4400">
                <a:solidFill>
                  <a:srgbClr val="1C4885"/>
                </a:solidFill>
                <a:latin typeface="Microsoft YaHei"/>
                <a:ea typeface="Microsoft YaHei"/>
                <a:cs typeface="Microsoft YaHei"/>
                <a:sym typeface="Microsoft YaHei"/>
              </a:defRPr>
            </a:pPr>
            <a:r>
              <a:t>Lesson</a:t>
            </a:r>
            <a:r>
              <a:t> </a:t>
            </a:r>
            <a:r>
              <a:t>6:</a:t>
            </a:r>
            <a:r>
              <a:t> </a:t>
            </a:r>
            <a:r>
              <a:t>Feature extraction from Text Data (Text Representation)</a:t>
            </a:r>
          </a:p>
        </p:txBody>
      </p:sp>
      <p:sp>
        <p:nvSpPr>
          <p:cNvPr id="32" name="Haihua Chen, Ph.D."/>
          <p:cNvSpPr txBox="1"/>
          <p:nvPr/>
        </p:nvSpPr>
        <p:spPr>
          <a:xfrm>
            <a:off x="541019" y="5049837"/>
            <a:ext cx="2127088" cy="340182"/>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000">
                <a:solidFill>
                  <a:srgbClr val="FFFFFF"/>
                </a:solidFill>
              </a:defRPr>
            </a:lvl1pPr>
          </a:lstStyle>
          <a:p>
            <a:pPr/>
            <a:r>
              <a:t>Haihua Chen, Ph.D.</a:t>
            </a:r>
          </a:p>
        </p:txBody>
      </p:sp>
      <p:sp>
        <p:nvSpPr>
          <p:cNvPr id="33"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34" name="Slide Number"/>
          <p:cNvSpPr txBox="1"/>
          <p:nvPr>
            <p:ph type="sldNum" sz="quarter" idx="2"/>
          </p:nvPr>
        </p:nvSpPr>
        <p:spPr>
          <a:xfrm>
            <a:off x="11172418" y="6414760"/>
            <a:ext cx="181383"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 name="Shape"/>
          <p:cNvSpPr/>
          <p:nvPr/>
        </p:nvSpPr>
        <p:spPr>
          <a:xfrm>
            <a:off x="5614987" y="0"/>
            <a:ext cx="6423026" cy="6858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052" y="30"/>
                </a:moveTo>
                <a:lnTo>
                  <a:pt x="21600" y="0"/>
                </a:lnTo>
                <a:lnTo>
                  <a:pt x="21600" y="21600"/>
                </a:lnTo>
                <a:lnTo>
                  <a:pt x="0" y="21600"/>
                </a:lnTo>
                <a:lnTo>
                  <a:pt x="7052" y="30"/>
                </a:lnTo>
                <a:close/>
              </a:path>
            </a:pathLst>
          </a:custGeom>
          <a:solidFill>
            <a:srgbClr val="FFFFFF"/>
          </a:solidFill>
          <a:ln w="12700">
            <a:miter lim="400000"/>
          </a:ln>
        </p:spPr>
        <p:txBody>
          <a:bodyPr lIns="45719" rIns="45719" anchor="ctr"/>
          <a:lstStyle/>
          <a:p>
            <a:pPr/>
          </a:p>
        </p:txBody>
      </p:sp>
      <p:sp>
        <p:nvSpPr>
          <p:cNvPr id="37" name="Shape"/>
          <p:cNvSpPr/>
          <p:nvPr/>
        </p:nvSpPr>
        <p:spPr>
          <a:xfrm>
            <a:off x="5768975" y="0"/>
            <a:ext cx="6423026" cy="6858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052" y="30"/>
                </a:moveTo>
                <a:lnTo>
                  <a:pt x="21600" y="0"/>
                </a:lnTo>
                <a:lnTo>
                  <a:pt x="21600" y="21600"/>
                </a:lnTo>
                <a:lnTo>
                  <a:pt x="0" y="21600"/>
                </a:lnTo>
                <a:lnTo>
                  <a:pt x="7052" y="30"/>
                </a:lnTo>
                <a:close/>
              </a:path>
            </a:pathLst>
          </a:custGeom>
          <a:solidFill>
            <a:srgbClr val="1C4885"/>
          </a:solidFill>
          <a:ln w="12700">
            <a:miter lim="400000"/>
          </a:ln>
        </p:spPr>
        <p:txBody>
          <a:bodyPr lIns="45719" rIns="45719" anchor="ctr"/>
          <a:lstStyle/>
          <a:p>
            <a:pPr/>
          </a:p>
        </p:txBody>
      </p:sp>
      <p:sp>
        <p:nvSpPr>
          <p:cNvPr id="38" name="Triangle"/>
          <p:cNvSpPr/>
          <p:nvPr/>
        </p:nvSpPr>
        <p:spPr>
          <a:xfrm rot="21255612">
            <a:off x="9923462" y="-147638"/>
            <a:ext cx="2436813" cy="35433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1522"/>
                </a:lnTo>
                <a:lnTo>
                  <a:pt x="18557" y="21600"/>
                </a:lnTo>
                <a:lnTo>
                  <a:pt x="0" y="0"/>
                </a:lnTo>
                <a:close/>
              </a:path>
            </a:pathLst>
          </a:custGeom>
          <a:solidFill>
            <a:srgbClr val="FFFFFF"/>
          </a:solidFill>
          <a:ln w="12700">
            <a:miter lim="400000"/>
          </a:ln>
        </p:spPr>
        <p:txBody>
          <a:bodyPr lIns="45719" rIns="45719" anchor="ctr"/>
          <a:lstStyle/>
          <a:p>
            <a:pPr/>
          </a:p>
        </p:txBody>
      </p:sp>
      <p:sp>
        <p:nvSpPr>
          <p:cNvPr id="39" name="Triangle"/>
          <p:cNvSpPr/>
          <p:nvPr/>
        </p:nvSpPr>
        <p:spPr>
          <a:xfrm rot="10452885">
            <a:off x="9837737" y="146050"/>
            <a:ext cx="1068388" cy="155257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1522"/>
                </a:lnTo>
                <a:lnTo>
                  <a:pt x="18557" y="21600"/>
                </a:lnTo>
                <a:lnTo>
                  <a:pt x="0" y="0"/>
                </a:lnTo>
                <a:close/>
              </a:path>
            </a:pathLst>
          </a:custGeom>
          <a:solidFill>
            <a:srgbClr val="D9D9D9"/>
          </a:solidFill>
          <a:ln w="12700">
            <a:miter lim="400000"/>
          </a:ln>
        </p:spPr>
        <p:txBody>
          <a:bodyPr lIns="45719" rIns="45719" anchor="ctr"/>
          <a:lstStyle/>
          <a:p>
            <a:pPr/>
          </a:p>
        </p:txBody>
      </p:sp>
      <p:sp>
        <p:nvSpPr>
          <p:cNvPr id="40" name="Rectangle"/>
          <p:cNvSpPr/>
          <p:nvPr/>
        </p:nvSpPr>
        <p:spPr>
          <a:xfrm>
            <a:off x="1722437" y="1577975"/>
            <a:ext cx="3770313" cy="488950"/>
          </a:xfrm>
          <a:prstGeom prst="rect">
            <a:avLst/>
          </a:prstGeom>
          <a:ln>
            <a:solidFill>
              <a:srgbClr val="404040"/>
            </a:solidFill>
          </a:ln>
        </p:spPr>
        <p:txBody>
          <a:bodyPr lIns="45719" rIns="45719"/>
          <a:lstStyle/>
          <a:p>
            <a:pPr algn="ctr">
              <a:spcBef>
                <a:spcPts val="1600"/>
              </a:spcBef>
              <a:defRPr b="1" sz="1600">
                <a:latin typeface="Arial"/>
                <a:ea typeface="Arial"/>
                <a:cs typeface="Arial"/>
                <a:sym typeface="Arial"/>
              </a:defRPr>
            </a:pPr>
          </a:p>
        </p:txBody>
      </p:sp>
      <p:sp>
        <p:nvSpPr>
          <p:cNvPr id="41" name="Rectangle"/>
          <p:cNvSpPr/>
          <p:nvPr/>
        </p:nvSpPr>
        <p:spPr>
          <a:xfrm>
            <a:off x="695325" y="1577975"/>
            <a:ext cx="814388" cy="488950"/>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42" name="1"/>
          <p:cNvSpPr txBox="1"/>
          <p:nvPr/>
        </p:nvSpPr>
        <p:spPr>
          <a:xfrm>
            <a:off x="968057" y="1614487"/>
            <a:ext cx="419736" cy="396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000">
                <a:solidFill>
                  <a:srgbClr val="FFFFFF"/>
                </a:solidFill>
                <a:latin typeface="Microsoft YaHei"/>
                <a:ea typeface="Microsoft YaHei"/>
                <a:cs typeface="Microsoft YaHei"/>
                <a:sym typeface="Microsoft YaHei"/>
              </a:defRPr>
            </a:lvl1pPr>
          </a:lstStyle>
          <a:p>
            <a:pPr/>
            <a:r>
              <a:t>1</a:t>
            </a:r>
          </a:p>
        </p:txBody>
      </p:sp>
      <p:sp>
        <p:nvSpPr>
          <p:cNvPr id="43" name="Rectangle"/>
          <p:cNvSpPr/>
          <p:nvPr/>
        </p:nvSpPr>
        <p:spPr>
          <a:xfrm>
            <a:off x="1722437" y="2282825"/>
            <a:ext cx="3784601" cy="488950"/>
          </a:xfrm>
          <a:prstGeom prst="rect">
            <a:avLst/>
          </a:prstGeom>
          <a:ln>
            <a:solidFill>
              <a:srgbClr val="404040"/>
            </a:solidFill>
          </a:ln>
        </p:spPr>
        <p:txBody>
          <a:bodyPr lIns="45719" rIns="45719"/>
          <a:lstStyle/>
          <a:p>
            <a:pPr algn="ctr">
              <a:spcBef>
                <a:spcPts val="1600"/>
              </a:spcBef>
              <a:defRPr b="1" sz="1600">
                <a:latin typeface="Arial"/>
                <a:ea typeface="Arial"/>
                <a:cs typeface="Arial"/>
                <a:sym typeface="Arial"/>
              </a:defRPr>
            </a:pPr>
          </a:p>
        </p:txBody>
      </p:sp>
      <p:sp>
        <p:nvSpPr>
          <p:cNvPr id="44" name="Rectangle"/>
          <p:cNvSpPr/>
          <p:nvPr/>
        </p:nvSpPr>
        <p:spPr>
          <a:xfrm>
            <a:off x="674687" y="2282825"/>
            <a:ext cx="814388" cy="488950"/>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45" name="2"/>
          <p:cNvSpPr txBox="1"/>
          <p:nvPr/>
        </p:nvSpPr>
        <p:spPr>
          <a:xfrm>
            <a:off x="947419" y="2319337"/>
            <a:ext cx="870587" cy="396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000">
                <a:solidFill>
                  <a:srgbClr val="FFFFFF"/>
                </a:solidFill>
                <a:latin typeface="Microsoft YaHei"/>
                <a:ea typeface="Microsoft YaHei"/>
                <a:cs typeface="Microsoft YaHei"/>
                <a:sym typeface="Microsoft YaHei"/>
              </a:defRPr>
            </a:lvl1pPr>
          </a:lstStyle>
          <a:p>
            <a:pPr/>
            <a:r>
              <a:t>2</a:t>
            </a:r>
          </a:p>
        </p:txBody>
      </p:sp>
      <p:grpSp>
        <p:nvGrpSpPr>
          <p:cNvPr id="48" name="Group"/>
          <p:cNvGrpSpPr/>
          <p:nvPr/>
        </p:nvGrpSpPr>
        <p:grpSpPr>
          <a:xfrm>
            <a:off x="575945" y="236537"/>
            <a:ext cx="2610485" cy="712789"/>
            <a:chOff x="0" y="0"/>
            <a:chExt cx="2610484" cy="712787"/>
          </a:xfrm>
        </p:grpSpPr>
        <p:sp>
          <p:nvSpPr>
            <p:cNvPr id="46" name="Agenda"/>
            <p:cNvSpPr txBox="1"/>
            <p:nvPr/>
          </p:nvSpPr>
          <p:spPr>
            <a:xfrm>
              <a:off x="0" y="0"/>
              <a:ext cx="2610485" cy="6375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b="1" sz="3600">
                  <a:solidFill>
                    <a:srgbClr val="1C4885"/>
                  </a:solidFill>
                  <a:latin typeface="Microsoft YaHei"/>
                  <a:ea typeface="Microsoft YaHei"/>
                  <a:cs typeface="Microsoft YaHei"/>
                  <a:sym typeface="Microsoft YaHei"/>
                </a:defRPr>
              </a:lvl1pPr>
            </a:lstStyle>
            <a:p>
              <a:pPr/>
              <a:r>
                <a:t>Agenda</a:t>
              </a:r>
            </a:p>
          </p:txBody>
        </p:sp>
        <p:sp>
          <p:nvSpPr>
            <p:cNvPr id="47" name="Line"/>
            <p:cNvSpPr/>
            <p:nvPr/>
          </p:nvSpPr>
          <p:spPr>
            <a:xfrm>
              <a:off x="38128" y="712787"/>
              <a:ext cx="2550599" cy="1"/>
            </a:xfrm>
            <a:prstGeom prst="line">
              <a:avLst/>
            </a:prstGeom>
            <a:noFill/>
            <a:ln w="6350" cap="flat">
              <a:solidFill>
                <a:srgbClr val="7F7F7F"/>
              </a:solidFill>
              <a:prstDash val="solid"/>
              <a:round/>
            </a:ln>
            <a:effectLst/>
          </p:spPr>
          <p:txBody>
            <a:bodyPr wrap="square" lIns="45719" tIns="45719" rIns="45719" bIns="45719" numCol="1" anchor="t">
              <a:noAutofit/>
            </a:bodyPr>
            <a:lstStyle/>
            <a:p>
              <a:pPr/>
            </a:p>
          </p:txBody>
        </p:sp>
      </p:grpSp>
      <p:pic>
        <p:nvPicPr>
          <p:cNvPr id="49" name="image.png" descr="image.png"/>
          <p:cNvPicPr>
            <a:picLocks noChangeAspect="1"/>
          </p:cNvPicPr>
          <p:nvPr/>
        </p:nvPicPr>
        <p:blipFill>
          <a:blip r:embed="rId2">
            <a:extLst/>
          </a:blip>
          <a:stretch>
            <a:fillRect/>
          </a:stretch>
        </p:blipFill>
        <p:spPr>
          <a:xfrm>
            <a:off x="5865812" y="4013200"/>
            <a:ext cx="6326188" cy="2844800"/>
          </a:xfrm>
          <a:prstGeom prst="rect">
            <a:avLst/>
          </a:prstGeom>
          <a:ln w="12700">
            <a:miter lim="400000"/>
          </a:ln>
        </p:spPr>
      </p:pic>
      <p:sp>
        <p:nvSpPr>
          <p:cNvPr id="50" name="Dimensionality reduction"/>
          <p:cNvSpPr txBox="1"/>
          <p:nvPr/>
        </p:nvSpPr>
        <p:spPr>
          <a:xfrm>
            <a:off x="1787207" y="1625600"/>
            <a:ext cx="2835063" cy="370840"/>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a:solidFill>
                  <a:srgbClr val="1C4885"/>
                </a:solidFill>
                <a:latin typeface="Microsoft YaHei"/>
                <a:ea typeface="Microsoft YaHei"/>
                <a:cs typeface="Microsoft YaHei"/>
                <a:sym typeface="Microsoft YaHei"/>
              </a:defRPr>
            </a:lvl1pPr>
          </a:lstStyle>
          <a:p>
            <a:pPr/>
            <a:r>
              <a:t>Dimensionality reduction</a:t>
            </a:r>
          </a:p>
        </p:txBody>
      </p:sp>
      <p:sp>
        <p:nvSpPr>
          <p:cNvPr id="51" name="Feature extraction and selection"/>
          <p:cNvSpPr txBox="1"/>
          <p:nvPr/>
        </p:nvSpPr>
        <p:spPr>
          <a:xfrm>
            <a:off x="1745932" y="2335212"/>
            <a:ext cx="3610383" cy="3708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a:solidFill>
                  <a:srgbClr val="1C4885"/>
                </a:solidFill>
                <a:latin typeface="Microsoft YaHei"/>
                <a:ea typeface="Microsoft YaHei"/>
                <a:cs typeface="Microsoft YaHei"/>
                <a:sym typeface="Microsoft YaHei"/>
              </a:defRPr>
            </a:lvl1pPr>
          </a:lstStyle>
          <a:p>
            <a:pPr/>
            <a:r>
              <a:t>Feature extraction and selection</a:t>
            </a:r>
          </a:p>
        </p:txBody>
      </p:sp>
      <p:sp>
        <p:nvSpPr>
          <p:cNvPr id="52"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53" name="Slide Number"/>
          <p:cNvSpPr txBox="1"/>
          <p:nvPr>
            <p:ph type="sldNum" sz="quarter" idx="2"/>
          </p:nvPr>
        </p:nvSpPr>
        <p:spPr>
          <a:xfrm>
            <a:off x="11172418" y="6414760"/>
            <a:ext cx="181383"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54" name="Rectangle"/>
          <p:cNvSpPr/>
          <p:nvPr/>
        </p:nvSpPr>
        <p:spPr>
          <a:xfrm>
            <a:off x="1730375" y="2990850"/>
            <a:ext cx="3795713" cy="488950"/>
          </a:xfrm>
          <a:prstGeom prst="rect">
            <a:avLst/>
          </a:prstGeom>
          <a:ln>
            <a:solidFill>
              <a:srgbClr val="404040"/>
            </a:solidFill>
          </a:ln>
        </p:spPr>
        <p:txBody>
          <a:bodyPr lIns="45719" rIns="45719"/>
          <a:lstStyle/>
          <a:p>
            <a:pPr algn="ctr">
              <a:spcBef>
                <a:spcPts val="1600"/>
              </a:spcBef>
              <a:defRPr b="1" sz="1600">
                <a:latin typeface="Arial"/>
                <a:ea typeface="Arial"/>
                <a:cs typeface="Arial"/>
                <a:sym typeface="Arial"/>
              </a:defRPr>
            </a:pPr>
          </a:p>
        </p:txBody>
      </p:sp>
      <p:sp>
        <p:nvSpPr>
          <p:cNvPr id="55" name="Rectangle"/>
          <p:cNvSpPr/>
          <p:nvPr/>
        </p:nvSpPr>
        <p:spPr>
          <a:xfrm>
            <a:off x="682625" y="2990850"/>
            <a:ext cx="814388" cy="488950"/>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56" name="3"/>
          <p:cNvSpPr txBox="1"/>
          <p:nvPr/>
        </p:nvSpPr>
        <p:spPr>
          <a:xfrm>
            <a:off x="955357" y="3027362"/>
            <a:ext cx="870586" cy="396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000">
                <a:solidFill>
                  <a:srgbClr val="FFFFFF"/>
                </a:solidFill>
                <a:latin typeface="Microsoft YaHei"/>
                <a:ea typeface="Microsoft YaHei"/>
                <a:cs typeface="Microsoft YaHei"/>
                <a:sym typeface="Microsoft YaHei"/>
              </a:defRPr>
            </a:lvl1pPr>
          </a:lstStyle>
          <a:p>
            <a:pPr/>
            <a:r>
              <a:t>3</a:t>
            </a:r>
          </a:p>
        </p:txBody>
      </p:sp>
      <p:sp>
        <p:nvSpPr>
          <p:cNvPr id="57" name="Document representation"/>
          <p:cNvSpPr txBox="1"/>
          <p:nvPr/>
        </p:nvSpPr>
        <p:spPr>
          <a:xfrm>
            <a:off x="1753869" y="3043237"/>
            <a:ext cx="2873238" cy="3708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a:solidFill>
                  <a:srgbClr val="1C4885"/>
                </a:solidFill>
                <a:latin typeface="Microsoft YaHei"/>
                <a:ea typeface="Microsoft YaHei"/>
                <a:cs typeface="Microsoft YaHei"/>
                <a:sym typeface="Microsoft YaHei"/>
              </a:defRPr>
            </a:lvl1pPr>
          </a:lstStyle>
          <a:p>
            <a:pPr/>
            <a:r>
              <a:t>Document representation</a:t>
            </a:r>
          </a:p>
        </p:txBody>
      </p:sp>
      <p:sp>
        <p:nvSpPr>
          <p:cNvPr id="58" name="Rectangle"/>
          <p:cNvSpPr/>
          <p:nvPr/>
        </p:nvSpPr>
        <p:spPr>
          <a:xfrm>
            <a:off x="1743075" y="3681412"/>
            <a:ext cx="3795713" cy="488951"/>
          </a:xfrm>
          <a:prstGeom prst="rect">
            <a:avLst/>
          </a:prstGeom>
          <a:ln>
            <a:solidFill>
              <a:srgbClr val="404040"/>
            </a:solidFill>
          </a:ln>
        </p:spPr>
        <p:txBody>
          <a:bodyPr lIns="45719" rIns="45719"/>
          <a:lstStyle/>
          <a:p>
            <a:pPr algn="ctr">
              <a:spcBef>
                <a:spcPts val="1600"/>
              </a:spcBef>
              <a:defRPr b="1" sz="1600">
                <a:latin typeface="Arial"/>
                <a:ea typeface="Arial"/>
                <a:cs typeface="Arial"/>
                <a:sym typeface="Arial"/>
              </a:defRPr>
            </a:pPr>
          </a:p>
        </p:txBody>
      </p:sp>
      <p:sp>
        <p:nvSpPr>
          <p:cNvPr id="59" name="Rectangle"/>
          <p:cNvSpPr/>
          <p:nvPr/>
        </p:nvSpPr>
        <p:spPr>
          <a:xfrm>
            <a:off x="695325" y="3681412"/>
            <a:ext cx="814388" cy="4889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60" name="4"/>
          <p:cNvSpPr txBox="1"/>
          <p:nvPr/>
        </p:nvSpPr>
        <p:spPr>
          <a:xfrm>
            <a:off x="968057" y="3717925"/>
            <a:ext cx="870586" cy="3962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000">
                <a:solidFill>
                  <a:srgbClr val="FFFFFF"/>
                </a:solidFill>
                <a:latin typeface="Microsoft YaHei"/>
                <a:ea typeface="Microsoft YaHei"/>
                <a:cs typeface="Microsoft YaHei"/>
                <a:sym typeface="Microsoft YaHei"/>
              </a:defRPr>
            </a:lvl1pPr>
          </a:lstStyle>
          <a:p>
            <a:pPr/>
            <a:r>
              <a:t>4</a:t>
            </a:r>
          </a:p>
        </p:txBody>
      </p:sp>
      <p:sp>
        <p:nvSpPr>
          <p:cNvPr id="61" name="Python for feature extraction"/>
          <p:cNvSpPr txBox="1"/>
          <p:nvPr/>
        </p:nvSpPr>
        <p:spPr>
          <a:xfrm>
            <a:off x="1766569" y="3733799"/>
            <a:ext cx="3228862" cy="3708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a:solidFill>
                  <a:srgbClr val="1C4885"/>
                </a:solidFill>
                <a:latin typeface="Microsoft YaHei"/>
                <a:ea typeface="Microsoft YaHei"/>
                <a:cs typeface="Microsoft YaHei"/>
                <a:sym typeface="Microsoft YaHei"/>
              </a:defRPr>
            </a:lvl1pPr>
          </a:lstStyle>
          <a:p>
            <a:pPr/>
            <a:r>
              <a:t>Python for feature extraction</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63" name="image.png" descr="image.png"/>
          <p:cNvPicPr>
            <a:picLocks noChangeAspect="1"/>
          </p:cNvPicPr>
          <p:nvPr/>
        </p:nvPicPr>
        <p:blipFill>
          <a:blip r:embed="rId2">
            <a:extLst/>
          </a:blip>
          <a:stretch>
            <a:fillRect/>
          </a:stretch>
        </p:blipFill>
        <p:spPr>
          <a:xfrm>
            <a:off x="2632075" y="354012"/>
            <a:ext cx="7481888" cy="3743326"/>
          </a:xfrm>
          <a:prstGeom prst="rect">
            <a:avLst/>
          </a:prstGeom>
          <a:ln w="12700">
            <a:miter lim="400000"/>
          </a:ln>
        </p:spPr>
      </p:pic>
      <p:sp>
        <p:nvSpPr>
          <p:cNvPr id="64" name="Rectangle"/>
          <p:cNvSpPr/>
          <p:nvPr/>
        </p:nvSpPr>
        <p:spPr>
          <a:xfrm>
            <a:off x="0" y="4902200"/>
            <a:ext cx="12192000" cy="1955800"/>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65" name="1"/>
          <p:cNvSpPr txBox="1"/>
          <p:nvPr/>
        </p:nvSpPr>
        <p:spPr>
          <a:xfrm>
            <a:off x="45720" y="1571625"/>
            <a:ext cx="1403985" cy="53365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4400">
                <a:solidFill>
                  <a:srgbClr val="1C4885"/>
                </a:solidFill>
                <a:latin typeface="Microsoft YaHei"/>
                <a:ea typeface="Microsoft YaHei"/>
                <a:cs typeface="Microsoft YaHei"/>
                <a:sym typeface="Microsoft YaHei"/>
              </a:defRPr>
            </a:lvl1pPr>
          </a:lstStyle>
          <a:p>
            <a:pPr/>
            <a:r>
              <a:t>1</a:t>
            </a:r>
          </a:p>
        </p:txBody>
      </p:sp>
      <p:sp>
        <p:nvSpPr>
          <p:cNvPr id="66" name="Dimensionality Reduction"/>
          <p:cNvSpPr txBox="1"/>
          <p:nvPr/>
        </p:nvSpPr>
        <p:spPr>
          <a:xfrm>
            <a:off x="2125344" y="3792537"/>
            <a:ext cx="9574849" cy="701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4000">
                <a:solidFill>
                  <a:srgbClr val="1C4885"/>
                </a:solidFill>
                <a:latin typeface="Microsoft YaHei"/>
                <a:ea typeface="Microsoft YaHei"/>
                <a:cs typeface="Microsoft YaHei"/>
                <a:sym typeface="Microsoft YaHei"/>
              </a:defRPr>
            </a:lvl1pPr>
          </a:lstStyle>
          <a:p>
            <a:pPr/>
            <a:r>
              <a:t>Dimensionality Reduction</a:t>
            </a:r>
          </a:p>
        </p:txBody>
      </p:sp>
      <p:grpSp>
        <p:nvGrpSpPr>
          <p:cNvPr id="69" name="Group"/>
          <p:cNvGrpSpPr/>
          <p:nvPr/>
        </p:nvGrpSpPr>
        <p:grpSpPr>
          <a:xfrm>
            <a:off x="6804024" y="3178174"/>
            <a:ext cx="5578477" cy="3481389"/>
            <a:chOff x="0" y="0"/>
            <a:chExt cx="5578475" cy="3481387"/>
          </a:xfrm>
        </p:grpSpPr>
        <p:pic>
          <p:nvPicPr>
            <p:cNvPr id="67" name="image.png" descr="image.png"/>
            <p:cNvPicPr>
              <a:picLocks noChangeAspect="1"/>
            </p:cNvPicPr>
            <p:nvPr/>
          </p:nvPicPr>
          <p:blipFill>
            <a:blip r:embed="rId3">
              <a:extLst/>
            </a:blip>
            <a:srcRect l="0" t="0" r="0" b="52040"/>
            <a:stretch>
              <a:fillRect/>
            </a:stretch>
          </p:blipFill>
          <p:spPr>
            <a:xfrm>
              <a:off x="6646" y="0"/>
              <a:ext cx="5571830" cy="1720707"/>
            </a:xfrm>
            <a:prstGeom prst="rect">
              <a:avLst/>
            </a:prstGeom>
            <a:ln w="12700" cap="flat">
              <a:noFill/>
              <a:miter lim="400000"/>
            </a:ln>
            <a:effectLst/>
          </p:spPr>
        </p:pic>
        <p:pic>
          <p:nvPicPr>
            <p:cNvPr id="68" name="image.png" descr="image.png"/>
            <p:cNvPicPr>
              <a:picLocks noChangeAspect="1"/>
            </p:cNvPicPr>
            <p:nvPr/>
          </p:nvPicPr>
          <p:blipFill>
            <a:blip r:embed="rId3">
              <a:extLst/>
            </a:blip>
            <a:srcRect l="0" t="50633" r="2627" b="0"/>
            <a:stretch>
              <a:fillRect/>
            </a:stretch>
          </p:blipFill>
          <p:spPr>
            <a:xfrm>
              <a:off x="-1" y="1710252"/>
              <a:ext cx="5425464" cy="1771136"/>
            </a:xfrm>
            <a:prstGeom prst="rect">
              <a:avLst/>
            </a:prstGeom>
            <a:ln w="12700" cap="flat">
              <a:noFill/>
              <a:miter lim="400000"/>
            </a:ln>
            <a:effectLst/>
          </p:spPr>
        </p:pic>
      </p:grpSp>
      <p:sp>
        <p:nvSpPr>
          <p:cNvPr id="70" name="Shape"/>
          <p:cNvSpPr/>
          <p:nvPr/>
        </p:nvSpPr>
        <p:spPr>
          <a:xfrm>
            <a:off x="490537" y="4902200"/>
            <a:ext cx="2063751" cy="91598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215" y="0"/>
                </a:moveTo>
                <a:lnTo>
                  <a:pt x="14430" y="0"/>
                </a:lnTo>
                <a:lnTo>
                  <a:pt x="14430" y="8665"/>
                </a:lnTo>
                <a:lnTo>
                  <a:pt x="21600" y="8665"/>
                </a:lnTo>
                <a:lnTo>
                  <a:pt x="21600" y="21600"/>
                </a:lnTo>
                <a:lnTo>
                  <a:pt x="0" y="21600"/>
                </a:lnTo>
                <a:lnTo>
                  <a:pt x="0" y="8665"/>
                </a:lnTo>
                <a:lnTo>
                  <a:pt x="7215" y="8665"/>
                </a:lnTo>
                <a:lnTo>
                  <a:pt x="7215" y="0"/>
                </a:lnTo>
                <a:close/>
              </a:path>
            </a:pathLst>
          </a:custGeom>
          <a:solidFill>
            <a:srgbClr val="FFFFFF"/>
          </a:solidFill>
          <a:ln w="12700">
            <a:miter lim="400000"/>
          </a:ln>
        </p:spPr>
        <p:txBody>
          <a:bodyPr lIns="45719" rIns="45719"/>
          <a:lstStyle/>
          <a:p>
            <a:pPr/>
          </a:p>
        </p:txBody>
      </p:sp>
      <p:sp>
        <p:nvSpPr>
          <p:cNvPr id="71"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72" name="Slide Number"/>
          <p:cNvSpPr txBox="1"/>
          <p:nvPr>
            <p:ph type="sldNum" sz="quarter" idx="2"/>
          </p:nvPr>
        </p:nvSpPr>
        <p:spPr>
          <a:xfrm>
            <a:off x="11172418" y="6414760"/>
            <a:ext cx="181383"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4" name="Rectangle"/>
          <p:cNvSpPr/>
          <p:nvPr/>
        </p:nvSpPr>
        <p:spPr>
          <a:xfrm>
            <a:off x="0" y="1452562"/>
            <a:ext cx="12192000" cy="5538788"/>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77" name="Group"/>
          <p:cNvGrpSpPr/>
          <p:nvPr/>
        </p:nvGrpSpPr>
        <p:grpSpPr>
          <a:xfrm>
            <a:off x="10625137" y="5580062"/>
            <a:ext cx="1566864" cy="1281113"/>
            <a:chOff x="0" y="0"/>
            <a:chExt cx="1566862" cy="1281112"/>
          </a:xfrm>
        </p:grpSpPr>
        <p:pic>
          <p:nvPicPr>
            <p:cNvPr id="75"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76"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78" name="Text classification workflow"/>
          <p:cNvSpPr txBox="1"/>
          <p:nvPr/>
        </p:nvSpPr>
        <p:spPr>
          <a:xfrm>
            <a:off x="3956050" y="5945187"/>
            <a:ext cx="3338513"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16025">
              <a:spcBef>
                <a:spcPts val="400"/>
              </a:spcBef>
              <a:defRPr b="1">
                <a:solidFill>
                  <a:srgbClr val="FFFFFF"/>
                </a:solidFill>
                <a:latin typeface="Arial"/>
                <a:ea typeface="Arial"/>
                <a:cs typeface="Arial"/>
                <a:sym typeface="Arial"/>
              </a:defRPr>
            </a:lvl1pPr>
          </a:lstStyle>
          <a:p>
            <a:pPr/>
            <a:r>
              <a:t>Text classification workflow </a:t>
            </a:r>
          </a:p>
        </p:txBody>
      </p:sp>
      <p:sp>
        <p:nvSpPr>
          <p:cNvPr id="79"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80" name="Text data analysis (classification and clustering) process"/>
          <p:cNvSpPr txBox="1"/>
          <p:nvPr/>
        </p:nvSpPr>
        <p:spPr>
          <a:xfrm>
            <a:off x="190182" y="207962"/>
            <a:ext cx="8348028"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Text data analysis (classification and clustering) process</a:t>
            </a:r>
          </a:p>
        </p:txBody>
      </p:sp>
      <p:sp>
        <p:nvSpPr>
          <p:cNvPr id="81"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82" name="Slide Number"/>
          <p:cNvSpPr txBox="1"/>
          <p:nvPr>
            <p:ph type="sldNum" sz="quarter" idx="2"/>
          </p:nvPr>
        </p:nvSpPr>
        <p:spPr>
          <a:xfrm>
            <a:off x="11172418" y="6414760"/>
            <a:ext cx="181383"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83" name="image.png" descr="image.png"/>
          <p:cNvPicPr>
            <a:picLocks noChangeAspect="1"/>
          </p:cNvPicPr>
          <p:nvPr/>
        </p:nvPicPr>
        <p:blipFill>
          <a:blip r:embed="rId4">
            <a:extLst/>
          </a:blip>
          <a:stretch>
            <a:fillRect/>
          </a:stretch>
        </p:blipFill>
        <p:spPr>
          <a:xfrm>
            <a:off x="2209800" y="1939925"/>
            <a:ext cx="6600825" cy="3455988"/>
          </a:xfrm>
          <a:prstGeom prst="rect">
            <a:avLst/>
          </a:prstGeom>
          <a:ln w="12700">
            <a:miter lim="400000"/>
          </a:ln>
        </p:spPr>
      </p:pic>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5" name="Rectangle"/>
          <p:cNvSpPr/>
          <p:nvPr/>
        </p:nvSpPr>
        <p:spPr>
          <a:xfrm>
            <a:off x="0" y="1319212"/>
            <a:ext cx="12192000" cy="5538788"/>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88" name="Group"/>
          <p:cNvGrpSpPr/>
          <p:nvPr/>
        </p:nvGrpSpPr>
        <p:grpSpPr>
          <a:xfrm>
            <a:off x="10625137" y="5580062"/>
            <a:ext cx="1566864" cy="1281113"/>
            <a:chOff x="0" y="0"/>
            <a:chExt cx="1566862" cy="1281112"/>
          </a:xfrm>
        </p:grpSpPr>
        <p:pic>
          <p:nvPicPr>
            <p:cNvPr id="86" name="image.png" descr="image.png"/>
            <p:cNvPicPr>
              <a:picLocks noChangeAspect="1"/>
            </p:cNvPicPr>
            <p:nvPr/>
          </p:nvPicPr>
          <p:blipFill>
            <a:blip r:embed="rId3">
              <a:extLst/>
            </a:blip>
            <a:stretch>
              <a:fillRect/>
            </a:stretch>
          </p:blipFill>
          <p:spPr>
            <a:xfrm>
              <a:off x="-1" y="0"/>
              <a:ext cx="1566864" cy="1281113"/>
            </a:xfrm>
            <a:prstGeom prst="rect">
              <a:avLst/>
            </a:prstGeom>
            <a:ln w="12700" cap="flat">
              <a:noFill/>
              <a:miter lim="400000"/>
            </a:ln>
            <a:effectLst/>
          </p:spPr>
        </p:pic>
        <p:pic>
          <p:nvPicPr>
            <p:cNvPr id="87" name="image.png" descr="image.png"/>
            <p:cNvPicPr>
              <a:picLocks noChangeAspect="1"/>
            </p:cNvPicPr>
            <p:nvPr/>
          </p:nvPicPr>
          <p:blipFill>
            <a:blip r:embed="rId4">
              <a:extLst/>
            </a:blip>
            <a:srcRect l="0" t="0" r="0" b="6207"/>
            <a:stretch>
              <a:fillRect/>
            </a:stretch>
          </p:blipFill>
          <p:spPr>
            <a:xfrm>
              <a:off x="101332" y="44050"/>
              <a:ext cx="1365097" cy="865485"/>
            </a:xfrm>
            <a:prstGeom prst="rect">
              <a:avLst/>
            </a:prstGeom>
            <a:ln w="12700" cap="flat">
              <a:noFill/>
              <a:miter lim="400000"/>
            </a:ln>
            <a:effectLst/>
          </p:spPr>
        </p:pic>
      </p:grpSp>
      <p:sp>
        <p:nvSpPr>
          <p:cNvPr id="89" name="It is so easy and convenient to collect data…"/>
          <p:cNvSpPr txBox="1"/>
          <p:nvPr/>
        </p:nvSpPr>
        <p:spPr>
          <a:xfrm>
            <a:off x="217487" y="1568450"/>
            <a:ext cx="10509251" cy="31205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defTabSz="1216025">
              <a:spcBef>
                <a:spcPts val="700"/>
              </a:spcBef>
              <a:buSzPct val="100000"/>
              <a:buChar char="➢"/>
              <a:defRPr b="1" sz="3200">
                <a:solidFill>
                  <a:srgbClr val="FFFFFF"/>
                </a:solidFill>
                <a:latin typeface="Arial"/>
                <a:ea typeface="Arial"/>
                <a:cs typeface="Arial"/>
                <a:sym typeface="Arial"/>
              </a:defRPr>
            </a:pPr>
            <a:r>
              <a:t>It is so easy and convenient to collect data</a:t>
            </a:r>
          </a:p>
          <a:p>
            <a:pPr lvl="1" marL="1085850" indent="-342900" defTabSz="1216025">
              <a:spcBef>
                <a:spcPts val="600"/>
              </a:spcBef>
              <a:buSzPct val="100000"/>
              <a:buChar char="➢"/>
              <a:defRPr b="1" sz="2800">
                <a:solidFill>
                  <a:srgbClr val="FFFFFF"/>
                </a:solidFill>
                <a:latin typeface="Arial"/>
                <a:ea typeface="Arial"/>
                <a:cs typeface="Arial"/>
                <a:sym typeface="Arial"/>
              </a:defRPr>
            </a:pPr>
            <a:r>
              <a:t>A brainstorm</a:t>
            </a:r>
          </a:p>
          <a:p>
            <a:pPr marL="342900" indent="-342900" defTabSz="1216025">
              <a:spcBef>
                <a:spcPts val="700"/>
              </a:spcBef>
              <a:buSzPct val="100000"/>
              <a:buChar char="➢"/>
              <a:defRPr b="1" sz="3200">
                <a:solidFill>
                  <a:srgbClr val="FFFFFF"/>
                </a:solidFill>
                <a:latin typeface="Arial"/>
                <a:ea typeface="Arial"/>
                <a:cs typeface="Arial"/>
                <a:sym typeface="Arial"/>
              </a:defRPr>
            </a:pPr>
            <a:r>
              <a:t>Data is not collected only for data mining</a:t>
            </a:r>
          </a:p>
          <a:p>
            <a:pPr marL="342900" indent="-342900" defTabSz="1216025">
              <a:spcBef>
                <a:spcPts val="700"/>
              </a:spcBef>
              <a:buSzPct val="100000"/>
              <a:buChar char="➢"/>
              <a:defRPr b="1" sz="3200">
                <a:solidFill>
                  <a:srgbClr val="FFFFFF"/>
                </a:solidFill>
                <a:latin typeface="Arial"/>
                <a:ea typeface="Arial"/>
                <a:cs typeface="Arial"/>
                <a:sym typeface="Arial"/>
              </a:defRPr>
            </a:pPr>
            <a:r>
              <a:t>Data accumulates in an unprecedented speed</a:t>
            </a:r>
          </a:p>
          <a:p>
            <a:pPr marL="342900" indent="-342900" defTabSz="1216025">
              <a:spcBef>
                <a:spcPts val="700"/>
              </a:spcBef>
              <a:buSzPct val="100000"/>
              <a:buChar char="➢"/>
              <a:defRPr b="1" sz="3200">
                <a:solidFill>
                  <a:srgbClr val="FFFFFF"/>
                </a:solidFill>
                <a:latin typeface="Arial"/>
                <a:ea typeface="Arial"/>
                <a:cs typeface="Arial"/>
                <a:sym typeface="Arial"/>
              </a:defRPr>
            </a:pPr>
            <a:r>
              <a:t>Dimensionality reduction is an effective approach to downsizing data</a:t>
            </a:r>
          </a:p>
        </p:txBody>
      </p:sp>
      <p:sp>
        <p:nvSpPr>
          <p:cNvPr id="90"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91" name="Why Dimensionality Reduction?"/>
          <p:cNvSpPr txBox="1"/>
          <p:nvPr/>
        </p:nvSpPr>
        <p:spPr>
          <a:xfrm>
            <a:off x="190182" y="207962"/>
            <a:ext cx="4761122"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Why Dimensionality Reduction?</a:t>
            </a:r>
          </a:p>
        </p:txBody>
      </p:sp>
      <p:sp>
        <p:nvSpPr>
          <p:cNvPr id="92"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93" name="Slide Number"/>
          <p:cNvSpPr txBox="1"/>
          <p:nvPr>
            <p:ph type="sldNum" sz="quarter" idx="2"/>
          </p:nvPr>
        </p:nvSpPr>
        <p:spPr>
          <a:xfrm>
            <a:off x="11172418" y="6414760"/>
            <a:ext cx="181383"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94" name="An impromptu experiment:…"/>
          <p:cNvSpPr txBox="1"/>
          <p:nvPr/>
        </p:nvSpPr>
        <p:spPr>
          <a:xfrm>
            <a:off x="433069" y="5257800"/>
            <a:ext cx="10078087" cy="106259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600"/>
            </a:pPr>
            <a:r>
              <a:t>An impromptu experiment: </a:t>
            </a:r>
          </a:p>
          <a:p>
            <a:pPr>
              <a:defRPr sz="1600"/>
            </a:pPr>
            <a:r>
              <a:t>Feel free to write down the most relevant words/phrases describing this lecture hall or classroom; </a:t>
            </a:r>
          </a:p>
          <a:p>
            <a:pPr>
              <a:defRPr sz="1600"/>
            </a:pPr>
            <a:r>
              <a:t>A summary of the words/phrases; </a:t>
            </a:r>
          </a:p>
          <a:p>
            <a:pPr>
              <a:defRPr sz="1600"/>
            </a:pPr>
            <a:r>
              <a:t>Possible tasks of using these words/phrases (Differentiate this kind of rooms from others, Characterize all similar rooms)</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8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nodeType="clickEffect" presetSubtype="4" presetID="2" grpId="2" fill="hold">
                                  <p:stCondLst>
                                    <p:cond delay="0"/>
                                  </p:stCondLst>
                                  <p:iterate type="el" backwards="0">
                                    <p:tmAbs val="0"/>
                                  </p:iterate>
                                  <p:childTnLst>
                                    <p:set>
                                      <p:cBhvr>
                                        <p:cTn id="10" fill="hold"/>
                                        <p:tgtEl>
                                          <p:spTgt spid="94"/>
                                        </p:tgtEl>
                                        <p:attrNameLst>
                                          <p:attrName>style.visibility</p:attrName>
                                        </p:attrNameLst>
                                      </p:cBhvr>
                                      <p:to>
                                        <p:strVal val="visible"/>
                                      </p:to>
                                    </p:set>
                                    <p:anim calcmode="lin" valueType="num">
                                      <p:cBhvr>
                                        <p:cTn id="11" dur="1000" fill="hold"/>
                                        <p:tgtEl>
                                          <p:spTgt spid="94"/>
                                        </p:tgtEl>
                                        <p:attrNameLst>
                                          <p:attrName>ppt_x</p:attrName>
                                        </p:attrNameLst>
                                      </p:cBhvr>
                                      <p:tavLst>
                                        <p:tav tm="0">
                                          <p:val>
                                            <p:strVal val="#ppt_x"/>
                                          </p:val>
                                        </p:tav>
                                        <p:tav tm="100000">
                                          <p:val>
                                            <p:strVal val="#ppt_x"/>
                                          </p:val>
                                        </p:tav>
                                      </p:tavLst>
                                    </p:anim>
                                    <p:anim calcmode="lin" valueType="num">
                                      <p:cBhvr>
                                        <p:cTn id="12" dur="1000" fill="hold"/>
                                        <p:tgtEl>
                                          <p:spTgt spid="9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89" grpId="1"/>
      <p:bldP build="whole" bldLvl="1" animBg="1" rev="0" advAuto="0" spid="94" grpId="2"/>
    </p:bld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8" name="Rectangle"/>
          <p:cNvSpPr/>
          <p:nvPr/>
        </p:nvSpPr>
        <p:spPr>
          <a:xfrm>
            <a:off x="0" y="1319212"/>
            <a:ext cx="12192000" cy="5538788"/>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101" name="Group"/>
          <p:cNvGrpSpPr/>
          <p:nvPr/>
        </p:nvGrpSpPr>
        <p:grpSpPr>
          <a:xfrm>
            <a:off x="10625137" y="5580062"/>
            <a:ext cx="1566864" cy="1281113"/>
            <a:chOff x="0" y="0"/>
            <a:chExt cx="1566862" cy="1281112"/>
          </a:xfrm>
        </p:grpSpPr>
        <p:pic>
          <p:nvPicPr>
            <p:cNvPr id="99"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100"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102" name="Most machine learning and data mining techniques may not be effective for high-dimensional data.…"/>
          <p:cNvSpPr txBox="1"/>
          <p:nvPr/>
        </p:nvSpPr>
        <p:spPr>
          <a:xfrm>
            <a:off x="217487" y="1568450"/>
            <a:ext cx="10509251" cy="383494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defTabSz="1216025">
              <a:spcBef>
                <a:spcPts val="700"/>
              </a:spcBef>
              <a:buSzPct val="100000"/>
              <a:buChar char="➢"/>
              <a:defRPr b="1" sz="3200">
                <a:solidFill>
                  <a:srgbClr val="FFFFFF"/>
                </a:solidFill>
                <a:latin typeface="Arial"/>
                <a:ea typeface="Arial"/>
                <a:cs typeface="Arial"/>
                <a:sym typeface="Arial"/>
              </a:defRPr>
            </a:pPr>
            <a:r>
              <a:t>Most machine learning and data mining techniques may not be effective for high-dimensional data.</a:t>
            </a:r>
            <a:endParaRPr sz="2800"/>
          </a:p>
          <a:p>
            <a:pPr lvl="1" marL="1085850" indent="-342900" defTabSz="1216025">
              <a:spcBef>
                <a:spcPts val="600"/>
              </a:spcBef>
              <a:buSzPct val="100000"/>
              <a:buChar char="➢"/>
              <a:defRPr b="1" sz="2800">
                <a:solidFill>
                  <a:srgbClr val="FFFFFF"/>
                </a:solidFill>
                <a:latin typeface="Arial"/>
                <a:ea typeface="Arial"/>
                <a:cs typeface="Arial"/>
                <a:sym typeface="Arial"/>
              </a:defRPr>
            </a:pPr>
            <a:r>
              <a:t>Query accuracy and efficiency degrade rapidly as the dimension increases.</a:t>
            </a:r>
          </a:p>
          <a:p>
            <a:pPr lvl="1" marL="342900" indent="400050" defTabSz="1216025">
              <a:spcBef>
                <a:spcPts val="500"/>
              </a:spcBef>
              <a:defRPr b="1" sz="3200">
                <a:solidFill>
                  <a:srgbClr val="FFFFFF"/>
                </a:solidFill>
                <a:latin typeface="Arial"/>
                <a:ea typeface="Arial"/>
                <a:cs typeface="Arial"/>
                <a:sym typeface="Arial"/>
              </a:defRPr>
            </a:pPr>
          </a:p>
          <a:p>
            <a:pPr marL="342900" indent="-342900" defTabSz="1216025">
              <a:spcBef>
                <a:spcPts val="700"/>
              </a:spcBef>
              <a:buSzPct val="100000"/>
              <a:buChar char="➢"/>
              <a:defRPr b="1" sz="3200">
                <a:solidFill>
                  <a:srgbClr val="FFFFFF"/>
                </a:solidFill>
                <a:latin typeface="Arial"/>
                <a:ea typeface="Arial"/>
                <a:cs typeface="Arial"/>
                <a:sym typeface="Arial"/>
              </a:defRPr>
            </a:pPr>
            <a:r>
              <a:t>The intrinsic dimension may be small. </a:t>
            </a:r>
          </a:p>
          <a:p>
            <a:pPr lvl="1" marL="1085850" indent="-342900" defTabSz="1216025">
              <a:spcBef>
                <a:spcPts val="600"/>
              </a:spcBef>
              <a:buSzPct val="100000"/>
              <a:buChar char="➢"/>
              <a:defRPr b="1" sz="2800">
                <a:solidFill>
                  <a:srgbClr val="FFFFFF"/>
                </a:solidFill>
                <a:latin typeface="Arial"/>
                <a:ea typeface="Arial"/>
                <a:cs typeface="Arial"/>
                <a:sym typeface="Arial"/>
              </a:defRPr>
            </a:pPr>
            <a:r>
              <a:t>For example, the number of genes responsible for a certain type of disease may be small.</a:t>
            </a:r>
          </a:p>
        </p:txBody>
      </p:sp>
      <p:sp>
        <p:nvSpPr>
          <p:cNvPr id="103"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104" name="Why Dimensionality Reduction?"/>
          <p:cNvSpPr txBox="1"/>
          <p:nvPr/>
        </p:nvSpPr>
        <p:spPr>
          <a:xfrm>
            <a:off x="190182" y="207962"/>
            <a:ext cx="4761122"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Why Dimensionality Reduction?</a:t>
            </a:r>
          </a:p>
        </p:txBody>
      </p:sp>
      <p:sp>
        <p:nvSpPr>
          <p:cNvPr id="105"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106" name="Slide Number"/>
          <p:cNvSpPr txBox="1"/>
          <p:nvPr>
            <p:ph type="sldNum" sz="quarter" idx="2"/>
          </p:nvPr>
        </p:nvSpPr>
        <p:spPr>
          <a:xfrm>
            <a:off x="11172418" y="6414760"/>
            <a:ext cx="181383"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0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02" grpId="1"/>
    </p:bld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8" name="Rectangle"/>
          <p:cNvSpPr/>
          <p:nvPr/>
        </p:nvSpPr>
        <p:spPr>
          <a:xfrm>
            <a:off x="0" y="1463675"/>
            <a:ext cx="12192000" cy="5538788"/>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111" name="Group"/>
          <p:cNvGrpSpPr/>
          <p:nvPr/>
        </p:nvGrpSpPr>
        <p:grpSpPr>
          <a:xfrm>
            <a:off x="10625137" y="5580062"/>
            <a:ext cx="1566864" cy="1281113"/>
            <a:chOff x="0" y="0"/>
            <a:chExt cx="1566862" cy="1281112"/>
          </a:xfrm>
        </p:grpSpPr>
        <p:pic>
          <p:nvPicPr>
            <p:cNvPr id="109"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110"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112"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113" name="Why Dimensionality Reduction? (Application on Text Classification)"/>
          <p:cNvSpPr txBox="1"/>
          <p:nvPr/>
        </p:nvSpPr>
        <p:spPr>
          <a:xfrm>
            <a:off x="190182" y="207962"/>
            <a:ext cx="9920695"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Why Dimensionality Reduction? (Application on Text Classification)</a:t>
            </a:r>
          </a:p>
        </p:txBody>
      </p:sp>
      <p:sp>
        <p:nvSpPr>
          <p:cNvPr id="114"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115" name="Slide Number"/>
          <p:cNvSpPr txBox="1"/>
          <p:nvPr>
            <p:ph type="sldNum" sz="quarter" idx="2"/>
          </p:nvPr>
        </p:nvSpPr>
        <p:spPr>
          <a:xfrm>
            <a:off x="11172418" y="6414760"/>
            <a:ext cx="181383"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grpSp>
        <p:nvGrpSpPr>
          <p:cNvPr id="149" name="Group"/>
          <p:cNvGrpSpPr/>
          <p:nvPr/>
        </p:nvGrpSpPr>
        <p:grpSpPr>
          <a:xfrm>
            <a:off x="506412" y="1830387"/>
            <a:ext cx="3810001" cy="4157376"/>
            <a:chOff x="0" y="0"/>
            <a:chExt cx="3810000" cy="4157374"/>
          </a:xfrm>
        </p:grpSpPr>
        <p:grpSp>
          <p:nvGrpSpPr>
            <p:cNvPr id="118" name="Group"/>
            <p:cNvGrpSpPr/>
            <p:nvPr/>
          </p:nvGrpSpPr>
          <p:grpSpPr>
            <a:xfrm>
              <a:off x="717550" y="1878012"/>
              <a:ext cx="2151063" cy="1163639"/>
              <a:chOff x="0" y="0"/>
              <a:chExt cx="2151062" cy="1163637"/>
            </a:xfrm>
          </p:grpSpPr>
          <p:sp>
            <p:nvSpPr>
              <p:cNvPr id="116" name="Shape"/>
              <p:cNvSpPr/>
              <p:nvPr/>
            </p:nvSpPr>
            <p:spPr>
              <a:xfrm>
                <a:off x="0" y="0"/>
                <a:ext cx="2151063" cy="116363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5800"/>
                    </a:moveTo>
                    <a:lnTo>
                      <a:pt x="8352" y="2295"/>
                    </a:lnTo>
                    <a:lnTo>
                      <a:pt x="7312" y="6320"/>
                    </a:lnTo>
                    <a:lnTo>
                      <a:pt x="370" y="2295"/>
                    </a:lnTo>
                    <a:lnTo>
                      <a:pt x="4627" y="7617"/>
                    </a:lnTo>
                    <a:lnTo>
                      <a:pt x="0" y="8615"/>
                    </a:lnTo>
                    <a:lnTo>
                      <a:pt x="3722" y="11775"/>
                    </a:lnTo>
                    <a:lnTo>
                      <a:pt x="135" y="14587"/>
                    </a:lnTo>
                    <a:lnTo>
                      <a:pt x="5667" y="13937"/>
                    </a:lnTo>
                    <a:lnTo>
                      <a:pt x="4762" y="17617"/>
                    </a:lnTo>
                    <a:lnTo>
                      <a:pt x="7715" y="15627"/>
                    </a:lnTo>
                    <a:lnTo>
                      <a:pt x="8485" y="21600"/>
                    </a:lnTo>
                    <a:lnTo>
                      <a:pt x="10532" y="14935"/>
                    </a:lnTo>
                    <a:lnTo>
                      <a:pt x="13247" y="19737"/>
                    </a:lnTo>
                    <a:lnTo>
                      <a:pt x="14020" y="14457"/>
                    </a:lnTo>
                    <a:lnTo>
                      <a:pt x="18145" y="18095"/>
                    </a:lnTo>
                    <a:lnTo>
                      <a:pt x="16837" y="12942"/>
                    </a:lnTo>
                    <a:lnTo>
                      <a:pt x="21600" y="13290"/>
                    </a:lnTo>
                    <a:lnTo>
                      <a:pt x="17607" y="10475"/>
                    </a:lnTo>
                    <a:lnTo>
                      <a:pt x="21097" y="8137"/>
                    </a:lnTo>
                    <a:lnTo>
                      <a:pt x="16702" y="7315"/>
                    </a:lnTo>
                    <a:lnTo>
                      <a:pt x="18380" y="4457"/>
                    </a:lnTo>
                    <a:lnTo>
                      <a:pt x="14155" y="5325"/>
                    </a:lnTo>
                    <a:lnTo>
                      <a:pt x="14522" y="0"/>
                    </a:lnTo>
                    <a:close/>
                  </a:path>
                </a:pathLst>
              </a:custGeom>
              <a:solidFill>
                <a:srgbClr val="99CC00"/>
              </a:solidFill>
              <a:ln w="19050" cap="flat">
                <a:solidFill>
                  <a:srgbClr val="000000"/>
                </a:solidFill>
                <a:prstDash val="solid"/>
                <a:round/>
              </a:ln>
              <a:effectLst/>
            </p:spPr>
            <p:txBody>
              <a:bodyPr wrap="square" lIns="45719" tIns="45719" rIns="45719" bIns="45719" numCol="1" anchor="ctr">
                <a:noAutofit/>
              </a:bodyPr>
              <a:lstStyle/>
              <a:p>
                <a:pPr algn="ctr">
                  <a:defRPr b="1" sz="2400"/>
                </a:pPr>
              </a:p>
            </p:txBody>
          </p:sp>
          <p:sp>
            <p:nvSpPr>
              <p:cNvPr id="117" name="Internet"/>
              <p:cNvSpPr txBox="1"/>
              <p:nvPr/>
            </p:nvSpPr>
            <p:spPr>
              <a:xfrm>
                <a:off x="496807" y="349408"/>
                <a:ext cx="1130460" cy="3924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ctr">
                <a:spAutoFit/>
              </a:bodyPr>
              <a:lstStyle>
                <a:lvl1pPr algn="ctr">
                  <a:defRPr b="1" sz="2400"/>
                </a:lvl1pPr>
              </a:lstStyle>
              <a:p>
                <a:pPr/>
                <a:r>
                  <a:t>Internet</a:t>
                </a:r>
              </a:p>
            </p:txBody>
          </p:sp>
        </p:grpSp>
        <p:grpSp>
          <p:nvGrpSpPr>
            <p:cNvPr id="123" name="Group"/>
            <p:cNvGrpSpPr/>
            <p:nvPr/>
          </p:nvGrpSpPr>
          <p:grpSpPr>
            <a:xfrm>
              <a:off x="0" y="3162299"/>
              <a:ext cx="1174751" cy="519114"/>
              <a:chOff x="0" y="0"/>
              <a:chExt cx="1174750" cy="519112"/>
            </a:xfrm>
          </p:grpSpPr>
          <p:grpSp>
            <p:nvGrpSpPr>
              <p:cNvPr id="121" name="Group"/>
              <p:cNvGrpSpPr/>
              <p:nvPr/>
            </p:nvGrpSpPr>
            <p:grpSpPr>
              <a:xfrm>
                <a:off x="0" y="-1"/>
                <a:ext cx="1174751" cy="519114"/>
                <a:chOff x="0" y="0"/>
                <a:chExt cx="1174750" cy="519112"/>
              </a:xfrm>
            </p:grpSpPr>
            <p:sp>
              <p:nvSpPr>
                <p:cNvPr id="119" name="Shape"/>
                <p:cNvSpPr/>
                <p:nvPr/>
              </p:nvSpPr>
              <p:spPr>
                <a:xfrm>
                  <a:off x="0" y="0"/>
                  <a:ext cx="1174751" cy="51911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835" y="0"/>
                        <a:pt x="0" y="1518"/>
                        <a:pt x="0" y="3391"/>
                      </a:cubicBezTo>
                      <a:lnTo>
                        <a:pt x="0" y="18209"/>
                      </a:lnTo>
                      <a:cubicBezTo>
                        <a:pt x="0" y="20082"/>
                        <a:pt x="4835" y="21600"/>
                        <a:pt x="10800" y="21600"/>
                      </a:cubicBezTo>
                      <a:cubicBezTo>
                        <a:pt x="16765" y="21600"/>
                        <a:pt x="21600" y="20082"/>
                        <a:pt x="21600" y="18209"/>
                      </a:cubicBezTo>
                      <a:lnTo>
                        <a:pt x="21600" y="3391"/>
                      </a:lnTo>
                      <a:cubicBezTo>
                        <a:pt x="21600" y="1518"/>
                        <a:pt x="16765" y="0"/>
                        <a:pt x="10800" y="0"/>
                      </a:cubicBezTo>
                      <a:close/>
                    </a:path>
                  </a:pathLst>
                </a:custGeom>
                <a:noFill/>
                <a:ln w="25400" cap="flat">
                  <a:solidFill>
                    <a:srgbClr val="0000FF"/>
                  </a:solidFill>
                  <a:prstDash val="solid"/>
                  <a:round/>
                </a:ln>
                <a:effectLst/>
              </p:spPr>
              <p:txBody>
                <a:bodyPr wrap="square" lIns="45719" tIns="45719" rIns="45719" bIns="45719" numCol="1" anchor="ctr">
                  <a:noAutofit/>
                </a:bodyPr>
                <a:lstStyle/>
                <a:p>
                  <a:pPr algn="ctr">
                    <a:defRPr b="1" sz="1400"/>
                  </a:pPr>
                </a:p>
              </p:txBody>
            </p:sp>
            <p:sp>
              <p:nvSpPr>
                <p:cNvPr id="120" name="Line"/>
                <p:cNvSpPr/>
                <p:nvPr/>
              </p:nvSpPr>
              <p:spPr>
                <a:xfrm>
                  <a:off x="0" y="81495"/>
                  <a:ext cx="1174751" cy="8149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0" y="11929"/>
                        <a:pt x="4835" y="21600"/>
                        <a:pt x="10800" y="21600"/>
                      </a:cubicBezTo>
                      <a:cubicBezTo>
                        <a:pt x="16765" y="21600"/>
                        <a:pt x="21600" y="11929"/>
                        <a:pt x="21600" y="0"/>
                      </a:cubicBezTo>
                    </a:path>
                  </a:pathLst>
                </a:custGeom>
                <a:noFill/>
                <a:ln w="25400" cap="flat">
                  <a:solidFill>
                    <a:srgbClr val="0000FF"/>
                  </a:solidFill>
                  <a:prstDash val="solid"/>
                  <a:round/>
                </a:ln>
                <a:effectLst/>
              </p:spPr>
              <p:txBody>
                <a:bodyPr wrap="square" lIns="45719" tIns="45719" rIns="45719" bIns="45719" numCol="1" anchor="ctr">
                  <a:noAutofit/>
                </a:bodyPr>
                <a:lstStyle/>
                <a:p>
                  <a:pPr algn="ctr">
                    <a:defRPr b="1" sz="1400"/>
                  </a:pPr>
                </a:p>
              </p:txBody>
            </p:sp>
          </p:grpSp>
          <p:sp>
            <p:nvSpPr>
              <p:cNvPr id="122" name="ACM Portal"/>
              <p:cNvSpPr txBox="1"/>
              <p:nvPr/>
            </p:nvSpPr>
            <p:spPr>
              <a:xfrm>
                <a:off x="58419" y="159904"/>
                <a:ext cx="1057912" cy="2808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b="1" sz="1400"/>
                </a:lvl1pPr>
              </a:lstStyle>
              <a:p>
                <a:pPr/>
                <a:r>
                  <a:t>ACM Portal</a:t>
                </a:r>
              </a:p>
            </p:txBody>
          </p:sp>
        </p:grpSp>
        <p:grpSp>
          <p:nvGrpSpPr>
            <p:cNvPr id="128" name="Group"/>
            <p:cNvGrpSpPr/>
            <p:nvPr/>
          </p:nvGrpSpPr>
          <p:grpSpPr>
            <a:xfrm>
              <a:off x="2635250" y="3160712"/>
              <a:ext cx="1174751" cy="520701"/>
              <a:chOff x="0" y="0"/>
              <a:chExt cx="1174750" cy="520700"/>
            </a:xfrm>
          </p:grpSpPr>
          <p:grpSp>
            <p:nvGrpSpPr>
              <p:cNvPr id="126" name="Group"/>
              <p:cNvGrpSpPr/>
              <p:nvPr/>
            </p:nvGrpSpPr>
            <p:grpSpPr>
              <a:xfrm>
                <a:off x="0" y="-1"/>
                <a:ext cx="1174751" cy="520701"/>
                <a:chOff x="0" y="0"/>
                <a:chExt cx="1174750" cy="520700"/>
              </a:xfrm>
            </p:grpSpPr>
            <p:sp>
              <p:nvSpPr>
                <p:cNvPr id="124" name="Shape"/>
                <p:cNvSpPr/>
                <p:nvPr/>
              </p:nvSpPr>
              <p:spPr>
                <a:xfrm>
                  <a:off x="0" y="0"/>
                  <a:ext cx="1174751" cy="5207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835" y="0"/>
                        <a:pt x="0" y="1518"/>
                        <a:pt x="0" y="3391"/>
                      </a:cubicBezTo>
                      <a:lnTo>
                        <a:pt x="0" y="18209"/>
                      </a:lnTo>
                      <a:cubicBezTo>
                        <a:pt x="0" y="20082"/>
                        <a:pt x="4835" y="21600"/>
                        <a:pt x="10800" y="21600"/>
                      </a:cubicBezTo>
                      <a:cubicBezTo>
                        <a:pt x="16765" y="21600"/>
                        <a:pt x="21600" y="20082"/>
                        <a:pt x="21600" y="18209"/>
                      </a:cubicBezTo>
                      <a:lnTo>
                        <a:pt x="21600" y="3391"/>
                      </a:lnTo>
                      <a:cubicBezTo>
                        <a:pt x="21600" y="1518"/>
                        <a:pt x="16765" y="0"/>
                        <a:pt x="10800" y="0"/>
                      </a:cubicBezTo>
                      <a:close/>
                    </a:path>
                  </a:pathLst>
                </a:custGeom>
                <a:noFill/>
                <a:ln w="25400" cap="flat">
                  <a:solidFill>
                    <a:srgbClr val="0000FF"/>
                  </a:solidFill>
                  <a:prstDash val="solid"/>
                  <a:round/>
                </a:ln>
                <a:effectLst/>
              </p:spPr>
              <p:txBody>
                <a:bodyPr wrap="square" lIns="45719" tIns="45719" rIns="45719" bIns="45719" numCol="1" anchor="ctr">
                  <a:noAutofit/>
                </a:bodyPr>
                <a:lstStyle/>
                <a:p>
                  <a:pPr algn="ctr">
                    <a:defRPr b="1" sz="1400"/>
                  </a:pPr>
                </a:p>
              </p:txBody>
            </p:sp>
            <p:sp>
              <p:nvSpPr>
                <p:cNvPr id="125" name="Line"/>
                <p:cNvSpPr/>
                <p:nvPr/>
              </p:nvSpPr>
              <p:spPr>
                <a:xfrm>
                  <a:off x="0" y="81745"/>
                  <a:ext cx="1174751" cy="8174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0" y="11929"/>
                        <a:pt x="4835" y="21600"/>
                        <a:pt x="10800" y="21600"/>
                      </a:cubicBezTo>
                      <a:cubicBezTo>
                        <a:pt x="16765" y="21600"/>
                        <a:pt x="21600" y="11929"/>
                        <a:pt x="21600" y="0"/>
                      </a:cubicBezTo>
                    </a:path>
                  </a:pathLst>
                </a:custGeom>
                <a:noFill/>
                <a:ln w="25400" cap="flat">
                  <a:solidFill>
                    <a:srgbClr val="0000FF"/>
                  </a:solidFill>
                  <a:prstDash val="solid"/>
                  <a:round/>
                </a:ln>
                <a:effectLst/>
              </p:spPr>
              <p:txBody>
                <a:bodyPr wrap="square" lIns="45719" tIns="45719" rIns="45719" bIns="45719" numCol="1" anchor="ctr">
                  <a:noAutofit/>
                </a:bodyPr>
                <a:lstStyle/>
                <a:p>
                  <a:pPr algn="ctr">
                    <a:defRPr b="1" sz="1400"/>
                  </a:pPr>
                </a:p>
              </p:txBody>
            </p:sp>
          </p:grpSp>
          <p:sp>
            <p:nvSpPr>
              <p:cNvPr id="127" name="PubMed"/>
              <p:cNvSpPr txBox="1"/>
              <p:nvPr/>
            </p:nvSpPr>
            <p:spPr>
              <a:xfrm>
                <a:off x="58419" y="160823"/>
                <a:ext cx="1057912" cy="2808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b="1" sz="1400"/>
                </a:lvl1pPr>
              </a:lstStyle>
              <a:p>
                <a:pPr/>
                <a:r>
                  <a:t>PubMed</a:t>
                </a:r>
              </a:p>
            </p:txBody>
          </p:sp>
        </p:grpSp>
        <p:grpSp>
          <p:nvGrpSpPr>
            <p:cNvPr id="133" name="Group"/>
            <p:cNvGrpSpPr/>
            <p:nvPr/>
          </p:nvGrpSpPr>
          <p:grpSpPr>
            <a:xfrm>
              <a:off x="1304925" y="3174999"/>
              <a:ext cx="1171576" cy="495301"/>
              <a:chOff x="0" y="0"/>
              <a:chExt cx="1171575" cy="495300"/>
            </a:xfrm>
          </p:grpSpPr>
          <p:grpSp>
            <p:nvGrpSpPr>
              <p:cNvPr id="131" name="Group"/>
              <p:cNvGrpSpPr/>
              <p:nvPr/>
            </p:nvGrpSpPr>
            <p:grpSpPr>
              <a:xfrm>
                <a:off x="0" y="-1"/>
                <a:ext cx="1171576" cy="495301"/>
                <a:chOff x="0" y="0"/>
                <a:chExt cx="1171575" cy="495300"/>
              </a:xfrm>
            </p:grpSpPr>
            <p:sp>
              <p:nvSpPr>
                <p:cNvPr id="129" name="Shape"/>
                <p:cNvSpPr/>
                <p:nvPr/>
              </p:nvSpPr>
              <p:spPr>
                <a:xfrm>
                  <a:off x="0" y="0"/>
                  <a:ext cx="1171576" cy="4953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835" y="0"/>
                        <a:pt x="0" y="1518"/>
                        <a:pt x="0" y="3391"/>
                      </a:cubicBezTo>
                      <a:lnTo>
                        <a:pt x="0" y="18209"/>
                      </a:lnTo>
                      <a:cubicBezTo>
                        <a:pt x="0" y="20082"/>
                        <a:pt x="4835" y="21600"/>
                        <a:pt x="10800" y="21600"/>
                      </a:cubicBezTo>
                      <a:cubicBezTo>
                        <a:pt x="16765" y="21600"/>
                        <a:pt x="21600" y="20082"/>
                        <a:pt x="21600" y="18209"/>
                      </a:cubicBezTo>
                      <a:lnTo>
                        <a:pt x="21600" y="3391"/>
                      </a:lnTo>
                      <a:cubicBezTo>
                        <a:pt x="21600" y="1518"/>
                        <a:pt x="16765" y="0"/>
                        <a:pt x="10800" y="0"/>
                      </a:cubicBezTo>
                      <a:close/>
                    </a:path>
                  </a:pathLst>
                </a:custGeom>
                <a:noFill/>
                <a:ln w="25400" cap="flat">
                  <a:solidFill>
                    <a:srgbClr val="0000FF"/>
                  </a:solidFill>
                  <a:prstDash val="solid"/>
                  <a:round/>
                </a:ln>
                <a:effectLst/>
              </p:spPr>
              <p:txBody>
                <a:bodyPr wrap="square" lIns="45719" tIns="45719" rIns="45719" bIns="45719" numCol="1" anchor="ctr">
                  <a:noAutofit/>
                </a:bodyPr>
                <a:lstStyle/>
                <a:p>
                  <a:pPr algn="ctr">
                    <a:defRPr b="1" i="1" sz="1300"/>
                  </a:pPr>
                </a:p>
              </p:txBody>
            </p:sp>
            <p:sp>
              <p:nvSpPr>
                <p:cNvPr id="130" name="Line"/>
                <p:cNvSpPr/>
                <p:nvPr/>
              </p:nvSpPr>
              <p:spPr>
                <a:xfrm>
                  <a:off x="0" y="77757"/>
                  <a:ext cx="1171576" cy="7775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0" y="11929"/>
                        <a:pt x="4835" y="21600"/>
                        <a:pt x="10800" y="21600"/>
                      </a:cubicBezTo>
                      <a:cubicBezTo>
                        <a:pt x="16765" y="21600"/>
                        <a:pt x="21600" y="11929"/>
                        <a:pt x="21600" y="0"/>
                      </a:cubicBezTo>
                    </a:path>
                  </a:pathLst>
                </a:custGeom>
                <a:noFill/>
                <a:ln w="25400" cap="flat">
                  <a:solidFill>
                    <a:srgbClr val="0000FF"/>
                  </a:solidFill>
                  <a:prstDash val="solid"/>
                  <a:round/>
                </a:ln>
                <a:effectLst/>
              </p:spPr>
              <p:txBody>
                <a:bodyPr wrap="square" lIns="45719" tIns="45719" rIns="45719" bIns="45719" numCol="1" anchor="ctr">
                  <a:noAutofit/>
                </a:bodyPr>
                <a:lstStyle/>
                <a:p>
                  <a:pPr algn="ctr">
                    <a:defRPr b="1" i="1" sz="1300"/>
                  </a:pPr>
                </a:p>
              </p:txBody>
            </p:sp>
          </p:grpSp>
          <p:sp>
            <p:nvSpPr>
              <p:cNvPr id="132" name="IEEE Xplore"/>
              <p:cNvSpPr txBox="1"/>
              <p:nvPr/>
            </p:nvSpPr>
            <p:spPr>
              <a:xfrm>
                <a:off x="58419" y="157427"/>
                <a:ext cx="1054737" cy="25820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p>
                <a:pPr algn="ctr">
                  <a:defRPr b="1" sz="1300"/>
                </a:pPr>
                <a:r>
                  <a:t>IEEE </a:t>
                </a:r>
                <a:r>
                  <a:rPr i="1"/>
                  <a:t>Xplore</a:t>
                </a:r>
              </a:p>
            </p:txBody>
          </p:sp>
        </p:grpSp>
        <p:sp>
          <p:nvSpPr>
            <p:cNvPr id="134" name="Digital Libraries"/>
            <p:cNvSpPr txBox="1"/>
            <p:nvPr/>
          </p:nvSpPr>
          <p:spPr>
            <a:xfrm>
              <a:off x="1036319" y="3824287"/>
              <a:ext cx="1956437" cy="33308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spcBef>
                  <a:spcPts val="1000"/>
                </a:spcBef>
                <a:defRPr b="1">
                  <a:solidFill>
                    <a:srgbClr val="CC3300"/>
                  </a:solidFill>
                </a:defRPr>
              </a:lvl1pPr>
            </a:lstStyle>
            <a:p>
              <a:pPr/>
              <a:r>
                <a:t>Digital Libraries</a:t>
              </a:r>
            </a:p>
          </p:txBody>
        </p:sp>
        <p:grpSp>
          <p:nvGrpSpPr>
            <p:cNvPr id="138" name="Group"/>
            <p:cNvGrpSpPr/>
            <p:nvPr/>
          </p:nvGrpSpPr>
          <p:grpSpPr>
            <a:xfrm>
              <a:off x="130174" y="393699"/>
              <a:ext cx="1760539" cy="1289051"/>
              <a:chOff x="0" y="0"/>
              <a:chExt cx="1760537" cy="1289050"/>
            </a:xfrm>
          </p:grpSpPr>
          <p:pic>
            <p:nvPicPr>
              <p:cNvPr id="135" name="image.png" descr="image.png"/>
              <p:cNvPicPr>
                <a:picLocks noChangeAspect="1"/>
              </p:cNvPicPr>
              <p:nvPr/>
            </p:nvPicPr>
            <p:blipFill>
              <a:blip r:embed="rId4">
                <a:extLst/>
              </a:blip>
              <a:stretch>
                <a:fillRect/>
              </a:stretch>
            </p:blipFill>
            <p:spPr>
              <a:xfrm>
                <a:off x="0" y="69242"/>
                <a:ext cx="1374925" cy="1110728"/>
              </a:xfrm>
              <a:prstGeom prst="rect">
                <a:avLst/>
              </a:prstGeom>
              <a:ln w="12700" cap="flat">
                <a:noFill/>
                <a:miter lim="400000"/>
              </a:ln>
              <a:effectLst/>
            </p:spPr>
          </p:pic>
          <p:pic>
            <p:nvPicPr>
              <p:cNvPr id="136" name="image.png" descr="image.png"/>
              <p:cNvPicPr>
                <a:picLocks noChangeAspect="1"/>
              </p:cNvPicPr>
              <p:nvPr/>
            </p:nvPicPr>
            <p:blipFill>
              <a:blip r:embed="rId5">
                <a:extLst/>
              </a:blip>
              <a:stretch>
                <a:fillRect/>
              </a:stretch>
            </p:blipFill>
            <p:spPr>
              <a:xfrm>
                <a:off x="285492" y="402176"/>
                <a:ext cx="1094389" cy="886874"/>
              </a:xfrm>
              <a:prstGeom prst="rect">
                <a:avLst/>
              </a:prstGeom>
              <a:ln w="12700" cap="flat">
                <a:noFill/>
                <a:miter lim="400000"/>
              </a:ln>
              <a:effectLst/>
            </p:spPr>
          </p:pic>
          <p:pic>
            <p:nvPicPr>
              <p:cNvPr id="137" name="image.png" descr="image.png"/>
              <p:cNvPicPr>
                <a:picLocks noChangeAspect="1"/>
              </p:cNvPicPr>
              <p:nvPr/>
            </p:nvPicPr>
            <p:blipFill>
              <a:blip r:embed="rId6">
                <a:extLst/>
              </a:blip>
              <a:stretch>
                <a:fillRect/>
              </a:stretch>
            </p:blipFill>
            <p:spPr>
              <a:xfrm>
                <a:off x="570985" y="-1"/>
                <a:ext cx="1189553" cy="766412"/>
              </a:xfrm>
              <a:prstGeom prst="rect">
                <a:avLst/>
              </a:prstGeom>
              <a:ln w="12700" cap="flat">
                <a:noFill/>
                <a:miter lim="400000"/>
              </a:ln>
              <a:effectLst/>
            </p:spPr>
          </p:pic>
        </p:grpSp>
        <p:grpSp>
          <p:nvGrpSpPr>
            <p:cNvPr id="141" name="Group"/>
            <p:cNvGrpSpPr/>
            <p:nvPr/>
          </p:nvGrpSpPr>
          <p:grpSpPr>
            <a:xfrm>
              <a:off x="2413000" y="568325"/>
              <a:ext cx="1368425" cy="1236663"/>
              <a:chOff x="0" y="0"/>
              <a:chExt cx="1368424" cy="1236662"/>
            </a:xfrm>
          </p:grpSpPr>
          <p:pic>
            <p:nvPicPr>
              <p:cNvPr id="139" name="image.png" descr="image.png"/>
              <p:cNvPicPr>
                <a:picLocks noChangeAspect="1"/>
              </p:cNvPicPr>
              <p:nvPr/>
            </p:nvPicPr>
            <p:blipFill>
              <a:blip r:embed="rId7">
                <a:extLst/>
              </a:blip>
              <a:stretch>
                <a:fillRect/>
              </a:stretch>
            </p:blipFill>
            <p:spPr>
              <a:xfrm>
                <a:off x="0" y="250463"/>
                <a:ext cx="1140355" cy="986200"/>
              </a:xfrm>
              <a:prstGeom prst="rect">
                <a:avLst/>
              </a:prstGeom>
              <a:ln w="12700" cap="flat">
                <a:noFill/>
                <a:miter lim="400000"/>
              </a:ln>
              <a:effectLst/>
            </p:spPr>
          </p:pic>
          <p:pic>
            <p:nvPicPr>
              <p:cNvPr id="140" name="image.png" descr="image.png"/>
              <p:cNvPicPr>
                <a:picLocks noChangeAspect="1"/>
              </p:cNvPicPr>
              <p:nvPr/>
            </p:nvPicPr>
            <p:blipFill>
              <a:blip r:embed="rId7">
                <a:extLst/>
              </a:blip>
              <a:stretch>
                <a:fillRect/>
              </a:stretch>
            </p:blipFill>
            <p:spPr>
              <a:xfrm>
                <a:off x="228070" y="0"/>
                <a:ext cx="1140355" cy="986200"/>
              </a:xfrm>
              <a:prstGeom prst="rect">
                <a:avLst/>
              </a:prstGeom>
              <a:ln w="12700" cap="flat">
                <a:noFill/>
                <a:miter lim="400000"/>
              </a:ln>
              <a:effectLst/>
            </p:spPr>
          </p:pic>
        </p:grpSp>
        <p:sp>
          <p:nvSpPr>
            <p:cNvPr id="142" name="Web Pages"/>
            <p:cNvSpPr txBox="1"/>
            <p:nvPr/>
          </p:nvSpPr>
          <p:spPr>
            <a:xfrm>
              <a:off x="448944" y="0"/>
              <a:ext cx="1408749" cy="33308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spcBef>
                  <a:spcPts val="1000"/>
                </a:spcBef>
                <a:defRPr b="1">
                  <a:solidFill>
                    <a:srgbClr val="CC3300"/>
                  </a:solidFill>
                </a:defRPr>
              </a:lvl1pPr>
            </a:lstStyle>
            <a:p>
              <a:pPr/>
              <a:r>
                <a:t>Web Pages</a:t>
              </a:r>
            </a:p>
          </p:txBody>
        </p:sp>
        <p:sp>
          <p:nvSpPr>
            <p:cNvPr id="143" name="Emails"/>
            <p:cNvSpPr txBox="1"/>
            <p:nvPr/>
          </p:nvSpPr>
          <p:spPr>
            <a:xfrm>
              <a:off x="2742882" y="152400"/>
              <a:ext cx="889636" cy="33308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spcBef>
                  <a:spcPts val="1000"/>
                </a:spcBef>
                <a:defRPr b="1">
                  <a:solidFill>
                    <a:srgbClr val="CC3300"/>
                  </a:solidFill>
                </a:defRPr>
              </a:lvl1pPr>
            </a:lstStyle>
            <a:p>
              <a:pPr/>
              <a:r>
                <a:t>Emails</a:t>
              </a:r>
            </a:p>
          </p:txBody>
        </p:sp>
        <p:sp>
          <p:nvSpPr>
            <p:cNvPr id="144" name="Line"/>
            <p:cNvSpPr/>
            <p:nvPr/>
          </p:nvSpPr>
          <p:spPr>
            <a:xfrm flipH="1" flipV="1">
              <a:off x="1279525" y="1693862"/>
              <a:ext cx="130175" cy="433388"/>
            </a:xfrm>
            <a:prstGeom prst="line">
              <a:avLst/>
            </a:prstGeom>
            <a:noFill/>
            <a:ln w="38100" cap="flat">
              <a:solidFill>
                <a:srgbClr val="CC3300"/>
              </a:solidFill>
              <a:prstDash val="solid"/>
              <a:round/>
              <a:tailEnd type="triangle" w="med" len="med"/>
            </a:ln>
            <a:effectLst/>
          </p:spPr>
          <p:txBody>
            <a:bodyPr wrap="square" lIns="45719" tIns="45719" rIns="45719" bIns="45719" numCol="1" anchor="t">
              <a:noAutofit/>
            </a:bodyPr>
            <a:lstStyle/>
            <a:p>
              <a:pPr/>
            </a:p>
          </p:txBody>
        </p:sp>
        <p:sp>
          <p:nvSpPr>
            <p:cNvPr id="145" name="Line"/>
            <p:cNvSpPr/>
            <p:nvPr/>
          </p:nvSpPr>
          <p:spPr>
            <a:xfrm flipV="1">
              <a:off x="2673350" y="1866900"/>
              <a:ext cx="325438" cy="247650"/>
            </a:xfrm>
            <a:prstGeom prst="line">
              <a:avLst/>
            </a:prstGeom>
            <a:noFill/>
            <a:ln w="38100" cap="flat">
              <a:solidFill>
                <a:srgbClr val="CC3300"/>
              </a:solidFill>
              <a:prstDash val="solid"/>
              <a:round/>
              <a:tailEnd type="triangle" w="med" len="med"/>
            </a:ln>
            <a:effectLst/>
          </p:spPr>
          <p:txBody>
            <a:bodyPr wrap="square" lIns="45719" tIns="45719" rIns="45719" bIns="45719" numCol="1" anchor="t">
              <a:noAutofit/>
            </a:bodyPr>
            <a:lstStyle/>
            <a:p>
              <a:pPr/>
            </a:p>
          </p:txBody>
        </p:sp>
        <p:sp>
          <p:nvSpPr>
            <p:cNvPr id="146" name="Line"/>
            <p:cNvSpPr/>
            <p:nvPr/>
          </p:nvSpPr>
          <p:spPr>
            <a:xfrm flipH="1">
              <a:off x="782637" y="2855912"/>
              <a:ext cx="325438" cy="247651"/>
            </a:xfrm>
            <a:prstGeom prst="line">
              <a:avLst/>
            </a:prstGeom>
            <a:noFill/>
            <a:ln w="38100" cap="flat">
              <a:solidFill>
                <a:srgbClr val="CC3300"/>
              </a:solidFill>
              <a:prstDash val="solid"/>
              <a:round/>
              <a:tailEnd type="triangle" w="med" len="med"/>
            </a:ln>
            <a:effectLst/>
          </p:spPr>
          <p:txBody>
            <a:bodyPr wrap="square" lIns="45719" tIns="45719" rIns="45719" bIns="45719" numCol="1" anchor="t">
              <a:noAutofit/>
            </a:bodyPr>
            <a:lstStyle/>
            <a:p>
              <a:pPr/>
            </a:p>
          </p:txBody>
        </p:sp>
        <p:sp>
          <p:nvSpPr>
            <p:cNvPr id="147" name="Line"/>
            <p:cNvSpPr/>
            <p:nvPr/>
          </p:nvSpPr>
          <p:spPr>
            <a:xfrm>
              <a:off x="1825625" y="2793999"/>
              <a:ext cx="0" cy="309564"/>
            </a:xfrm>
            <a:prstGeom prst="line">
              <a:avLst/>
            </a:prstGeom>
            <a:noFill/>
            <a:ln w="38100" cap="flat">
              <a:solidFill>
                <a:srgbClr val="CC3300"/>
              </a:solidFill>
              <a:prstDash val="solid"/>
              <a:round/>
              <a:tailEnd type="triangle" w="med" len="med"/>
            </a:ln>
            <a:effectLst/>
          </p:spPr>
          <p:txBody>
            <a:bodyPr wrap="square" lIns="45719" tIns="45719" rIns="45719" bIns="45719" numCol="1" anchor="t">
              <a:noAutofit/>
            </a:bodyPr>
            <a:lstStyle/>
            <a:p>
              <a:pPr/>
            </a:p>
          </p:txBody>
        </p:sp>
        <p:sp>
          <p:nvSpPr>
            <p:cNvPr id="148" name="Line"/>
            <p:cNvSpPr/>
            <p:nvPr/>
          </p:nvSpPr>
          <p:spPr>
            <a:xfrm>
              <a:off x="2608262" y="2732087"/>
              <a:ext cx="260351" cy="371476"/>
            </a:xfrm>
            <a:prstGeom prst="line">
              <a:avLst/>
            </a:prstGeom>
            <a:noFill/>
            <a:ln w="38100" cap="flat">
              <a:solidFill>
                <a:srgbClr val="CC3300"/>
              </a:solidFill>
              <a:prstDash val="solid"/>
              <a:round/>
              <a:tailEnd type="triangle" w="med" len="med"/>
            </a:ln>
            <a:effectLst/>
          </p:spPr>
          <p:txBody>
            <a:bodyPr wrap="square" lIns="45719" tIns="45719" rIns="45719" bIns="45719" numCol="1" anchor="t">
              <a:noAutofit/>
            </a:bodyPr>
            <a:lstStyle/>
            <a:p>
              <a:pPr/>
            </a:p>
          </p:txBody>
        </p:sp>
      </p:grpSp>
      <p:grpSp>
        <p:nvGrpSpPr>
          <p:cNvPr id="170" name="Group"/>
          <p:cNvGrpSpPr/>
          <p:nvPr/>
        </p:nvGrpSpPr>
        <p:grpSpPr>
          <a:xfrm>
            <a:off x="5241607" y="1789112"/>
            <a:ext cx="4717555" cy="2247393"/>
            <a:chOff x="0" y="0"/>
            <a:chExt cx="4717553" cy="2247392"/>
          </a:xfrm>
        </p:grpSpPr>
        <p:sp>
          <p:nvSpPr>
            <p:cNvPr id="150" name="D1"/>
            <p:cNvSpPr txBox="1"/>
            <p:nvPr/>
          </p:nvSpPr>
          <p:spPr>
            <a:xfrm>
              <a:off x="1453687" y="981582"/>
              <a:ext cx="353986" cy="37998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ctr">
              <a:spAutoFit/>
            </a:bodyPr>
            <a:lstStyle/>
            <a:p>
              <a:pPr algn="ctr">
                <a:defRPr b="1">
                  <a:latin typeface="Bookman"/>
                  <a:ea typeface="Bookman"/>
                  <a:cs typeface="Bookman"/>
                  <a:sym typeface="Bookman"/>
                </a:defRPr>
              </a:pPr>
              <a:r>
                <a:t>D</a:t>
              </a:r>
              <a:r>
                <a:rPr baseline="-10000"/>
                <a:t>1</a:t>
              </a:r>
            </a:p>
          </p:txBody>
        </p:sp>
        <p:sp>
          <p:nvSpPr>
            <p:cNvPr id="151" name="D2"/>
            <p:cNvSpPr txBox="1"/>
            <p:nvPr/>
          </p:nvSpPr>
          <p:spPr>
            <a:xfrm>
              <a:off x="1453687" y="1305432"/>
              <a:ext cx="353986" cy="37998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ctr">
              <a:spAutoFit/>
            </a:bodyPr>
            <a:lstStyle/>
            <a:p>
              <a:pPr algn="ctr">
                <a:defRPr b="1">
                  <a:latin typeface="Bookman"/>
                  <a:ea typeface="Bookman"/>
                  <a:cs typeface="Bookman"/>
                  <a:sym typeface="Bookman"/>
                </a:defRPr>
              </a:pPr>
              <a:r>
                <a:t>D</a:t>
              </a:r>
              <a:r>
                <a:rPr baseline="-10000"/>
                <a:t>2</a:t>
              </a:r>
            </a:p>
          </p:txBody>
        </p:sp>
        <p:sp>
          <p:nvSpPr>
            <p:cNvPr id="152" name="Sports"/>
            <p:cNvSpPr txBox="1"/>
            <p:nvPr/>
          </p:nvSpPr>
          <p:spPr>
            <a:xfrm>
              <a:off x="3969881" y="957579"/>
              <a:ext cx="747673" cy="3327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ctr">
              <a:spAutoFit/>
            </a:bodyPr>
            <a:lstStyle>
              <a:lvl1pPr algn="ctr">
                <a:defRPr b="1" sz="1600">
                  <a:latin typeface="Bookman"/>
                  <a:ea typeface="Bookman"/>
                  <a:cs typeface="Bookman"/>
                  <a:sym typeface="Bookman"/>
                </a:defRPr>
              </a:lvl1pPr>
            </a:lstStyle>
            <a:p>
              <a:pPr/>
              <a:r>
                <a:t>Sports</a:t>
              </a:r>
            </a:p>
          </p:txBody>
        </p:sp>
        <p:sp>
          <p:nvSpPr>
            <p:cNvPr id="153" name="T1  T2   ….……  TN"/>
            <p:cNvSpPr txBox="1"/>
            <p:nvPr/>
          </p:nvSpPr>
          <p:spPr>
            <a:xfrm>
              <a:off x="2025187" y="543432"/>
              <a:ext cx="1954186" cy="37998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ctr">
              <a:spAutoFit/>
            </a:bodyPr>
            <a:lstStyle/>
            <a:p>
              <a:pPr algn="ctr">
                <a:defRPr b="1">
                  <a:latin typeface="Bookman"/>
                  <a:ea typeface="Bookman"/>
                  <a:cs typeface="Bookman"/>
                  <a:sym typeface="Bookman"/>
                </a:defRPr>
              </a:pPr>
              <a:r>
                <a:t>T</a:t>
              </a:r>
              <a:r>
                <a:rPr baseline="-10000"/>
                <a:t>1 </a:t>
              </a:r>
              <a:r>
                <a:t> T</a:t>
              </a:r>
              <a:r>
                <a:rPr baseline="-10000"/>
                <a:t>2 </a:t>
              </a:r>
              <a:r>
                <a:t>  ….……  T</a:t>
              </a:r>
              <a:r>
                <a:rPr baseline="-10000"/>
                <a:t>N</a:t>
              </a:r>
            </a:p>
          </p:txBody>
        </p:sp>
        <p:sp>
          <p:nvSpPr>
            <p:cNvPr id="154" name="12   0    ….……   6"/>
            <p:cNvSpPr txBox="1"/>
            <p:nvPr/>
          </p:nvSpPr>
          <p:spPr>
            <a:xfrm>
              <a:off x="2001610" y="957770"/>
              <a:ext cx="1912440" cy="37998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ctr">
              <a:spAutoFit/>
            </a:bodyPr>
            <a:lstStyle/>
            <a:p>
              <a:pPr algn="ctr">
                <a:defRPr b="1">
                  <a:latin typeface="Bookman"/>
                  <a:ea typeface="Bookman"/>
                  <a:cs typeface="Bookman"/>
                  <a:sym typeface="Bookman"/>
                </a:defRPr>
              </a:pPr>
              <a:r>
                <a:t>12   0</a:t>
              </a:r>
              <a:r>
                <a:rPr baseline="-10000"/>
                <a:t>    </a:t>
              </a:r>
              <a:r>
                <a:t>….……   6</a:t>
              </a:r>
            </a:p>
          </p:txBody>
        </p:sp>
        <p:sp>
          <p:nvSpPr>
            <p:cNvPr id="155" name="DM"/>
            <p:cNvSpPr txBox="1"/>
            <p:nvPr/>
          </p:nvSpPr>
          <p:spPr>
            <a:xfrm>
              <a:off x="1432591" y="1867407"/>
              <a:ext cx="396179" cy="37998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ctr">
              <a:spAutoFit/>
            </a:bodyPr>
            <a:lstStyle/>
            <a:p>
              <a:pPr algn="ctr">
                <a:defRPr b="1">
                  <a:latin typeface="Bookman"/>
                  <a:ea typeface="Bookman"/>
                  <a:cs typeface="Bookman"/>
                  <a:sym typeface="Bookman"/>
                </a:defRPr>
              </a:pPr>
              <a:r>
                <a:t>D</a:t>
              </a:r>
              <a:r>
                <a:rPr baseline="-10000"/>
                <a:t>M</a:t>
              </a:r>
            </a:p>
          </p:txBody>
        </p:sp>
        <p:sp>
          <p:nvSpPr>
            <p:cNvPr id="156" name="C"/>
            <p:cNvSpPr txBox="1"/>
            <p:nvPr/>
          </p:nvSpPr>
          <p:spPr>
            <a:xfrm>
              <a:off x="4166241" y="557530"/>
              <a:ext cx="269228" cy="370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ctr">
              <a:spAutoFit/>
            </a:bodyPr>
            <a:lstStyle>
              <a:lvl1pPr algn="ctr">
                <a:defRPr b="1">
                  <a:solidFill>
                    <a:srgbClr val="CC3300"/>
                  </a:solidFill>
                  <a:latin typeface="Bookman"/>
                  <a:ea typeface="Bookman"/>
                  <a:cs typeface="Bookman"/>
                  <a:sym typeface="Bookman"/>
                </a:defRPr>
              </a:lvl1pPr>
            </a:lstStyle>
            <a:p>
              <a:pPr/>
              <a:r>
                <a:t>C</a:t>
              </a:r>
            </a:p>
          </p:txBody>
        </p:sp>
        <p:sp>
          <p:nvSpPr>
            <p:cNvPr id="157" name="Travel"/>
            <p:cNvSpPr txBox="1"/>
            <p:nvPr/>
          </p:nvSpPr>
          <p:spPr>
            <a:xfrm>
              <a:off x="3997860" y="1300479"/>
              <a:ext cx="691715" cy="3327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ctr">
              <a:spAutoFit/>
            </a:bodyPr>
            <a:lstStyle>
              <a:lvl1pPr algn="ctr">
                <a:defRPr b="1" sz="1600">
                  <a:latin typeface="Bookman"/>
                  <a:ea typeface="Bookman"/>
                  <a:cs typeface="Bookman"/>
                  <a:sym typeface="Bookman"/>
                </a:defRPr>
              </a:lvl1pPr>
            </a:lstStyle>
            <a:p>
              <a:pPr/>
              <a:r>
                <a:t>Travel</a:t>
              </a:r>
            </a:p>
          </p:txBody>
        </p:sp>
        <p:sp>
          <p:nvSpPr>
            <p:cNvPr id="158" name="Jobs"/>
            <p:cNvSpPr txBox="1"/>
            <p:nvPr/>
          </p:nvSpPr>
          <p:spPr>
            <a:xfrm>
              <a:off x="4068802" y="1903729"/>
              <a:ext cx="578406" cy="3327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ctr">
              <a:spAutoFit/>
            </a:bodyPr>
            <a:lstStyle>
              <a:lvl1pPr algn="ctr">
                <a:defRPr b="1" sz="1600">
                  <a:latin typeface="Bookman"/>
                  <a:ea typeface="Bookman"/>
                  <a:cs typeface="Bookman"/>
                  <a:sym typeface="Bookman"/>
                </a:defRPr>
              </a:lvl1pPr>
            </a:lstStyle>
            <a:p>
              <a:pPr/>
              <a:r>
                <a:t>Jobs</a:t>
              </a:r>
            </a:p>
          </p:txBody>
        </p:sp>
        <p:sp>
          <p:nvSpPr>
            <p:cNvPr id="159" name="…"/>
            <p:cNvSpPr txBox="1"/>
            <p:nvPr/>
          </p:nvSpPr>
          <p:spPr>
            <a:xfrm rot="5400000">
              <a:off x="2113597" y="1641885"/>
              <a:ext cx="332741" cy="3484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ctr">
              <a:spAutoFit/>
            </a:bodyPr>
            <a:lstStyle>
              <a:lvl1pPr algn="ctr">
                <a:defRPr b="1">
                  <a:latin typeface="Times New Roman"/>
                  <a:ea typeface="Times New Roman"/>
                  <a:cs typeface="Times New Roman"/>
                  <a:sym typeface="Times New Roman"/>
                </a:defRPr>
              </a:lvl1pPr>
            </a:lstStyle>
            <a:p>
              <a:pPr/>
              <a:r>
                <a:t>…</a:t>
              </a:r>
            </a:p>
          </p:txBody>
        </p:sp>
        <p:sp>
          <p:nvSpPr>
            <p:cNvPr id="160" name="…"/>
            <p:cNvSpPr txBox="1"/>
            <p:nvPr/>
          </p:nvSpPr>
          <p:spPr>
            <a:xfrm rot="5400000">
              <a:off x="3659822" y="1627598"/>
              <a:ext cx="332741" cy="34842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ctr">
              <a:spAutoFit/>
            </a:bodyPr>
            <a:lstStyle>
              <a:lvl1pPr algn="ctr">
                <a:defRPr b="1">
                  <a:latin typeface="Times New Roman"/>
                  <a:ea typeface="Times New Roman"/>
                  <a:cs typeface="Times New Roman"/>
                  <a:sym typeface="Times New Roman"/>
                </a:defRPr>
              </a:lvl1pPr>
            </a:lstStyle>
            <a:p>
              <a:pPr/>
              <a:r>
                <a:t>…</a:t>
              </a:r>
            </a:p>
          </p:txBody>
        </p:sp>
        <p:sp>
          <p:nvSpPr>
            <p:cNvPr id="161" name="…"/>
            <p:cNvSpPr txBox="1"/>
            <p:nvPr/>
          </p:nvSpPr>
          <p:spPr>
            <a:xfrm rot="5400000">
              <a:off x="4264660" y="1627598"/>
              <a:ext cx="332740" cy="34842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ctr">
              <a:spAutoFit/>
            </a:bodyPr>
            <a:lstStyle>
              <a:lvl1pPr algn="ctr">
                <a:defRPr b="1">
                  <a:latin typeface="Times New Roman"/>
                  <a:ea typeface="Times New Roman"/>
                  <a:cs typeface="Times New Roman"/>
                  <a:sym typeface="Times New Roman"/>
                </a:defRPr>
              </a:lvl1pPr>
            </a:lstStyle>
            <a:p>
              <a:pPr/>
              <a:r>
                <a:t>…</a:t>
              </a:r>
            </a:p>
          </p:txBody>
        </p:sp>
        <p:sp>
          <p:nvSpPr>
            <p:cNvPr id="162" name="Line"/>
            <p:cNvSpPr/>
            <p:nvPr/>
          </p:nvSpPr>
          <p:spPr>
            <a:xfrm>
              <a:off x="1221105" y="1114425"/>
              <a:ext cx="214313" cy="9906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cubicBezTo>
                    <a:pt x="15635" y="0"/>
                    <a:pt x="10800" y="806"/>
                    <a:pt x="10800" y="1800"/>
                  </a:cubicBezTo>
                  <a:lnTo>
                    <a:pt x="10800" y="9000"/>
                  </a:lnTo>
                  <a:cubicBezTo>
                    <a:pt x="10800" y="9994"/>
                    <a:pt x="5965" y="10800"/>
                    <a:pt x="0" y="10800"/>
                  </a:cubicBezTo>
                  <a:cubicBezTo>
                    <a:pt x="5965" y="10800"/>
                    <a:pt x="10800" y="11606"/>
                    <a:pt x="10800" y="12600"/>
                  </a:cubicBezTo>
                  <a:lnTo>
                    <a:pt x="10800" y="19800"/>
                  </a:lnTo>
                  <a:cubicBezTo>
                    <a:pt x="10800" y="20794"/>
                    <a:pt x="15635" y="21600"/>
                    <a:pt x="21600" y="21600"/>
                  </a:cubicBezTo>
                </a:path>
              </a:pathLst>
            </a:custGeom>
            <a:noFill/>
            <a:ln w="22225" cap="flat">
              <a:solidFill>
                <a:srgbClr val="CC3300"/>
              </a:solidFill>
              <a:prstDash val="solid"/>
              <a:round/>
            </a:ln>
            <a:effectLst/>
          </p:spPr>
          <p:txBody>
            <a:bodyPr wrap="square" lIns="45719" tIns="45719" rIns="45719" bIns="45719" numCol="1" anchor="ctr">
              <a:noAutofit/>
            </a:bodyPr>
            <a:lstStyle/>
            <a:p>
              <a:pPr/>
            </a:p>
          </p:txBody>
        </p:sp>
        <p:sp>
          <p:nvSpPr>
            <p:cNvPr id="163" name="Line"/>
            <p:cNvSpPr/>
            <p:nvPr/>
          </p:nvSpPr>
          <p:spPr>
            <a:xfrm rot="5400000">
              <a:off x="2849880" y="-457200"/>
              <a:ext cx="228601" cy="17526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cubicBezTo>
                    <a:pt x="15635" y="0"/>
                    <a:pt x="10800" y="806"/>
                    <a:pt x="10800" y="1800"/>
                  </a:cubicBezTo>
                  <a:lnTo>
                    <a:pt x="10800" y="9000"/>
                  </a:lnTo>
                  <a:cubicBezTo>
                    <a:pt x="10800" y="9994"/>
                    <a:pt x="5965" y="10800"/>
                    <a:pt x="0" y="10800"/>
                  </a:cubicBezTo>
                  <a:cubicBezTo>
                    <a:pt x="5965" y="10800"/>
                    <a:pt x="10800" y="11606"/>
                    <a:pt x="10800" y="12600"/>
                  </a:cubicBezTo>
                  <a:lnTo>
                    <a:pt x="10800" y="19800"/>
                  </a:lnTo>
                  <a:cubicBezTo>
                    <a:pt x="10800" y="20794"/>
                    <a:pt x="15635" y="21600"/>
                    <a:pt x="21600" y="21600"/>
                  </a:cubicBezTo>
                </a:path>
              </a:pathLst>
            </a:custGeom>
            <a:noFill/>
            <a:ln w="22225" cap="flat">
              <a:solidFill>
                <a:srgbClr val="CC3300"/>
              </a:solidFill>
              <a:prstDash val="solid"/>
              <a:round/>
            </a:ln>
            <a:effectLst/>
          </p:spPr>
          <p:txBody>
            <a:bodyPr wrap="square" lIns="45719" tIns="45719" rIns="45719" bIns="45719" numCol="1" anchor="ctr">
              <a:noAutofit/>
            </a:bodyPr>
            <a:lstStyle/>
            <a:p>
              <a:pPr/>
            </a:p>
          </p:txBody>
        </p:sp>
        <p:sp>
          <p:nvSpPr>
            <p:cNvPr id="164" name="Terms"/>
            <p:cNvSpPr txBox="1"/>
            <p:nvPr/>
          </p:nvSpPr>
          <p:spPr>
            <a:xfrm>
              <a:off x="2590800" y="0"/>
              <a:ext cx="1432561" cy="33308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spcBef>
                  <a:spcPts val="1000"/>
                </a:spcBef>
                <a:defRPr b="1">
                  <a:solidFill>
                    <a:srgbClr val="CC3300"/>
                  </a:solidFill>
                </a:defRPr>
              </a:lvl1pPr>
            </a:lstStyle>
            <a:p>
              <a:pPr/>
              <a:r>
                <a:t>Terms</a:t>
              </a:r>
            </a:p>
          </p:txBody>
        </p:sp>
        <p:sp>
          <p:nvSpPr>
            <p:cNvPr id="165" name="Documents"/>
            <p:cNvSpPr txBox="1"/>
            <p:nvPr/>
          </p:nvSpPr>
          <p:spPr>
            <a:xfrm>
              <a:off x="0" y="1538287"/>
              <a:ext cx="1432561" cy="33308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spcBef>
                  <a:spcPts val="1000"/>
                </a:spcBef>
                <a:defRPr b="1">
                  <a:solidFill>
                    <a:srgbClr val="CC3300"/>
                  </a:solidFill>
                </a:defRPr>
              </a:lvl1pPr>
            </a:lstStyle>
            <a:p>
              <a:pPr/>
              <a:r>
                <a:t>Documents</a:t>
              </a:r>
            </a:p>
          </p:txBody>
        </p:sp>
        <p:sp>
          <p:nvSpPr>
            <p:cNvPr id="166" name="3   10   ….……  28"/>
            <p:cNvSpPr txBox="1"/>
            <p:nvPr/>
          </p:nvSpPr>
          <p:spPr>
            <a:xfrm>
              <a:off x="1916344" y="1313370"/>
              <a:ext cx="2060747" cy="37998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ctr">
              <a:spAutoFit/>
            </a:bodyPr>
            <a:lstStyle/>
            <a:p>
              <a:pPr algn="ctr">
                <a:defRPr b="1">
                  <a:latin typeface="Bookman"/>
                  <a:ea typeface="Bookman"/>
                  <a:cs typeface="Bookman"/>
                  <a:sym typeface="Bookman"/>
                </a:defRPr>
              </a:pPr>
              <a:r>
                <a:t>  </a:t>
              </a:r>
              <a:r>
                <a:t>3   10</a:t>
              </a:r>
              <a:r>
                <a:rPr baseline="-10000"/>
                <a:t>   </a:t>
              </a:r>
              <a:r>
                <a:t>….……  28</a:t>
              </a:r>
            </a:p>
          </p:txBody>
        </p:sp>
        <p:sp>
          <p:nvSpPr>
            <p:cNvPr id="167" name="0   11   ….……  16"/>
            <p:cNvSpPr txBox="1"/>
            <p:nvPr/>
          </p:nvSpPr>
          <p:spPr>
            <a:xfrm>
              <a:off x="1933707" y="1867407"/>
              <a:ext cx="2048246" cy="37998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ctr">
              <a:spAutoFit/>
            </a:bodyPr>
            <a:lstStyle/>
            <a:p>
              <a:pPr algn="ctr">
                <a:defRPr b="1">
                  <a:latin typeface="Bookman"/>
                  <a:ea typeface="Bookman"/>
                  <a:cs typeface="Bookman"/>
                  <a:sym typeface="Bookman"/>
                </a:defRPr>
              </a:pPr>
              <a:r>
                <a:t>  </a:t>
              </a:r>
              <a:r>
                <a:t>0   11</a:t>
              </a:r>
              <a:r>
                <a:rPr baseline="-10000"/>
                <a:t>   </a:t>
              </a:r>
              <a:r>
                <a:t>….……  16</a:t>
              </a:r>
            </a:p>
          </p:txBody>
        </p:sp>
        <p:sp>
          <p:nvSpPr>
            <p:cNvPr id="168" name="…"/>
            <p:cNvSpPr txBox="1"/>
            <p:nvPr/>
          </p:nvSpPr>
          <p:spPr>
            <a:xfrm rot="5400000">
              <a:off x="1515110" y="1627598"/>
              <a:ext cx="332740" cy="34842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ctr">
              <a:spAutoFit/>
            </a:bodyPr>
            <a:lstStyle>
              <a:lvl1pPr algn="ctr">
                <a:defRPr b="1">
                  <a:latin typeface="Times New Roman"/>
                  <a:ea typeface="Times New Roman"/>
                  <a:cs typeface="Times New Roman"/>
                  <a:sym typeface="Times New Roman"/>
                </a:defRPr>
              </a:lvl1pPr>
            </a:lstStyle>
            <a:p>
              <a:pPr/>
              <a:r>
                <a:t>…</a:t>
              </a:r>
            </a:p>
          </p:txBody>
        </p:sp>
        <p:sp>
          <p:nvSpPr>
            <p:cNvPr id="169" name="Rectangle"/>
            <p:cNvSpPr/>
            <p:nvPr/>
          </p:nvSpPr>
          <p:spPr>
            <a:xfrm>
              <a:off x="2032317" y="1001712"/>
              <a:ext cx="1841501" cy="304801"/>
            </a:xfrm>
            <a:prstGeom prst="rect">
              <a:avLst/>
            </a:prstGeom>
            <a:noFill/>
            <a:ln w="38100" cap="flat">
              <a:solidFill>
                <a:srgbClr val="FF0000"/>
              </a:solidFill>
              <a:prstDash val="solid"/>
              <a:round/>
            </a:ln>
            <a:effectLst/>
          </p:spPr>
          <p:txBody>
            <a:bodyPr wrap="square" lIns="45719" tIns="45719" rIns="45719" bIns="45719" numCol="1" anchor="ctr">
              <a:noAutofit/>
            </a:bodyPr>
            <a:lstStyle/>
            <a:p>
              <a:pPr/>
            </a:p>
          </p:txBody>
        </p:sp>
      </p:grpSp>
      <p:sp>
        <p:nvSpPr>
          <p:cNvPr id="171" name="Task: To classify unlabeled documents into categories…"/>
          <p:cNvSpPr txBox="1"/>
          <p:nvPr/>
        </p:nvSpPr>
        <p:spPr>
          <a:xfrm>
            <a:off x="5290819" y="4448175"/>
            <a:ext cx="4480562" cy="186741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342900" indent="-342900">
              <a:spcBef>
                <a:spcPts val="500"/>
              </a:spcBef>
              <a:buClr>
                <a:schemeClr val="accent1"/>
              </a:buClr>
              <a:buSzPct val="65000"/>
              <a:buChar char="■"/>
              <a:defRPr b="1" sz="2200">
                <a:solidFill>
                  <a:schemeClr val="accent1"/>
                </a:solidFill>
                <a:latin typeface="Arial"/>
                <a:ea typeface="Arial"/>
                <a:cs typeface="Arial"/>
                <a:sym typeface="Arial"/>
              </a:defRPr>
            </a:pPr>
            <a:r>
              <a:t>Task:</a:t>
            </a:r>
            <a:r>
              <a:rPr b="0">
                <a:solidFill>
                  <a:srgbClr val="000000"/>
                </a:solidFill>
              </a:rPr>
              <a:t> To classify unlabeled documents into categories</a:t>
            </a:r>
          </a:p>
          <a:p>
            <a:pPr marL="342900" indent="-342900">
              <a:spcBef>
                <a:spcPts val="500"/>
              </a:spcBef>
              <a:buClr>
                <a:schemeClr val="accent1"/>
              </a:buClr>
              <a:buSzPct val="65000"/>
              <a:buChar char="■"/>
              <a:defRPr b="1" sz="2200">
                <a:solidFill>
                  <a:srgbClr val="FF0000"/>
                </a:solidFill>
                <a:latin typeface="Arial"/>
                <a:ea typeface="Arial"/>
                <a:cs typeface="Arial"/>
                <a:sym typeface="Arial"/>
              </a:defRPr>
            </a:pPr>
            <a:r>
              <a:t>Challenge:</a:t>
            </a:r>
            <a:r>
              <a:rPr b="0">
                <a:solidFill>
                  <a:srgbClr val="000000"/>
                </a:solidFill>
              </a:rPr>
              <a:t>  thousands of terms</a:t>
            </a:r>
          </a:p>
          <a:p>
            <a:pPr marL="342900" indent="-342900">
              <a:spcBef>
                <a:spcPts val="500"/>
              </a:spcBef>
              <a:buClr>
                <a:schemeClr val="accent1"/>
              </a:buClr>
              <a:buSzPct val="65000"/>
              <a:buChar char="■"/>
              <a:defRPr b="1" sz="2200">
                <a:solidFill>
                  <a:srgbClr val="3366FF"/>
                </a:solidFill>
                <a:latin typeface="Arial"/>
                <a:ea typeface="Arial"/>
                <a:cs typeface="Arial"/>
                <a:sym typeface="Arial"/>
              </a:defRPr>
            </a:pPr>
            <a:r>
              <a:t>Solution:</a:t>
            </a:r>
            <a:r>
              <a:rPr b="0">
                <a:solidFill>
                  <a:srgbClr val="000000"/>
                </a:solidFill>
              </a:rPr>
              <a:t> to apply dimensionality reduction</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70"/>
                                        </p:tgtEl>
                                        <p:attrNameLst>
                                          <p:attrName>style.visibility</p:attrName>
                                        </p:attrNameLst>
                                      </p:cBhvr>
                                      <p:to>
                                        <p:strVal val="visible"/>
                                      </p:to>
                                    </p:set>
                                  </p:childTnLst>
                                </p:cTn>
                              </p:par>
                            </p:childTnLst>
                          </p:cTn>
                        </p:par>
                        <p:par>
                          <p:cTn id="7" fill="hold">
                            <p:stCondLst>
                              <p:cond delay="0"/>
                            </p:stCondLst>
                            <p:childTnLst>
                              <p:par>
                                <p:cTn id="8" presetClass="entr" nodeType="afterEffect" presetSubtype="0" presetID="1" grpId="2" fill="hold">
                                  <p:stCondLst>
                                    <p:cond delay="0"/>
                                  </p:stCondLst>
                                  <p:iterate type="el" backwards="0">
                                    <p:tmAbs val="0"/>
                                  </p:iterate>
                                  <p:childTnLst>
                                    <p:set>
                                      <p:cBhvr>
                                        <p:cTn id="9" fill="hold"/>
                                        <p:tgtEl>
                                          <p:spTgt spid="17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70" grpId="1"/>
      <p:bldP build="whole" bldLvl="1" animBg="1" rev="0" advAuto="0" spid="171" grpId="2"/>
    </p:bld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3" name="Rectangle"/>
          <p:cNvSpPr/>
          <p:nvPr/>
        </p:nvSpPr>
        <p:spPr>
          <a:xfrm>
            <a:off x="0" y="1319212"/>
            <a:ext cx="12192000" cy="5538788"/>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176" name="Group"/>
          <p:cNvGrpSpPr/>
          <p:nvPr/>
        </p:nvGrpSpPr>
        <p:grpSpPr>
          <a:xfrm>
            <a:off x="10625137" y="5580062"/>
            <a:ext cx="1566864" cy="1281113"/>
            <a:chOff x="0" y="0"/>
            <a:chExt cx="1566862" cy="1281112"/>
          </a:xfrm>
        </p:grpSpPr>
        <p:pic>
          <p:nvPicPr>
            <p:cNvPr id="174"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175"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177" name="Feature extraction (reduction)…"/>
          <p:cNvSpPr txBox="1"/>
          <p:nvPr/>
        </p:nvSpPr>
        <p:spPr>
          <a:xfrm>
            <a:off x="217487" y="1568450"/>
            <a:ext cx="10509251" cy="49752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defTabSz="1216025">
              <a:spcBef>
                <a:spcPts val="700"/>
              </a:spcBef>
              <a:buSzPct val="100000"/>
              <a:buChar char="➢"/>
              <a:defRPr b="1" sz="3200">
                <a:solidFill>
                  <a:srgbClr val="FFFFFF"/>
                </a:solidFill>
                <a:latin typeface="Arial"/>
                <a:ea typeface="Arial"/>
                <a:cs typeface="Arial"/>
                <a:sym typeface="Arial"/>
              </a:defRPr>
            </a:pPr>
            <a:r>
              <a:t>Feature extraction (reduction)</a:t>
            </a:r>
          </a:p>
          <a:p>
            <a:pPr lvl="1" marL="1085850" indent="-342900" defTabSz="1216025">
              <a:spcBef>
                <a:spcPts val="600"/>
              </a:spcBef>
              <a:buSzPct val="100000"/>
              <a:buChar char="➢"/>
              <a:defRPr b="1" sz="2800">
                <a:solidFill>
                  <a:srgbClr val="FFFFFF"/>
                </a:solidFill>
                <a:latin typeface="Arial"/>
                <a:ea typeface="Arial"/>
                <a:cs typeface="Arial"/>
                <a:sym typeface="Arial"/>
              </a:defRPr>
            </a:pPr>
            <a:r>
              <a:t>Definition</a:t>
            </a:r>
          </a:p>
          <a:p>
            <a:pPr lvl="1" marL="1085850" indent="-342900" defTabSz="1216025">
              <a:spcBef>
                <a:spcPts val="600"/>
              </a:spcBef>
              <a:buSzPct val="100000"/>
              <a:buChar char="➢"/>
              <a:defRPr b="1" sz="2800">
                <a:solidFill>
                  <a:srgbClr val="FFFFFF"/>
                </a:solidFill>
                <a:latin typeface="Arial"/>
                <a:ea typeface="Arial"/>
                <a:cs typeface="Arial"/>
                <a:sym typeface="Arial"/>
              </a:defRPr>
            </a:pPr>
            <a:r>
              <a:t>Objectives</a:t>
            </a:r>
          </a:p>
          <a:p>
            <a:pPr lvl="2" indent="1143000" defTabSz="1216025">
              <a:spcBef>
                <a:spcPts val="400"/>
              </a:spcBef>
              <a:defRPr b="1" sz="2800">
                <a:solidFill>
                  <a:srgbClr val="FFFFFF"/>
                </a:solidFill>
                <a:latin typeface="Arial"/>
                <a:ea typeface="Arial"/>
                <a:cs typeface="Arial"/>
                <a:sym typeface="Arial"/>
              </a:defRPr>
            </a:pPr>
          </a:p>
          <a:p>
            <a:pPr marL="342900" indent="-342900" defTabSz="1216025">
              <a:spcBef>
                <a:spcPts val="700"/>
              </a:spcBef>
              <a:buSzPct val="100000"/>
              <a:buChar char="➢"/>
              <a:defRPr b="1" sz="3200">
                <a:solidFill>
                  <a:srgbClr val="FFFFFF"/>
                </a:solidFill>
                <a:latin typeface="Arial"/>
                <a:ea typeface="Arial"/>
                <a:cs typeface="Arial"/>
                <a:sym typeface="Arial"/>
              </a:defRPr>
            </a:pPr>
            <a:r>
              <a:t>Feature selection</a:t>
            </a:r>
          </a:p>
          <a:p>
            <a:pPr lvl="1" marL="1085850" indent="-342900" defTabSz="1216025">
              <a:spcBef>
                <a:spcPts val="600"/>
              </a:spcBef>
              <a:buSzPct val="100000"/>
              <a:buChar char="➢"/>
              <a:defRPr b="1" sz="2800">
                <a:solidFill>
                  <a:srgbClr val="FFFFFF"/>
                </a:solidFill>
                <a:latin typeface="Arial"/>
                <a:ea typeface="Arial"/>
                <a:cs typeface="Arial"/>
                <a:sym typeface="Arial"/>
              </a:defRPr>
            </a:pPr>
            <a:r>
              <a:t>Definition</a:t>
            </a:r>
          </a:p>
          <a:p>
            <a:pPr lvl="1" marL="1085850" indent="-342900" defTabSz="1216025">
              <a:spcBef>
                <a:spcPts val="600"/>
              </a:spcBef>
              <a:buSzPct val="100000"/>
              <a:buChar char="➢"/>
              <a:defRPr b="1" sz="2800">
                <a:solidFill>
                  <a:srgbClr val="FFFFFF"/>
                </a:solidFill>
                <a:latin typeface="Arial"/>
                <a:ea typeface="Arial"/>
                <a:cs typeface="Arial"/>
                <a:sym typeface="Arial"/>
              </a:defRPr>
            </a:pPr>
            <a:r>
              <a:t>Objectives</a:t>
            </a:r>
          </a:p>
          <a:p>
            <a:pPr lvl="1" marL="1085850" indent="-342900" defTabSz="1216025">
              <a:spcBef>
                <a:spcPts val="500"/>
              </a:spcBef>
              <a:buSzPct val="100000"/>
              <a:buChar char="➢"/>
              <a:defRPr b="1" sz="2800">
                <a:solidFill>
                  <a:srgbClr val="FFFFFF"/>
                </a:solidFill>
                <a:latin typeface="Arial"/>
                <a:ea typeface="Arial"/>
                <a:cs typeface="Arial"/>
                <a:sym typeface="Arial"/>
              </a:defRPr>
            </a:pPr>
          </a:p>
          <a:p>
            <a:pPr marL="342900" indent="-342900" defTabSz="1216025">
              <a:spcBef>
                <a:spcPts val="700"/>
              </a:spcBef>
              <a:buSzPct val="100000"/>
              <a:buChar char="➢"/>
              <a:defRPr b="1" sz="3200">
                <a:solidFill>
                  <a:srgbClr val="FFFFFF"/>
                </a:solidFill>
                <a:latin typeface="Arial"/>
                <a:ea typeface="Arial"/>
                <a:cs typeface="Arial"/>
                <a:sym typeface="Arial"/>
              </a:defRPr>
            </a:pPr>
            <a:r>
              <a:t>What are the differences between feature extraction and feature selection?</a:t>
            </a:r>
          </a:p>
        </p:txBody>
      </p:sp>
      <p:sp>
        <p:nvSpPr>
          <p:cNvPr id="178"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179" name="Major Techniques of Dimensionality Reduction"/>
          <p:cNvSpPr txBox="1"/>
          <p:nvPr/>
        </p:nvSpPr>
        <p:spPr>
          <a:xfrm>
            <a:off x="190182" y="207962"/>
            <a:ext cx="6872695"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Major Techniques of Dimensionality Reduction</a:t>
            </a:r>
          </a:p>
        </p:txBody>
      </p:sp>
      <p:sp>
        <p:nvSpPr>
          <p:cNvPr id="180"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181" name="Slide Number"/>
          <p:cNvSpPr txBox="1"/>
          <p:nvPr>
            <p:ph type="sldNum" sz="quarter" idx="2"/>
          </p:nvPr>
        </p:nvSpPr>
        <p:spPr>
          <a:xfrm>
            <a:off x="11172418" y="6414760"/>
            <a:ext cx="181383"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77" grpId="1"/>
    </p:bld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83" name="image.png" descr="image.png"/>
          <p:cNvPicPr>
            <a:picLocks noChangeAspect="1"/>
          </p:cNvPicPr>
          <p:nvPr/>
        </p:nvPicPr>
        <p:blipFill>
          <a:blip r:embed="rId2">
            <a:extLst/>
          </a:blip>
          <a:stretch>
            <a:fillRect/>
          </a:stretch>
        </p:blipFill>
        <p:spPr>
          <a:xfrm>
            <a:off x="2632075" y="354012"/>
            <a:ext cx="7481888" cy="3743326"/>
          </a:xfrm>
          <a:prstGeom prst="rect">
            <a:avLst/>
          </a:prstGeom>
          <a:ln w="12700">
            <a:miter lim="400000"/>
          </a:ln>
        </p:spPr>
      </p:pic>
      <p:sp>
        <p:nvSpPr>
          <p:cNvPr id="184" name="Rectangle"/>
          <p:cNvSpPr/>
          <p:nvPr/>
        </p:nvSpPr>
        <p:spPr>
          <a:xfrm>
            <a:off x="0" y="4902200"/>
            <a:ext cx="12192000" cy="1955800"/>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185" name="2"/>
          <p:cNvSpPr txBox="1"/>
          <p:nvPr/>
        </p:nvSpPr>
        <p:spPr>
          <a:xfrm>
            <a:off x="45720" y="1571625"/>
            <a:ext cx="1403985" cy="53365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4400">
                <a:solidFill>
                  <a:srgbClr val="1C4885"/>
                </a:solidFill>
                <a:latin typeface="Microsoft YaHei"/>
                <a:ea typeface="Microsoft YaHei"/>
                <a:cs typeface="Microsoft YaHei"/>
                <a:sym typeface="Microsoft YaHei"/>
              </a:defRPr>
            </a:lvl1pPr>
          </a:lstStyle>
          <a:p>
            <a:pPr/>
            <a:r>
              <a:t>2</a:t>
            </a:r>
          </a:p>
        </p:txBody>
      </p:sp>
      <p:sp>
        <p:nvSpPr>
          <p:cNvPr id="186" name="Feature extraction and…"/>
          <p:cNvSpPr txBox="1"/>
          <p:nvPr/>
        </p:nvSpPr>
        <p:spPr>
          <a:xfrm>
            <a:off x="2369819" y="3717925"/>
            <a:ext cx="9776462" cy="13106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4000">
                <a:solidFill>
                  <a:srgbClr val="1C4885"/>
                </a:solidFill>
                <a:latin typeface="Microsoft YaHei"/>
                <a:ea typeface="Microsoft YaHei"/>
                <a:cs typeface="Microsoft YaHei"/>
                <a:sym typeface="Microsoft YaHei"/>
              </a:defRPr>
            </a:pPr>
            <a:r>
              <a:t>Feature extraction and </a:t>
            </a:r>
          </a:p>
          <a:p>
            <a:pPr>
              <a:defRPr b="1" sz="4000">
                <a:solidFill>
                  <a:srgbClr val="1C4885"/>
                </a:solidFill>
                <a:latin typeface="Microsoft YaHei"/>
                <a:ea typeface="Microsoft YaHei"/>
                <a:cs typeface="Microsoft YaHei"/>
                <a:sym typeface="Microsoft YaHei"/>
              </a:defRPr>
            </a:pPr>
            <a:r>
              <a:t>selection</a:t>
            </a:r>
          </a:p>
        </p:txBody>
      </p:sp>
      <p:grpSp>
        <p:nvGrpSpPr>
          <p:cNvPr id="189" name="Group"/>
          <p:cNvGrpSpPr/>
          <p:nvPr/>
        </p:nvGrpSpPr>
        <p:grpSpPr>
          <a:xfrm>
            <a:off x="6804024" y="3178174"/>
            <a:ext cx="5578477" cy="3481389"/>
            <a:chOff x="0" y="0"/>
            <a:chExt cx="5578475" cy="3481387"/>
          </a:xfrm>
        </p:grpSpPr>
        <p:pic>
          <p:nvPicPr>
            <p:cNvPr id="187" name="image.png" descr="image.png"/>
            <p:cNvPicPr>
              <a:picLocks noChangeAspect="1"/>
            </p:cNvPicPr>
            <p:nvPr/>
          </p:nvPicPr>
          <p:blipFill>
            <a:blip r:embed="rId3">
              <a:extLst/>
            </a:blip>
            <a:srcRect l="0" t="0" r="0" b="52040"/>
            <a:stretch>
              <a:fillRect/>
            </a:stretch>
          </p:blipFill>
          <p:spPr>
            <a:xfrm>
              <a:off x="6646" y="0"/>
              <a:ext cx="5571830" cy="1720707"/>
            </a:xfrm>
            <a:prstGeom prst="rect">
              <a:avLst/>
            </a:prstGeom>
            <a:ln w="12700" cap="flat">
              <a:noFill/>
              <a:miter lim="400000"/>
            </a:ln>
            <a:effectLst/>
          </p:spPr>
        </p:pic>
        <p:pic>
          <p:nvPicPr>
            <p:cNvPr id="188" name="image.png" descr="image.png"/>
            <p:cNvPicPr>
              <a:picLocks noChangeAspect="1"/>
            </p:cNvPicPr>
            <p:nvPr/>
          </p:nvPicPr>
          <p:blipFill>
            <a:blip r:embed="rId3">
              <a:extLst/>
            </a:blip>
            <a:srcRect l="0" t="50633" r="2627" b="0"/>
            <a:stretch>
              <a:fillRect/>
            </a:stretch>
          </p:blipFill>
          <p:spPr>
            <a:xfrm>
              <a:off x="-1" y="1710252"/>
              <a:ext cx="5425464" cy="1771136"/>
            </a:xfrm>
            <a:prstGeom prst="rect">
              <a:avLst/>
            </a:prstGeom>
            <a:ln w="12700" cap="flat">
              <a:noFill/>
              <a:miter lim="400000"/>
            </a:ln>
            <a:effectLst/>
          </p:spPr>
        </p:pic>
      </p:grpSp>
      <p:sp>
        <p:nvSpPr>
          <p:cNvPr id="190" name="Shape"/>
          <p:cNvSpPr/>
          <p:nvPr/>
        </p:nvSpPr>
        <p:spPr>
          <a:xfrm>
            <a:off x="341312" y="4933950"/>
            <a:ext cx="2155826" cy="8810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528" y="0"/>
                </a:moveTo>
                <a:lnTo>
                  <a:pt x="11194" y="0"/>
                </a:lnTo>
                <a:lnTo>
                  <a:pt x="7934" y="7193"/>
                </a:lnTo>
                <a:lnTo>
                  <a:pt x="7934" y="7507"/>
                </a:lnTo>
                <a:lnTo>
                  <a:pt x="21600" y="7507"/>
                </a:lnTo>
                <a:lnTo>
                  <a:pt x="21600" y="21600"/>
                </a:lnTo>
                <a:lnTo>
                  <a:pt x="0" y="21600"/>
                </a:lnTo>
                <a:lnTo>
                  <a:pt x="0" y="8293"/>
                </a:lnTo>
                <a:lnTo>
                  <a:pt x="3528" y="0"/>
                </a:lnTo>
                <a:close/>
              </a:path>
            </a:pathLst>
          </a:custGeom>
          <a:solidFill>
            <a:srgbClr val="FFFFFF"/>
          </a:solidFill>
          <a:ln w="12700">
            <a:miter lim="400000"/>
          </a:ln>
        </p:spPr>
        <p:txBody>
          <a:bodyPr lIns="45719" rIns="45719"/>
          <a:lstStyle/>
          <a:p>
            <a:pPr/>
          </a:p>
        </p:txBody>
      </p:sp>
      <p:sp>
        <p:nvSpPr>
          <p:cNvPr id="191"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192" name="Slide Number"/>
          <p:cNvSpPr txBox="1"/>
          <p:nvPr>
            <p:ph type="sldNum" sz="quarter" idx="2"/>
          </p:nvPr>
        </p:nvSpPr>
        <p:spPr>
          <a:xfrm>
            <a:off x="11172418" y="6414760"/>
            <a:ext cx="181383"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4" name="Rectangle"/>
          <p:cNvSpPr/>
          <p:nvPr/>
        </p:nvSpPr>
        <p:spPr>
          <a:xfrm>
            <a:off x="0" y="1422400"/>
            <a:ext cx="12192000" cy="5538788"/>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197" name="Group"/>
          <p:cNvGrpSpPr/>
          <p:nvPr/>
        </p:nvGrpSpPr>
        <p:grpSpPr>
          <a:xfrm>
            <a:off x="10625137" y="5580062"/>
            <a:ext cx="1566864" cy="1281113"/>
            <a:chOff x="0" y="0"/>
            <a:chExt cx="1566862" cy="1281112"/>
          </a:xfrm>
        </p:grpSpPr>
        <p:pic>
          <p:nvPicPr>
            <p:cNvPr id="195"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196"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198" name="Extraction: Getting useful features from existing data.…"/>
          <p:cNvSpPr txBox="1"/>
          <p:nvPr/>
        </p:nvSpPr>
        <p:spPr>
          <a:xfrm>
            <a:off x="217487" y="1568450"/>
            <a:ext cx="12192001" cy="102404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defTabSz="1216025">
              <a:spcBef>
                <a:spcPts val="700"/>
              </a:spcBef>
              <a:buSzPct val="100000"/>
              <a:buChar char="➢"/>
              <a:defRPr b="1" sz="3200">
                <a:solidFill>
                  <a:srgbClr val="FFFFFF"/>
                </a:solidFill>
                <a:latin typeface="Arial"/>
                <a:ea typeface="Arial"/>
                <a:cs typeface="Arial"/>
                <a:sym typeface="Arial"/>
              </a:defRPr>
            </a:pPr>
            <a:r>
              <a:t>Extraction: Getting useful features from existing data.</a:t>
            </a:r>
          </a:p>
          <a:p>
            <a:pPr marL="342900" indent="-342900" defTabSz="1216025">
              <a:spcBef>
                <a:spcPts val="700"/>
              </a:spcBef>
              <a:buSzPct val="100000"/>
              <a:buChar char="➢"/>
              <a:defRPr b="1" sz="3200">
                <a:solidFill>
                  <a:srgbClr val="FFFFFF"/>
                </a:solidFill>
                <a:latin typeface="Arial"/>
                <a:ea typeface="Arial"/>
                <a:cs typeface="Arial"/>
                <a:sym typeface="Arial"/>
              </a:defRPr>
            </a:pPr>
            <a:r>
              <a:t>Selection: Choosing a subset of the original pool of features.</a:t>
            </a:r>
          </a:p>
        </p:txBody>
      </p:sp>
      <p:sp>
        <p:nvSpPr>
          <p:cNvPr id="199"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200" name="Feature extraction &amp; selection"/>
          <p:cNvSpPr txBox="1"/>
          <p:nvPr/>
        </p:nvSpPr>
        <p:spPr>
          <a:xfrm>
            <a:off x="190182" y="207962"/>
            <a:ext cx="4542047"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Feature extraction &amp; selection </a:t>
            </a:r>
          </a:p>
        </p:txBody>
      </p:sp>
      <p:sp>
        <p:nvSpPr>
          <p:cNvPr id="201"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202" name="Slide Number"/>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03" name="Feature extraction vs. feature selection" descr="Feature extraction vs. feature selection"/>
          <p:cNvPicPr>
            <a:picLocks noChangeAspect="1"/>
          </p:cNvPicPr>
          <p:nvPr/>
        </p:nvPicPr>
        <p:blipFill>
          <a:blip r:embed="rId4">
            <a:extLst/>
          </a:blip>
          <a:stretch>
            <a:fillRect/>
          </a:stretch>
        </p:blipFill>
        <p:spPr>
          <a:xfrm>
            <a:off x="2100262" y="2798762"/>
            <a:ext cx="8307388" cy="3957638"/>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9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98" grpId="1"/>
    </p:bldLst>
  </p:timing>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5" name="Rectangle"/>
          <p:cNvSpPr/>
          <p:nvPr/>
        </p:nvSpPr>
        <p:spPr>
          <a:xfrm>
            <a:off x="0" y="1452562"/>
            <a:ext cx="12192000" cy="5538788"/>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208" name="Group"/>
          <p:cNvGrpSpPr/>
          <p:nvPr/>
        </p:nvGrpSpPr>
        <p:grpSpPr>
          <a:xfrm>
            <a:off x="10625137" y="5580062"/>
            <a:ext cx="1566864" cy="1281113"/>
            <a:chOff x="0" y="0"/>
            <a:chExt cx="1566862" cy="1281112"/>
          </a:xfrm>
        </p:grpSpPr>
        <p:pic>
          <p:nvPicPr>
            <p:cNvPr id="206"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207"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209" name="Goal of Extraction: it builds valuable information from raw data – the features – by reformatting, combining, transforming primary features into new ones…  until it yields a new set of data that can be consumed by the Machine Learning models to achieve t"/>
          <p:cNvSpPr txBox="1"/>
          <p:nvPr/>
        </p:nvSpPr>
        <p:spPr>
          <a:xfrm>
            <a:off x="217487" y="1568450"/>
            <a:ext cx="12192001" cy="384344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defTabSz="1216025">
              <a:spcBef>
                <a:spcPts val="700"/>
              </a:spcBef>
              <a:buSzPct val="100000"/>
              <a:buChar char="➢"/>
              <a:defRPr b="1" sz="3200">
                <a:solidFill>
                  <a:srgbClr val="FFFFFF"/>
                </a:solidFill>
                <a:latin typeface="Arial"/>
                <a:ea typeface="Arial"/>
                <a:cs typeface="Arial"/>
                <a:sym typeface="Arial"/>
              </a:defRPr>
            </a:pPr>
            <a:r>
              <a:t>Goal of Extraction: it builds valuable information from raw data – the features – by reformatting, combining, transforming primary features into new ones…  until </a:t>
            </a:r>
            <a:r>
              <a:rPr>
                <a:solidFill>
                  <a:srgbClr val="FF0000"/>
                </a:solidFill>
              </a:rPr>
              <a:t>it yields a new set of data</a:t>
            </a:r>
            <a:r>
              <a:t> that can be consumed by the Machine Learning models to achieve their goals.</a:t>
            </a:r>
          </a:p>
          <a:p>
            <a:pPr marL="342900" indent="-342900" defTabSz="1216025">
              <a:spcBef>
                <a:spcPts val="700"/>
              </a:spcBef>
              <a:buSzPct val="100000"/>
              <a:buChar char="➢"/>
              <a:defRPr b="1" sz="3200">
                <a:solidFill>
                  <a:srgbClr val="FFFFFF"/>
                </a:solidFill>
                <a:latin typeface="Arial"/>
                <a:ea typeface="Arial"/>
                <a:cs typeface="Arial"/>
                <a:sym typeface="Arial"/>
              </a:defRPr>
            </a:pPr>
            <a:r>
              <a:t>Goal of Selection: is applied either </a:t>
            </a:r>
            <a:r>
              <a:rPr>
                <a:solidFill>
                  <a:srgbClr val="FF0000"/>
                </a:solidFill>
              </a:rPr>
              <a:t>to prevent redundancy and/or irrelevancy existing in the features </a:t>
            </a:r>
            <a:r>
              <a:t>or just to get a limited number of features to prevent from overfitting.</a:t>
            </a:r>
          </a:p>
        </p:txBody>
      </p:sp>
      <p:sp>
        <p:nvSpPr>
          <p:cNvPr id="210"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211" name="Feature extraction &amp; selection"/>
          <p:cNvSpPr txBox="1"/>
          <p:nvPr/>
        </p:nvSpPr>
        <p:spPr>
          <a:xfrm>
            <a:off x="190182" y="207962"/>
            <a:ext cx="4542047"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Feature extraction &amp; selection </a:t>
            </a:r>
          </a:p>
        </p:txBody>
      </p:sp>
      <p:sp>
        <p:nvSpPr>
          <p:cNvPr id="212"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213" name="Slide Number"/>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20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09" grpId="1"/>
    </p:bldLst>
  </p:timing>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5" name="Rectangle"/>
          <p:cNvSpPr/>
          <p:nvPr/>
        </p:nvSpPr>
        <p:spPr>
          <a:xfrm>
            <a:off x="0" y="1452562"/>
            <a:ext cx="12192000" cy="5538788"/>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218" name="Group"/>
          <p:cNvGrpSpPr/>
          <p:nvPr/>
        </p:nvGrpSpPr>
        <p:grpSpPr>
          <a:xfrm>
            <a:off x="10625137" y="5580062"/>
            <a:ext cx="1566864" cy="1281113"/>
            <a:chOff x="0" y="0"/>
            <a:chExt cx="1566862" cy="1281112"/>
          </a:xfrm>
        </p:grpSpPr>
        <p:pic>
          <p:nvPicPr>
            <p:cNvPr id="216"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217"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219"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220" name="Feature extraction method"/>
          <p:cNvSpPr txBox="1"/>
          <p:nvPr/>
        </p:nvSpPr>
        <p:spPr>
          <a:xfrm>
            <a:off x="190182" y="207962"/>
            <a:ext cx="4016535"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Feature extraction method </a:t>
            </a:r>
          </a:p>
        </p:txBody>
      </p:sp>
      <p:sp>
        <p:nvSpPr>
          <p:cNvPr id="221"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222" name="Slide Number"/>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23" name="image.png" descr="image.png"/>
          <p:cNvPicPr>
            <a:picLocks noChangeAspect="1"/>
          </p:cNvPicPr>
          <p:nvPr/>
        </p:nvPicPr>
        <p:blipFill>
          <a:blip r:embed="rId4">
            <a:extLst/>
          </a:blip>
          <a:stretch>
            <a:fillRect/>
          </a:stretch>
        </p:blipFill>
        <p:spPr>
          <a:xfrm>
            <a:off x="2435225" y="1603375"/>
            <a:ext cx="7659688" cy="5237163"/>
          </a:xfrm>
          <a:prstGeom prst="rect">
            <a:avLst/>
          </a:prstGeom>
          <a:ln w="12700">
            <a:miter lim="400000"/>
          </a:ln>
        </p:spPr>
      </p:pic>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5"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228" name="Group"/>
          <p:cNvGrpSpPr/>
          <p:nvPr/>
        </p:nvGrpSpPr>
        <p:grpSpPr>
          <a:xfrm>
            <a:off x="10625137" y="5580062"/>
            <a:ext cx="1566864" cy="1281113"/>
            <a:chOff x="0" y="0"/>
            <a:chExt cx="1566862" cy="1281112"/>
          </a:xfrm>
        </p:grpSpPr>
        <p:pic>
          <p:nvPicPr>
            <p:cNvPr id="226"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227"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229"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230" name="Feature selection method"/>
          <p:cNvSpPr txBox="1"/>
          <p:nvPr/>
        </p:nvSpPr>
        <p:spPr>
          <a:xfrm>
            <a:off x="190182" y="207962"/>
            <a:ext cx="3881101"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Feature selection method </a:t>
            </a:r>
          </a:p>
        </p:txBody>
      </p:sp>
      <p:sp>
        <p:nvSpPr>
          <p:cNvPr id="231"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232" name="Slide Number"/>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33" name="Feature selection: filter, wrapper, embedded" descr="Feature selection: filter, wrapper, embedded"/>
          <p:cNvPicPr>
            <a:picLocks noChangeAspect="1"/>
          </p:cNvPicPr>
          <p:nvPr/>
        </p:nvPicPr>
        <p:blipFill>
          <a:blip r:embed="rId4">
            <a:extLst/>
          </a:blip>
          <a:stretch>
            <a:fillRect/>
          </a:stretch>
        </p:blipFill>
        <p:spPr>
          <a:xfrm>
            <a:off x="1838325" y="1412875"/>
            <a:ext cx="8515350" cy="4613275"/>
          </a:xfrm>
          <a:prstGeom prst="rect">
            <a:avLst/>
          </a:prstGeom>
          <a:ln w="12700">
            <a:miter lim="400000"/>
          </a:ln>
        </p:spPr>
      </p:pic>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5" name="Rectangle"/>
          <p:cNvSpPr/>
          <p:nvPr/>
        </p:nvSpPr>
        <p:spPr>
          <a:xfrm>
            <a:off x="0" y="1319212"/>
            <a:ext cx="12192000" cy="5538788"/>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238" name="Group"/>
          <p:cNvGrpSpPr/>
          <p:nvPr/>
        </p:nvGrpSpPr>
        <p:grpSpPr>
          <a:xfrm>
            <a:off x="10625137" y="5580062"/>
            <a:ext cx="1566864" cy="1281113"/>
            <a:chOff x="0" y="0"/>
            <a:chExt cx="1566862" cy="1281112"/>
          </a:xfrm>
        </p:grpSpPr>
        <p:pic>
          <p:nvPicPr>
            <p:cNvPr id="236"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237"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239" name="How can we get the original features from textual data?"/>
          <p:cNvSpPr txBox="1"/>
          <p:nvPr/>
        </p:nvSpPr>
        <p:spPr>
          <a:xfrm>
            <a:off x="911225" y="3733800"/>
            <a:ext cx="10509250" cy="92650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defTabSz="1216025">
              <a:spcBef>
                <a:spcPts val="700"/>
              </a:spcBef>
              <a:defRPr b="1" sz="3200">
                <a:solidFill>
                  <a:srgbClr val="FFFFFF"/>
                </a:solidFill>
                <a:latin typeface="Arial"/>
                <a:ea typeface="Arial"/>
                <a:cs typeface="Arial"/>
                <a:sym typeface="Arial"/>
              </a:defRPr>
            </a:lvl1pPr>
          </a:lstStyle>
          <a:p>
            <a:pPr/>
            <a:r>
              <a:t>How can we get the original features from textual data?</a:t>
            </a:r>
          </a:p>
        </p:txBody>
      </p:sp>
      <p:sp>
        <p:nvSpPr>
          <p:cNvPr id="240"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241" name="Question"/>
          <p:cNvSpPr txBox="1"/>
          <p:nvPr/>
        </p:nvSpPr>
        <p:spPr>
          <a:xfrm>
            <a:off x="190182" y="207962"/>
            <a:ext cx="1424991"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Question</a:t>
            </a:r>
          </a:p>
        </p:txBody>
      </p:sp>
      <p:sp>
        <p:nvSpPr>
          <p:cNvPr id="242"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243" name="Slide Number"/>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23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39" grpId="1"/>
    </p:bldLst>
  </p:timing>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45" name="image.png" descr="image.png"/>
          <p:cNvPicPr>
            <a:picLocks noChangeAspect="1"/>
          </p:cNvPicPr>
          <p:nvPr/>
        </p:nvPicPr>
        <p:blipFill>
          <a:blip r:embed="rId2">
            <a:extLst/>
          </a:blip>
          <a:stretch>
            <a:fillRect/>
          </a:stretch>
        </p:blipFill>
        <p:spPr>
          <a:xfrm>
            <a:off x="2632075" y="354012"/>
            <a:ext cx="7481888" cy="3743326"/>
          </a:xfrm>
          <a:prstGeom prst="rect">
            <a:avLst/>
          </a:prstGeom>
          <a:ln w="12700">
            <a:miter lim="400000"/>
          </a:ln>
        </p:spPr>
      </p:pic>
      <p:sp>
        <p:nvSpPr>
          <p:cNvPr id="246" name="Rectangle"/>
          <p:cNvSpPr/>
          <p:nvPr/>
        </p:nvSpPr>
        <p:spPr>
          <a:xfrm>
            <a:off x="0" y="4902200"/>
            <a:ext cx="12192000" cy="1955800"/>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247" name="3"/>
          <p:cNvSpPr txBox="1"/>
          <p:nvPr/>
        </p:nvSpPr>
        <p:spPr>
          <a:xfrm>
            <a:off x="45720" y="1571625"/>
            <a:ext cx="1403985" cy="53365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4400">
                <a:solidFill>
                  <a:srgbClr val="1C4885"/>
                </a:solidFill>
                <a:latin typeface="Microsoft YaHei"/>
                <a:ea typeface="Microsoft YaHei"/>
                <a:cs typeface="Microsoft YaHei"/>
                <a:sym typeface="Microsoft YaHei"/>
              </a:defRPr>
            </a:lvl1pPr>
          </a:lstStyle>
          <a:p>
            <a:pPr/>
            <a:r>
              <a:t>3</a:t>
            </a:r>
          </a:p>
        </p:txBody>
      </p:sp>
      <p:sp>
        <p:nvSpPr>
          <p:cNvPr id="248" name="Document representation"/>
          <p:cNvSpPr txBox="1"/>
          <p:nvPr/>
        </p:nvSpPr>
        <p:spPr>
          <a:xfrm>
            <a:off x="2544444" y="3832225"/>
            <a:ext cx="9930449" cy="7010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4000">
                <a:solidFill>
                  <a:srgbClr val="1C4885"/>
                </a:solidFill>
                <a:latin typeface="Microsoft YaHei"/>
                <a:ea typeface="Microsoft YaHei"/>
                <a:cs typeface="Microsoft YaHei"/>
                <a:sym typeface="Microsoft YaHei"/>
              </a:defRPr>
            </a:lvl1pPr>
          </a:lstStyle>
          <a:p>
            <a:pPr/>
            <a:r>
              <a:t>Document representation</a:t>
            </a:r>
          </a:p>
        </p:txBody>
      </p:sp>
      <p:grpSp>
        <p:nvGrpSpPr>
          <p:cNvPr id="251" name="Group"/>
          <p:cNvGrpSpPr/>
          <p:nvPr/>
        </p:nvGrpSpPr>
        <p:grpSpPr>
          <a:xfrm>
            <a:off x="6804024" y="3178174"/>
            <a:ext cx="5578477" cy="3481389"/>
            <a:chOff x="0" y="0"/>
            <a:chExt cx="5578475" cy="3481387"/>
          </a:xfrm>
        </p:grpSpPr>
        <p:pic>
          <p:nvPicPr>
            <p:cNvPr id="249" name="image.png" descr="image.png"/>
            <p:cNvPicPr>
              <a:picLocks noChangeAspect="1"/>
            </p:cNvPicPr>
            <p:nvPr/>
          </p:nvPicPr>
          <p:blipFill>
            <a:blip r:embed="rId3">
              <a:extLst/>
            </a:blip>
            <a:srcRect l="0" t="0" r="0" b="52040"/>
            <a:stretch>
              <a:fillRect/>
            </a:stretch>
          </p:blipFill>
          <p:spPr>
            <a:xfrm>
              <a:off x="6646" y="0"/>
              <a:ext cx="5571830" cy="1720707"/>
            </a:xfrm>
            <a:prstGeom prst="rect">
              <a:avLst/>
            </a:prstGeom>
            <a:ln w="12700" cap="flat">
              <a:noFill/>
              <a:miter lim="400000"/>
            </a:ln>
            <a:effectLst/>
          </p:spPr>
        </p:pic>
        <p:pic>
          <p:nvPicPr>
            <p:cNvPr id="250" name="image.png" descr="image.png"/>
            <p:cNvPicPr>
              <a:picLocks noChangeAspect="1"/>
            </p:cNvPicPr>
            <p:nvPr/>
          </p:nvPicPr>
          <p:blipFill>
            <a:blip r:embed="rId3">
              <a:extLst/>
            </a:blip>
            <a:srcRect l="0" t="50633" r="2627" b="0"/>
            <a:stretch>
              <a:fillRect/>
            </a:stretch>
          </p:blipFill>
          <p:spPr>
            <a:xfrm>
              <a:off x="-1" y="1710252"/>
              <a:ext cx="5425464" cy="1771136"/>
            </a:xfrm>
            <a:prstGeom prst="rect">
              <a:avLst/>
            </a:prstGeom>
            <a:ln w="12700" cap="flat">
              <a:noFill/>
              <a:miter lim="400000"/>
            </a:ln>
            <a:effectLst/>
          </p:spPr>
        </p:pic>
      </p:grpSp>
      <p:sp>
        <p:nvSpPr>
          <p:cNvPr id="252" name="Shape"/>
          <p:cNvSpPr/>
          <p:nvPr/>
        </p:nvSpPr>
        <p:spPr>
          <a:xfrm>
            <a:off x="428625" y="4899025"/>
            <a:ext cx="2082800" cy="97631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292" y="0"/>
                </a:moveTo>
                <a:lnTo>
                  <a:pt x="21600" y="0"/>
                </a:lnTo>
                <a:lnTo>
                  <a:pt x="21401" y="4389"/>
                </a:lnTo>
                <a:cubicBezTo>
                  <a:pt x="20954" y="9033"/>
                  <a:pt x="19837" y="12819"/>
                  <a:pt x="18050" y="15746"/>
                </a:cubicBezTo>
                <a:cubicBezTo>
                  <a:pt x="15667" y="19649"/>
                  <a:pt x="12491" y="21600"/>
                  <a:pt x="8521" y="21600"/>
                </a:cubicBezTo>
                <a:cubicBezTo>
                  <a:pt x="4995" y="21600"/>
                  <a:pt x="2154" y="20357"/>
                  <a:pt x="0" y="17870"/>
                </a:cubicBezTo>
                <a:lnTo>
                  <a:pt x="0" y="4415"/>
                </a:lnTo>
                <a:cubicBezTo>
                  <a:pt x="2287" y="8066"/>
                  <a:pt x="4958" y="9892"/>
                  <a:pt x="8012" y="9892"/>
                </a:cubicBezTo>
                <a:cubicBezTo>
                  <a:pt x="9945" y="9892"/>
                  <a:pt x="11480" y="8979"/>
                  <a:pt x="12616" y="7154"/>
                </a:cubicBezTo>
                <a:cubicBezTo>
                  <a:pt x="13468" y="5784"/>
                  <a:pt x="14001" y="3982"/>
                  <a:pt x="14214" y="1745"/>
                </a:cubicBezTo>
                <a:lnTo>
                  <a:pt x="14292" y="0"/>
                </a:lnTo>
                <a:close/>
              </a:path>
            </a:pathLst>
          </a:custGeom>
          <a:solidFill>
            <a:srgbClr val="FFFFFF"/>
          </a:solidFill>
          <a:ln w="12700">
            <a:miter lim="400000"/>
          </a:ln>
        </p:spPr>
        <p:txBody>
          <a:bodyPr lIns="45719" rIns="45719"/>
          <a:lstStyle/>
          <a:p>
            <a:pPr/>
          </a:p>
        </p:txBody>
      </p:sp>
      <p:sp>
        <p:nvSpPr>
          <p:cNvPr id="253"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254" name="Slide Number"/>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6" name="Rectangle"/>
          <p:cNvSpPr/>
          <p:nvPr/>
        </p:nvSpPr>
        <p:spPr>
          <a:xfrm>
            <a:off x="0" y="1349375"/>
            <a:ext cx="12192000" cy="5538788"/>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259" name="Group"/>
          <p:cNvGrpSpPr/>
          <p:nvPr/>
        </p:nvGrpSpPr>
        <p:grpSpPr>
          <a:xfrm>
            <a:off x="10625137" y="5580062"/>
            <a:ext cx="1566864" cy="1281113"/>
            <a:chOff x="0" y="0"/>
            <a:chExt cx="1566862" cy="1281112"/>
          </a:xfrm>
        </p:grpSpPr>
        <p:pic>
          <p:nvPicPr>
            <p:cNvPr id="257"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258"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260" name="A collection of n documents can be represented in the vector space model by a term-document matrix.…"/>
          <p:cNvSpPr txBox="1"/>
          <p:nvPr/>
        </p:nvSpPr>
        <p:spPr>
          <a:xfrm>
            <a:off x="442912" y="1538287"/>
            <a:ext cx="10509251" cy="210571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defTabSz="1216025">
              <a:spcBef>
                <a:spcPts val="600"/>
              </a:spcBef>
              <a:buSzPct val="100000"/>
              <a:buChar char="➢"/>
              <a:defRPr b="1" sz="2800">
                <a:solidFill>
                  <a:srgbClr val="FFFFFF"/>
                </a:solidFill>
                <a:latin typeface="Arial"/>
                <a:ea typeface="Arial"/>
                <a:cs typeface="Arial"/>
                <a:sym typeface="Arial"/>
              </a:defRPr>
            </a:pPr>
            <a:r>
              <a:t>A collection of n documents can be represented in the vector space model by a term-document matrix.</a:t>
            </a:r>
          </a:p>
          <a:p>
            <a:pPr marL="342900" indent="-342900" defTabSz="1216025">
              <a:spcBef>
                <a:spcPts val="600"/>
              </a:spcBef>
              <a:buSzPct val="100000"/>
              <a:buChar char="➢"/>
              <a:defRPr b="1" sz="2800">
                <a:solidFill>
                  <a:srgbClr val="FFFFFF"/>
                </a:solidFill>
                <a:latin typeface="Arial"/>
                <a:ea typeface="Arial"/>
                <a:cs typeface="Arial"/>
                <a:sym typeface="Arial"/>
              </a:defRPr>
            </a:pPr>
            <a:r>
              <a:t>An entry in the matrix corresponds to the “weight” of a term in the document; zero means the term has no significance in the document or it simply doesn’t exist in the document.</a:t>
            </a:r>
          </a:p>
        </p:txBody>
      </p:sp>
      <p:sp>
        <p:nvSpPr>
          <p:cNvPr id="261"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262" name="Document collection"/>
          <p:cNvSpPr txBox="1"/>
          <p:nvPr/>
        </p:nvSpPr>
        <p:spPr>
          <a:xfrm>
            <a:off x="190182" y="207962"/>
            <a:ext cx="3101688"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Document collection</a:t>
            </a:r>
          </a:p>
        </p:txBody>
      </p:sp>
      <p:sp>
        <p:nvSpPr>
          <p:cNvPr id="263"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264" name="Slide Number"/>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65" name="image.png" descr="image.png"/>
          <p:cNvPicPr>
            <a:picLocks noChangeAspect="1"/>
          </p:cNvPicPr>
          <p:nvPr/>
        </p:nvPicPr>
        <p:blipFill>
          <a:blip r:embed="rId4">
            <a:extLst/>
          </a:blip>
          <a:stretch>
            <a:fillRect/>
          </a:stretch>
        </p:blipFill>
        <p:spPr>
          <a:xfrm>
            <a:off x="3695700" y="3952875"/>
            <a:ext cx="3800475" cy="2733675"/>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26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60" grpId="1"/>
    </p:bldLst>
  </p:timing>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7" name="Rectangle"/>
          <p:cNvSpPr/>
          <p:nvPr/>
        </p:nvSpPr>
        <p:spPr>
          <a:xfrm>
            <a:off x="0" y="1319212"/>
            <a:ext cx="12192000" cy="5538788"/>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270" name="Group"/>
          <p:cNvGrpSpPr/>
          <p:nvPr/>
        </p:nvGrpSpPr>
        <p:grpSpPr>
          <a:xfrm>
            <a:off x="10625137" y="5580062"/>
            <a:ext cx="1566864" cy="1281113"/>
            <a:chOff x="0" y="0"/>
            <a:chExt cx="1566862" cy="1281112"/>
          </a:xfrm>
        </p:grpSpPr>
        <p:pic>
          <p:nvPicPr>
            <p:cNvPr id="268"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269"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271" name="What are the drawbacks?"/>
          <p:cNvSpPr txBox="1"/>
          <p:nvPr/>
        </p:nvSpPr>
        <p:spPr>
          <a:xfrm>
            <a:off x="3333750" y="5468937"/>
            <a:ext cx="5416550" cy="4566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16025">
              <a:spcBef>
                <a:spcPts val="700"/>
              </a:spcBef>
              <a:defRPr b="1" sz="3200">
                <a:solidFill>
                  <a:srgbClr val="FFFFFF"/>
                </a:solidFill>
                <a:latin typeface="Arial"/>
                <a:ea typeface="Arial"/>
                <a:cs typeface="Arial"/>
                <a:sym typeface="Arial"/>
              </a:defRPr>
            </a:lvl1pPr>
          </a:lstStyle>
          <a:p>
            <a:pPr/>
            <a:r>
              <a:t>What are the drawbacks?</a:t>
            </a:r>
          </a:p>
        </p:txBody>
      </p:sp>
      <p:sp>
        <p:nvSpPr>
          <p:cNvPr id="272"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273" name="Using word-level features – term frequency"/>
          <p:cNvSpPr txBox="1"/>
          <p:nvPr/>
        </p:nvSpPr>
        <p:spPr>
          <a:xfrm>
            <a:off x="190182" y="207962"/>
            <a:ext cx="6354476"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Using word-level features – term frequency</a:t>
            </a:r>
          </a:p>
        </p:txBody>
      </p:sp>
      <p:sp>
        <p:nvSpPr>
          <p:cNvPr id="274"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275" name="Slide Number"/>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76" name="image.png" descr="image.png"/>
          <p:cNvPicPr>
            <a:picLocks noChangeAspect="1"/>
          </p:cNvPicPr>
          <p:nvPr/>
        </p:nvPicPr>
        <p:blipFill>
          <a:blip r:embed="rId4">
            <a:extLst/>
          </a:blip>
          <a:stretch>
            <a:fillRect/>
          </a:stretch>
        </p:blipFill>
        <p:spPr>
          <a:xfrm>
            <a:off x="6392862" y="1893887"/>
            <a:ext cx="5384801" cy="3200401"/>
          </a:xfrm>
          <a:prstGeom prst="rect">
            <a:avLst/>
          </a:prstGeom>
          <a:ln w="12700">
            <a:miter lim="400000"/>
          </a:ln>
        </p:spPr>
      </p:pic>
      <p:pic>
        <p:nvPicPr>
          <p:cNvPr id="277" name="image.png" descr="image.png"/>
          <p:cNvPicPr>
            <a:picLocks noChangeAspect="1"/>
          </p:cNvPicPr>
          <p:nvPr/>
        </p:nvPicPr>
        <p:blipFill>
          <a:blip r:embed="rId5">
            <a:extLst/>
          </a:blip>
          <a:stretch>
            <a:fillRect/>
          </a:stretch>
        </p:blipFill>
        <p:spPr>
          <a:xfrm>
            <a:off x="236537" y="1922462"/>
            <a:ext cx="5921376" cy="3162301"/>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2" grpId="1" fill="hold">
                                  <p:stCondLst>
                                    <p:cond delay="0"/>
                                  </p:stCondLst>
                                  <p:iterate type="el" backwards="0">
                                    <p:tmAbs val="0"/>
                                  </p:iterate>
                                  <p:childTnLst>
                                    <p:set>
                                      <p:cBhvr>
                                        <p:cTn id="6" fill="hold"/>
                                        <p:tgtEl>
                                          <p:spTgt spid="271"/>
                                        </p:tgtEl>
                                        <p:attrNameLst>
                                          <p:attrName>style.visibility</p:attrName>
                                        </p:attrNameLst>
                                      </p:cBhvr>
                                      <p:to>
                                        <p:strVal val="visible"/>
                                      </p:to>
                                    </p:set>
                                    <p:animEffect filter="wipe(left)" transition="in">
                                      <p:cBhvr>
                                        <p:cTn id="7" dur="500"/>
                                        <p:tgtEl>
                                          <p:spTgt spid="271"/>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Subtype="4" presetID="2" grpId="2" fill="hold">
                                  <p:stCondLst>
                                    <p:cond delay="0"/>
                                  </p:stCondLst>
                                  <p:iterate type="el" backwards="0">
                                    <p:tmAbs val="0"/>
                                  </p:iterate>
                                  <p:childTnLst>
                                    <p:set>
                                      <p:cBhvr>
                                        <p:cTn id="11" fill="hold"/>
                                        <p:tgtEl>
                                          <p:spTgt spid="276"/>
                                        </p:tgtEl>
                                        <p:attrNameLst>
                                          <p:attrName>style.visibility</p:attrName>
                                        </p:attrNameLst>
                                      </p:cBhvr>
                                      <p:to>
                                        <p:strVal val="visible"/>
                                      </p:to>
                                    </p:set>
                                    <p:anim calcmode="lin" valueType="num">
                                      <p:cBhvr>
                                        <p:cTn id="12" dur="500" fill="hold"/>
                                        <p:tgtEl>
                                          <p:spTgt spid="276"/>
                                        </p:tgtEl>
                                        <p:attrNameLst>
                                          <p:attrName>ppt_x</p:attrName>
                                        </p:attrNameLst>
                                      </p:cBhvr>
                                      <p:tavLst>
                                        <p:tav tm="0">
                                          <p:val>
                                            <p:strVal val="#ppt_x"/>
                                          </p:val>
                                        </p:tav>
                                        <p:tav tm="100000">
                                          <p:val>
                                            <p:strVal val="#ppt_x"/>
                                          </p:val>
                                        </p:tav>
                                      </p:tavLst>
                                    </p:anim>
                                    <p:anim calcmode="lin" valueType="num">
                                      <p:cBhvr>
                                        <p:cTn id="13" dur="500" fill="hold"/>
                                        <p:tgtEl>
                                          <p:spTgt spid="27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71" grpId="1"/>
      <p:bldP build="whole" bldLvl="1" animBg="1" rev="0" advAuto="0" spid="276" grpId="2"/>
    </p:bldLst>
  </p:timing>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9" name="Rectangle"/>
          <p:cNvSpPr/>
          <p:nvPr/>
        </p:nvSpPr>
        <p:spPr>
          <a:xfrm>
            <a:off x="0" y="1319212"/>
            <a:ext cx="12192000" cy="5538788"/>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282" name="Group"/>
          <p:cNvGrpSpPr/>
          <p:nvPr/>
        </p:nvGrpSpPr>
        <p:grpSpPr>
          <a:xfrm>
            <a:off x="10625137" y="5580062"/>
            <a:ext cx="1566864" cy="1281113"/>
            <a:chOff x="0" y="0"/>
            <a:chExt cx="1566862" cy="1281112"/>
          </a:xfrm>
        </p:grpSpPr>
        <p:pic>
          <p:nvPicPr>
            <p:cNvPr id="280"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281"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283"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284" name="Using word-level features – tfidf (Term Frequency)"/>
          <p:cNvSpPr txBox="1"/>
          <p:nvPr/>
        </p:nvSpPr>
        <p:spPr>
          <a:xfrm>
            <a:off x="190182" y="207962"/>
            <a:ext cx="7364423"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Using word-level features – tfidf (Term Frequency)</a:t>
            </a:r>
          </a:p>
        </p:txBody>
      </p:sp>
      <p:sp>
        <p:nvSpPr>
          <p:cNvPr id="285"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286" name="Slide Number"/>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87" name="image.png" descr="image.png"/>
          <p:cNvPicPr>
            <a:picLocks noChangeAspect="1"/>
          </p:cNvPicPr>
          <p:nvPr/>
        </p:nvPicPr>
        <p:blipFill>
          <a:blip r:embed="rId4">
            <a:extLst/>
          </a:blip>
          <a:stretch>
            <a:fillRect/>
          </a:stretch>
        </p:blipFill>
        <p:spPr>
          <a:xfrm>
            <a:off x="1495425" y="1719262"/>
            <a:ext cx="8123238" cy="4337051"/>
          </a:xfrm>
          <a:prstGeom prst="rect">
            <a:avLst/>
          </a:prstGeom>
          <a:ln w="12700">
            <a:miter lim="400000"/>
          </a:ln>
        </p:spPr>
      </p:pic>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9" name="Rectangle"/>
          <p:cNvSpPr/>
          <p:nvPr/>
        </p:nvSpPr>
        <p:spPr>
          <a:xfrm>
            <a:off x="0" y="1319212"/>
            <a:ext cx="12192000" cy="5538788"/>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292" name="Group"/>
          <p:cNvGrpSpPr/>
          <p:nvPr/>
        </p:nvGrpSpPr>
        <p:grpSpPr>
          <a:xfrm>
            <a:off x="10625137" y="5580062"/>
            <a:ext cx="1566864" cy="1281113"/>
            <a:chOff x="0" y="0"/>
            <a:chExt cx="1566862" cy="1281112"/>
          </a:xfrm>
        </p:grpSpPr>
        <p:pic>
          <p:nvPicPr>
            <p:cNvPr id="290"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291"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293"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294" name="Using word-level features – tfidf (Inverse Document Frequency)"/>
          <p:cNvSpPr txBox="1"/>
          <p:nvPr/>
        </p:nvSpPr>
        <p:spPr>
          <a:xfrm>
            <a:off x="190182" y="207962"/>
            <a:ext cx="9284009"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Using word-level features – tfidf (Inverse Document Frequency)</a:t>
            </a:r>
          </a:p>
        </p:txBody>
      </p:sp>
      <p:sp>
        <p:nvSpPr>
          <p:cNvPr id="295"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296" name="Slide Number"/>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97" name="image.png" descr="image.png"/>
          <p:cNvPicPr>
            <a:picLocks noChangeAspect="1"/>
          </p:cNvPicPr>
          <p:nvPr/>
        </p:nvPicPr>
        <p:blipFill>
          <a:blip r:embed="rId4">
            <a:extLst/>
          </a:blip>
          <a:stretch>
            <a:fillRect/>
          </a:stretch>
        </p:blipFill>
        <p:spPr>
          <a:xfrm>
            <a:off x="1579562" y="1724025"/>
            <a:ext cx="8039101" cy="4533900"/>
          </a:xfrm>
          <a:prstGeom prst="rect">
            <a:avLst/>
          </a:prstGeom>
          <a:ln w="12700">
            <a:miter lim="400000"/>
          </a:ln>
        </p:spPr>
      </p:pic>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9" name="Rectangle"/>
          <p:cNvSpPr/>
          <p:nvPr/>
        </p:nvSpPr>
        <p:spPr>
          <a:xfrm>
            <a:off x="0" y="1349375"/>
            <a:ext cx="12192000" cy="5538788"/>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302" name="Group"/>
          <p:cNvGrpSpPr/>
          <p:nvPr/>
        </p:nvGrpSpPr>
        <p:grpSpPr>
          <a:xfrm>
            <a:off x="10625137" y="5580062"/>
            <a:ext cx="1566864" cy="1281113"/>
            <a:chOff x="0" y="0"/>
            <a:chExt cx="1566862" cy="1281112"/>
          </a:xfrm>
        </p:grpSpPr>
        <p:pic>
          <p:nvPicPr>
            <p:cNvPr id="300"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301"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303"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304" name="Using word-level features – tfidf"/>
          <p:cNvSpPr txBox="1"/>
          <p:nvPr/>
        </p:nvSpPr>
        <p:spPr>
          <a:xfrm>
            <a:off x="190182" y="207962"/>
            <a:ext cx="4727784"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Using word-level features – tfidf</a:t>
            </a:r>
          </a:p>
        </p:txBody>
      </p:sp>
      <p:sp>
        <p:nvSpPr>
          <p:cNvPr id="305"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306" name="Slide Number"/>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307" name="image.png" descr="image.png"/>
          <p:cNvPicPr>
            <a:picLocks noChangeAspect="1"/>
          </p:cNvPicPr>
          <p:nvPr/>
        </p:nvPicPr>
        <p:blipFill>
          <a:blip r:embed="rId4">
            <a:extLst/>
          </a:blip>
          <a:stretch>
            <a:fillRect/>
          </a:stretch>
        </p:blipFill>
        <p:spPr>
          <a:xfrm>
            <a:off x="1576387" y="1562100"/>
            <a:ext cx="8405813" cy="4252913"/>
          </a:xfrm>
          <a:prstGeom prst="rect">
            <a:avLst/>
          </a:prstGeom>
          <a:ln w="12700">
            <a:miter lim="400000"/>
          </a:ln>
        </p:spPr>
      </p:pic>
      <p:sp>
        <p:nvSpPr>
          <p:cNvPr id="308" name="What are the drawbacks?"/>
          <p:cNvSpPr txBox="1"/>
          <p:nvPr/>
        </p:nvSpPr>
        <p:spPr>
          <a:xfrm>
            <a:off x="3387725" y="6035675"/>
            <a:ext cx="5416550" cy="45660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16025">
              <a:spcBef>
                <a:spcPts val="700"/>
              </a:spcBef>
              <a:defRPr b="1" sz="3200">
                <a:solidFill>
                  <a:srgbClr val="FFFFFF"/>
                </a:solidFill>
                <a:latin typeface="Arial"/>
                <a:ea typeface="Arial"/>
                <a:cs typeface="Arial"/>
                <a:sym typeface="Arial"/>
              </a:defRPr>
            </a:lvl1pPr>
          </a:lstStyle>
          <a:p>
            <a:pPr/>
            <a:r>
              <a:t>What are the drawbacks?</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2" grpId="1" fill="hold">
                                  <p:stCondLst>
                                    <p:cond delay="0"/>
                                  </p:stCondLst>
                                  <p:iterate type="el" backwards="0">
                                    <p:tmAbs val="0"/>
                                  </p:iterate>
                                  <p:childTnLst>
                                    <p:set>
                                      <p:cBhvr>
                                        <p:cTn id="6" fill="hold"/>
                                        <p:tgtEl>
                                          <p:spTgt spid="308"/>
                                        </p:tgtEl>
                                        <p:attrNameLst>
                                          <p:attrName>style.visibility</p:attrName>
                                        </p:attrNameLst>
                                      </p:cBhvr>
                                      <p:to>
                                        <p:strVal val="visible"/>
                                      </p:to>
                                    </p:set>
                                    <p:animEffect filter="wipe(left)" transition="in">
                                      <p:cBhvr>
                                        <p:cTn id="7" dur="500"/>
                                        <p:tgtEl>
                                          <p:spTgt spid="3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08" grpId="1"/>
    </p:bldLst>
  </p:timing>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0" name="Rectangle"/>
          <p:cNvSpPr/>
          <p:nvPr/>
        </p:nvSpPr>
        <p:spPr>
          <a:xfrm>
            <a:off x="0" y="1462087"/>
            <a:ext cx="12192000" cy="5538788"/>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313" name="Group"/>
          <p:cNvGrpSpPr/>
          <p:nvPr/>
        </p:nvGrpSpPr>
        <p:grpSpPr>
          <a:xfrm>
            <a:off x="10625137" y="5580062"/>
            <a:ext cx="1566864" cy="1281113"/>
            <a:chOff x="0" y="0"/>
            <a:chExt cx="1566862" cy="1281112"/>
          </a:xfrm>
        </p:grpSpPr>
        <p:pic>
          <p:nvPicPr>
            <p:cNvPr id="311"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312"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314"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315" name="Sentence-level feature"/>
          <p:cNvSpPr txBox="1"/>
          <p:nvPr/>
        </p:nvSpPr>
        <p:spPr>
          <a:xfrm>
            <a:off x="190182" y="207962"/>
            <a:ext cx="3339813"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Sentence-level feature</a:t>
            </a:r>
          </a:p>
        </p:txBody>
      </p:sp>
      <p:sp>
        <p:nvSpPr>
          <p:cNvPr id="316"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317" name="Slide Number"/>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318" name="image.png" descr="image.png"/>
          <p:cNvPicPr>
            <a:picLocks noChangeAspect="1"/>
          </p:cNvPicPr>
          <p:nvPr/>
        </p:nvPicPr>
        <p:blipFill>
          <a:blip r:embed="rId4">
            <a:extLst/>
          </a:blip>
          <a:stretch>
            <a:fillRect/>
          </a:stretch>
        </p:blipFill>
        <p:spPr>
          <a:xfrm>
            <a:off x="3411537" y="1519237"/>
            <a:ext cx="4360863" cy="5303838"/>
          </a:xfrm>
          <a:prstGeom prst="rect">
            <a:avLst/>
          </a:prstGeom>
          <a:ln w="12700">
            <a:miter lim="400000"/>
          </a:ln>
        </p:spPr>
      </p:pic>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0" name="Rectangle"/>
          <p:cNvSpPr/>
          <p:nvPr/>
        </p:nvSpPr>
        <p:spPr>
          <a:xfrm>
            <a:off x="0" y="1349375"/>
            <a:ext cx="12192000" cy="5538788"/>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323" name="Group"/>
          <p:cNvGrpSpPr/>
          <p:nvPr/>
        </p:nvGrpSpPr>
        <p:grpSpPr>
          <a:xfrm>
            <a:off x="10625137" y="5580062"/>
            <a:ext cx="1566864" cy="1281113"/>
            <a:chOff x="0" y="0"/>
            <a:chExt cx="1566862" cy="1281112"/>
          </a:xfrm>
        </p:grpSpPr>
        <p:pic>
          <p:nvPicPr>
            <p:cNvPr id="321"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322"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324" name="Morphological Analysis: the process of providing grammatical information about the word based on properties of the morpheme it contains. It is an integral part of the larger natural language processing projects such as text to speech synthesis, informati"/>
          <p:cNvSpPr txBox="1"/>
          <p:nvPr/>
        </p:nvSpPr>
        <p:spPr>
          <a:xfrm>
            <a:off x="403225" y="1597025"/>
            <a:ext cx="10323513" cy="181882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defTabSz="1216025">
              <a:spcBef>
                <a:spcPts val="600"/>
              </a:spcBef>
              <a:buSzPct val="100000"/>
              <a:buChar char="➢"/>
              <a:defRPr b="1" sz="2800">
                <a:solidFill>
                  <a:srgbClr val="FFFFFF"/>
                </a:solidFill>
                <a:latin typeface="Arial"/>
                <a:ea typeface="Arial"/>
                <a:cs typeface="Arial"/>
                <a:sym typeface="Arial"/>
              </a:defRPr>
            </a:pPr>
            <a:r>
              <a:t>Morphological Analysis: </a:t>
            </a:r>
            <a:r>
              <a:rPr sz="2400"/>
              <a:t>the process of providing grammatical information about the word based on properties of the morpheme it contains. It is an integral part of the larger natural language processing projects such as text to speech synthesis, information extraction and machine translation.</a:t>
            </a:r>
          </a:p>
        </p:txBody>
      </p:sp>
      <p:sp>
        <p:nvSpPr>
          <p:cNvPr id="325"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326" name="Sentence-level feature - Morphological Analysis"/>
          <p:cNvSpPr txBox="1"/>
          <p:nvPr/>
        </p:nvSpPr>
        <p:spPr>
          <a:xfrm>
            <a:off x="190182" y="207962"/>
            <a:ext cx="7020630"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Sentence-level feature - Morphological Analysis</a:t>
            </a:r>
          </a:p>
        </p:txBody>
      </p:sp>
      <p:sp>
        <p:nvSpPr>
          <p:cNvPr id="327"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328" name="Slide Number"/>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329" name="image.png" descr="image.png"/>
          <p:cNvPicPr>
            <a:picLocks noChangeAspect="1"/>
          </p:cNvPicPr>
          <p:nvPr/>
        </p:nvPicPr>
        <p:blipFill>
          <a:blip r:embed="rId4">
            <a:extLst/>
          </a:blip>
          <a:stretch>
            <a:fillRect/>
          </a:stretch>
        </p:blipFill>
        <p:spPr>
          <a:xfrm>
            <a:off x="2635250" y="3716337"/>
            <a:ext cx="6057900" cy="2895601"/>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3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24" grpId="1"/>
    </p:bldLst>
  </p:timing>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1" name="Rectangle"/>
          <p:cNvSpPr/>
          <p:nvPr/>
        </p:nvSpPr>
        <p:spPr>
          <a:xfrm>
            <a:off x="0" y="1452562"/>
            <a:ext cx="12192000" cy="5538788"/>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334" name="Group"/>
          <p:cNvGrpSpPr/>
          <p:nvPr/>
        </p:nvGrpSpPr>
        <p:grpSpPr>
          <a:xfrm>
            <a:off x="10625137" y="5580062"/>
            <a:ext cx="1566864" cy="1281113"/>
            <a:chOff x="0" y="0"/>
            <a:chExt cx="1566862" cy="1281112"/>
          </a:xfrm>
        </p:grpSpPr>
        <p:pic>
          <p:nvPicPr>
            <p:cNvPr id="332"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333"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335" name="Morphological Features: Morphosyntactic features derived from constituency parse tree."/>
          <p:cNvSpPr txBox="1"/>
          <p:nvPr/>
        </p:nvSpPr>
        <p:spPr>
          <a:xfrm>
            <a:off x="403225" y="1597025"/>
            <a:ext cx="10323513" cy="75202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defTabSz="1216025">
              <a:spcBef>
                <a:spcPts val="600"/>
              </a:spcBef>
              <a:buSzPct val="100000"/>
              <a:buChar char="➢"/>
              <a:defRPr b="1" sz="2800">
                <a:solidFill>
                  <a:srgbClr val="FFFFFF"/>
                </a:solidFill>
                <a:latin typeface="Arial"/>
                <a:ea typeface="Arial"/>
                <a:cs typeface="Arial"/>
                <a:sym typeface="Arial"/>
              </a:defRPr>
            </a:pPr>
            <a:r>
              <a:t>Morphological Features: </a:t>
            </a:r>
            <a:r>
              <a:rPr sz="2400">
                <a:solidFill>
                  <a:srgbClr val="FF0000"/>
                </a:solidFill>
              </a:rPr>
              <a:t>Morphosyntactic features derived from constituency parse tree.</a:t>
            </a:r>
          </a:p>
        </p:txBody>
      </p:sp>
      <p:sp>
        <p:nvSpPr>
          <p:cNvPr id="336"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337" name="Sentence-level feature - Morphological Analysis"/>
          <p:cNvSpPr txBox="1"/>
          <p:nvPr/>
        </p:nvSpPr>
        <p:spPr>
          <a:xfrm>
            <a:off x="190182" y="207962"/>
            <a:ext cx="7020630"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Sentence-level feature - Morphological Analysis</a:t>
            </a:r>
          </a:p>
        </p:txBody>
      </p:sp>
      <p:sp>
        <p:nvSpPr>
          <p:cNvPr id="338"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339" name="Slide Number"/>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340" name="image.png" descr="image.png"/>
          <p:cNvPicPr>
            <a:picLocks noChangeAspect="1"/>
          </p:cNvPicPr>
          <p:nvPr/>
        </p:nvPicPr>
        <p:blipFill>
          <a:blip r:embed="rId4">
            <a:extLst/>
          </a:blip>
          <a:stretch>
            <a:fillRect/>
          </a:stretch>
        </p:blipFill>
        <p:spPr>
          <a:xfrm>
            <a:off x="403225" y="2420937"/>
            <a:ext cx="2601913" cy="3979863"/>
          </a:xfrm>
          <a:prstGeom prst="rect">
            <a:avLst/>
          </a:prstGeom>
          <a:ln w="12700">
            <a:miter lim="400000"/>
          </a:ln>
        </p:spPr>
      </p:pic>
      <p:sp>
        <p:nvSpPr>
          <p:cNvPr id="341" name="[1] Shivkumar, A., Weston, J., Lenain, R., &amp; Fristed, E. (2020). BlaBla: Linguistic Feature Extraction for Clinical Analysis in Multiple Languages. arXiv preprint arXiv:2005.10219."/>
          <p:cNvSpPr txBox="1"/>
          <p:nvPr/>
        </p:nvSpPr>
        <p:spPr>
          <a:xfrm>
            <a:off x="1685607" y="6307137"/>
            <a:ext cx="8390574" cy="6251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a:solidFill>
                  <a:srgbClr val="FFFFFF"/>
                </a:solidFill>
              </a:defRPr>
            </a:lvl1pPr>
          </a:lstStyle>
          <a:p>
            <a:pPr/>
            <a:r>
              <a:t>[1] Shivkumar, A., Weston, J., Lenain, R., &amp; Fristed, E. (2020). BlaBla: Linguistic Feature Extraction for Clinical Analysis in Multiple Languages. arXiv preprint arXiv:2005.10219.</a:t>
            </a:r>
          </a:p>
        </p:txBody>
      </p:sp>
      <p:pic>
        <p:nvPicPr>
          <p:cNvPr id="342" name="image.png" descr="image.png"/>
          <p:cNvPicPr>
            <a:picLocks noChangeAspect="1"/>
          </p:cNvPicPr>
          <p:nvPr/>
        </p:nvPicPr>
        <p:blipFill>
          <a:blip r:embed="rId5">
            <a:extLst/>
          </a:blip>
          <a:stretch>
            <a:fillRect/>
          </a:stretch>
        </p:blipFill>
        <p:spPr>
          <a:xfrm>
            <a:off x="5592762" y="2673350"/>
            <a:ext cx="5761038" cy="1335088"/>
          </a:xfrm>
          <a:prstGeom prst="rect">
            <a:avLst/>
          </a:prstGeom>
          <a:ln w="12700">
            <a:miter lim="400000"/>
          </a:ln>
        </p:spPr>
      </p:pic>
      <p:sp>
        <p:nvSpPr>
          <p:cNvPr id="343" name="[2] Corston-Oliver, S., Gamon, M., &amp; Brockett, C. (2001, July). A machine learning approach to the automatic evaluation of machine translation. In Proceedings of the 39th Annual Meeting of the Association for Computational Linguistics (pp. 148-155)."/>
          <p:cNvSpPr txBox="1"/>
          <p:nvPr/>
        </p:nvSpPr>
        <p:spPr>
          <a:xfrm>
            <a:off x="4025582" y="4486275"/>
            <a:ext cx="8390574" cy="9172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a:solidFill>
                  <a:srgbClr val="FFFFFF"/>
                </a:solidFill>
              </a:defRPr>
            </a:lvl1pPr>
          </a:lstStyle>
          <a:p>
            <a:pPr/>
            <a:r>
              <a:t>[2] Corston-Oliver, S., Gamon, M., &amp; Brockett, C. (2001, July). A machine learning approach to the automatic evaluation of machine translation. In Proceedings of the 39th Annual Meeting of the Association for Computational Linguistics (pp. 148-155).</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3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35" grpId="1"/>
    </p:bldLst>
  </p:timing>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5" name="Rectangle"/>
          <p:cNvSpPr/>
          <p:nvPr/>
        </p:nvSpPr>
        <p:spPr>
          <a:xfrm>
            <a:off x="0" y="1349375"/>
            <a:ext cx="12192000" cy="5538788"/>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348" name="Group"/>
          <p:cNvGrpSpPr/>
          <p:nvPr/>
        </p:nvGrpSpPr>
        <p:grpSpPr>
          <a:xfrm>
            <a:off x="10625137" y="5580062"/>
            <a:ext cx="1566864" cy="1281113"/>
            <a:chOff x="0" y="0"/>
            <a:chExt cx="1566862" cy="1281112"/>
          </a:xfrm>
        </p:grpSpPr>
        <p:pic>
          <p:nvPicPr>
            <p:cNvPr id="346"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347"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349" name="Lexical Analysis: is a vocabulary that includes its words and expressions. It depicts analyzing, identifying and description of the structure of words. It includes dividing a text into paragraphs, words and the sentences."/>
          <p:cNvSpPr txBox="1"/>
          <p:nvPr/>
        </p:nvSpPr>
        <p:spPr>
          <a:xfrm>
            <a:off x="217487" y="1568450"/>
            <a:ext cx="10509251" cy="146322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defTabSz="1216025">
              <a:spcBef>
                <a:spcPts val="600"/>
              </a:spcBef>
              <a:buSzPct val="100000"/>
              <a:buChar char="➢"/>
              <a:defRPr b="1" sz="2800">
                <a:solidFill>
                  <a:srgbClr val="FFFFFF"/>
                </a:solidFill>
                <a:latin typeface="Arial"/>
                <a:ea typeface="Arial"/>
                <a:cs typeface="Arial"/>
                <a:sym typeface="Arial"/>
              </a:defRPr>
            </a:pPr>
            <a:r>
              <a:t>Lexical Analysis: </a:t>
            </a:r>
            <a:r>
              <a:rPr sz="2400"/>
              <a:t>is a vocabulary that includes its words and expressions. It depicts analyzing, identifying and description of the structure of words. It includes dividing a text into paragraphs, words and the sentences.</a:t>
            </a:r>
          </a:p>
        </p:txBody>
      </p:sp>
      <p:sp>
        <p:nvSpPr>
          <p:cNvPr id="350"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351" name="Sentence-level feature - Lexical Analysis"/>
          <p:cNvSpPr txBox="1"/>
          <p:nvPr/>
        </p:nvSpPr>
        <p:spPr>
          <a:xfrm>
            <a:off x="190182" y="166687"/>
            <a:ext cx="5971541"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Sentence-level feature - Lexical Analysis</a:t>
            </a:r>
          </a:p>
        </p:txBody>
      </p:sp>
      <p:sp>
        <p:nvSpPr>
          <p:cNvPr id="352"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353" name="Slide Number"/>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354" name="image.png" descr="image.png"/>
          <p:cNvPicPr>
            <a:picLocks noChangeAspect="1"/>
          </p:cNvPicPr>
          <p:nvPr/>
        </p:nvPicPr>
        <p:blipFill>
          <a:blip r:embed="rId4">
            <a:extLst/>
          </a:blip>
          <a:stretch>
            <a:fillRect/>
          </a:stretch>
        </p:blipFill>
        <p:spPr>
          <a:xfrm>
            <a:off x="769937" y="3479800"/>
            <a:ext cx="10652126" cy="1868488"/>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3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49" grpId="1"/>
    </p:bldLst>
  </p:timing>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6" name="Rectangle"/>
          <p:cNvSpPr/>
          <p:nvPr/>
        </p:nvSpPr>
        <p:spPr>
          <a:xfrm>
            <a:off x="0" y="1349375"/>
            <a:ext cx="12192000" cy="5538788"/>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359" name="Group"/>
          <p:cNvGrpSpPr/>
          <p:nvPr/>
        </p:nvGrpSpPr>
        <p:grpSpPr>
          <a:xfrm>
            <a:off x="10625137" y="5580062"/>
            <a:ext cx="1566864" cy="1281113"/>
            <a:chOff x="0" y="0"/>
            <a:chExt cx="1566862" cy="1281112"/>
          </a:xfrm>
        </p:grpSpPr>
        <p:pic>
          <p:nvPicPr>
            <p:cNvPr id="357"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358"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360" name="A large lexical database, or “electronic dictionary,” developed and maintained at Princeton…"/>
          <p:cNvSpPr txBox="1"/>
          <p:nvPr/>
        </p:nvSpPr>
        <p:spPr>
          <a:xfrm>
            <a:off x="217487" y="1568450"/>
            <a:ext cx="11136313" cy="434054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defTabSz="1216025">
              <a:spcBef>
                <a:spcPts val="500"/>
              </a:spcBef>
              <a:buSzPct val="100000"/>
              <a:buChar char="➢"/>
              <a:defRPr b="1" sz="2400">
                <a:solidFill>
                  <a:srgbClr val="FFFFFF"/>
                </a:solidFill>
                <a:latin typeface="Arial"/>
                <a:ea typeface="Arial"/>
                <a:cs typeface="Arial"/>
                <a:sym typeface="Arial"/>
              </a:defRPr>
            </a:pPr>
            <a:r>
              <a:t>A large lexical database, or “electronic dictionary,” developed and maintained at Princeton </a:t>
            </a:r>
          </a:p>
          <a:p>
            <a:pPr marL="342900" indent="-342900" defTabSz="1216025">
              <a:spcBef>
                <a:spcPts val="500"/>
              </a:spcBef>
              <a:defRPr b="1" sz="2400">
                <a:solidFill>
                  <a:srgbClr val="FFFFFF"/>
                </a:solidFill>
                <a:latin typeface="Arial"/>
                <a:ea typeface="Arial"/>
                <a:cs typeface="Arial"/>
                <a:sym typeface="Arial"/>
              </a:defRPr>
            </a:pPr>
            <a:r>
              <a:rPr u="sng">
                <a:solidFill>
                  <a:srgbClr val="0563C1"/>
                </a:solidFill>
                <a:uFill>
                  <a:solidFill>
                    <a:srgbClr val="0563C1"/>
                  </a:solidFill>
                </a:uFill>
                <a:hlinkClick r:id="rId4" invalidUrl="" action="" tgtFrame="" tooltip="" history="1" highlightClick="0" endSnd="0"/>
              </a:rPr>
              <a:t>http://wordnet.princeton.edu</a:t>
            </a:r>
            <a:r>
              <a:t> </a:t>
            </a:r>
          </a:p>
          <a:p>
            <a:pPr marL="342900" indent="-342900" defTabSz="1216025">
              <a:spcBef>
                <a:spcPts val="500"/>
              </a:spcBef>
              <a:buSzPct val="100000"/>
              <a:buChar char="➢"/>
              <a:defRPr b="1" sz="2400">
                <a:solidFill>
                  <a:srgbClr val="FFFFFF"/>
                </a:solidFill>
                <a:latin typeface="Arial"/>
                <a:ea typeface="Arial"/>
                <a:cs typeface="Arial"/>
                <a:sym typeface="Arial"/>
              </a:defRPr>
            </a:pPr>
            <a:r>
              <a:t>Includes most English nouns, verbs, adjectives, adverbs</a:t>
            </a:r>
          </a:p>
          <a:p>
            <a:pPr marL="342900" indent="-342900" defTabSz="1216025">
              <a:spcBef>
                <a:spcPts val="500"/>
              </a:spcBef>
              <a:buSzPct val="100000"/>
              <a:buChar char="➢"/>
              <a:defRPr b="1" sz="2400">
                <a:solidFill>
                  <a:srgbClr val="FFFFFF"/>
                </a:solidFill>
                <a:latin typeface="Arial"/>
                <a:ea typeface="Arial"/>
                <a:cs typeface="Arial"/>
                <a:sym typeface="Arial"/>
              </a:defRPr>
            </a:pPr>
            <a:r>
              <a:t>WordNet is organized by meaning: words in close proximity are semantically similar</a:t>
            </a:r>
          </a:p>
          <a:p>
            <a:pPr marL="342900" indent="-342900" defTabSz="1216025">
              <a:spcBef>
                <a:spcPts val="500"/>
              </a:spcBef>
              <a:buSzPct val="100000"/>
              <a:buChar char="➢"/>
              <a:defRPr b="1" sz="2400">
                <a:solidFill>
                  <a:srgbClr val="FFFFFF"/>
                </a:solidFill>
                <a:latin typeface="Arial"/>
                <a:ea typeface="Arial"/>
                <a:cs typeface="Arial"/>
                <a:sym typeface="Arial"/>
              </a:defRPr>
            </a:pPr>
            <a:r>
              <a:t>WordNet gives information about two fundamental, universal properties of human language: polysemy and synonymy</a:t>
            </a:r>
          </a:p>
          <a:p>
            <a:pPr marL="342900" indent="-342900" defTabSz="1216025">
              <a:spcBef>
                <a:spcPts val="500"/>
              </a:spcBef>
              <a:buSzPct val="100000"/>
              <a:buChar char="➢"/>
              <a:defRPr b="1" sz="2400">
                <a:solidFill>
                  <a:srgbClr val="FFFFFF"/>
                </a:solidFill>
                <a:latin typeface="Arial"/>
                <a:ea typeface="Arial"/>
                <a:cs typeface="Arial"/>
                <a:sym typeface="Arial"/>
              </a:defRPr>
            </a:pPr>
            <a:r>
              <a:t>Can be used by humans and machines</a:t>
            </a:r>
          </a:p>
          <a:p>
            <a:pPr marL="342900" indent="-342900" defTabSz="1216025">
              <a:spcBef>
                <a:spcPts val="500"/>
              </a:spcBef>
              <a:buSzPct val="100000"/>
              <a:buChar char="➢"/>
              <a:defRPr b="1" sz="2400">
                <a:solidFill>
                  <a:srgbClr val="FFFFFF"/>
                </a:solidFill>
                <a:latin typeface="Arial"/>
                <a:ea typeface="Arial"/>
                <a:cs typeface="Arial"/>
                <a:sym typeface="Arial"/>
              </a:defRPr>
            </a:pPr>
            <a:r>
              <a:t>Princeton WordNet is for English only, but it is linked to wordnets is many other languages</a:t>
            </a:r>
          </a:p>
        </p:txBody>
      </p:sp>
      <p:sp>
        <p:nvSpPr>
          <p:cNvPr id="361"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362" name="Lexical Analysis - WordNet"/>
          <p:cNvSpPr txBox="1"/>
          <p:nvPr/>
        </p:nvSpPr>
        <p:spPr>
          <a:xfrm>
            <a:off x="190182" y="207962"/>
            <a:ext cx="4000313"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Lexical Analysis - WordNet</a:t>
            </a:r>
          </a:p>
        </p:txBody>
      </p:sp>
      <p:sp>
        <p:nvSpPr>
          <p:cNvPr id="363"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364" name="Slide Number"/>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36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60" grpId="1"/>
    </p:bldLst>
  </p:timing>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6" name="Rectangle"/>
          <p:cNvSpPr/>
          <p:nvPr/>
        </p:nvSpPr>
        <p:spPr>
          <a:xfrm>
            <a:off x="0" y="1411287"/>
            <a:ext cx="12192000" cy="5538788"/>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369" name="Group"/>
          <p:cNvGrpSpPr/>
          <p:nvPr/>
        </p:nvGrpSpPr>
        <p:grpSpPr>
          <a:xfrm>
            <a:off x="10625137" y="5580062"/>
            <a:ext cx="1566864" cy="1281113"/>
            <a:chOff x="0" y="0"/>
            <a:chExt cx="1566862" cy="1281112"/>
          </a:xfrm>
        </p:grpSpPr>
        <p:pic>
          <p:nvPicPr>
            <p:cNvPr id="367"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368"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370" name="Lexical features: Lexicosemantic features derived from dependency parse tree."/>
          <p:cNvSpPr txBox="1"/>
          <p:nvPr/>
        </p:nvSpPr>
        <p:spPr>
          <a:xfrm>
            <a:off x="217487" y="1568450"/>
            <a:ext cx="11022013" cy="75202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defTabSz="1216025">
              <a:spcBef>
                <a:spcPts val="600"/>
              </a:spcBef>
              <a:buSzPct val="100000"/>
              <a:buChar char="➢"/>
              <a:defRPr b="1" sz="2800">
                <a:solidFill>
                  <a:srgbClr val="FFFFFF"/>
                </a:solidFill>
                <a:latin typeface="Arial"/>
                <a:ea typeface="Arial"/>
                <a:cs typeface="Arial"/>
                <a:sym typeface="Arial"/>
              </a:defRPr>
            </a:pPr>
            <a:r>
              <a:t>Lexical features: </a:t>
            </a:r>
            <a:r>
              <a:rPr sz="2400">
                <a:solidFill>
                  <a:srgbClr val="FF0000"/>
                </a:solidFill>
              </a:rPr>
              <a:t>Lexicosemantic features derived from dependency parse tree.</a:t>
            </a:r>
          </a:p>
        </p:txBody>
      </p:sp>
      <p:sp>
        <p:nvSpPr>
          <p:cNvPr id="371"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372" name="Sentence-level feature - Lexical Analysis"/>
          <p:cNvSpPr txBox="1"/>
          <p:nvPr/>
        </p:nvSpPr>
        <p:spPr>
          <a:xfrm>
            <a:off x="190182" y="207962"/>
            <a:ext cx="5971541"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Sentence-level feature - Lexical Analysis</a:t>
            </a:r>
          </a:p>
        </p:txBody>
      </p:sp>
      <p:sp>
        <p:nvSpPr>
          <p:cNvPr id="373"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374" name="Slide Number"/>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375" name="image.png" descr="image.png"/>
          <p:cNvPicPr>
            <a:picLocks noChangeAspect="1"/>
          </p:cNvPicPr>
          <p:nvPr/>
        </p:nvPicPr>
        <p:blipFill>
          <a:blip r:embed="rId4">
            <a:extLst/>
          </a:blip>
          <a:stretch>
            <a:fillRect/>
          </a:stretch>
        </p:blipFill>
        <p:spPr>
          <a:xfrm>
            <a:off x="4557712" y="2166937"/>
            <a:ext cx="3076576" cy="4064001"/>
          </a:xfrm>
          <a:prstGeom prst="rect">
            <a:avLst/>
          </a:prstGeom>
          <a:ln w="12700">
            <a:miter lim="400000"/>
          </a:ln>
        </p:spPr>
      </p:pic>
      <p:sp>
        <p:nvSpPr>
          <p:cNvPr id="376" name="[1] Shivkumar, A., Weston, J., Lenain, R., &amp; Fristed, E. (2020). BlaBla: Linguistic Feature Extraction for Clinical Analysis in Multiple Languages. arXiv preprint arXiv:2005.10219."/>
          <p:cNvSpPr txBox="1"/>
          <p:nvPr/>
        </p:nvSpPr>
        <p:spPr>
          <a:xfrm>
            <a:off x="1685607" y="6307137"/>
            <a:ext cx="8390574" cy="6251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a:solidFill>
                  <a:srgbClr val="FFFFFF"/>
                </a:solidFill>
              </a:defRPr>
            </a:lvl1pPr>
          </a:lstStyle>
          <a:p>
            <a:pPr/>
            <a:r>
              <a:t>[1] Shivkumar, A., Weston, J., Lenain, R., &amp; Fristed, E. (2020). BlaBla: Linguistic Feature Extraction for Clinical Analysis in Multiple Languages. arXiv preprint arXiv:2005.10219.</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3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70" grpId="1"/>
    </p:bldLst>
  </p:timing>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8" name="Rectangle"/>
          <p:cNvSpPr/>
          <p:nvPr/>
        </p:nvSpPr>
        <p:spPr>
          <a:xfrm>
            <a:off x="0" y="1349375"/>
            <a:ext cx="12192000" cy="5538788"/>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381" name="Group"/>
          <p:cNvGrpSpPr/>
          <p:nvPr/>
        </p:nvGrpSpPr>
        <p:grpSpPr>
          <a:xfrm>
            <a:off x="10625137" y="5580062"/>
            <a:ext cx="1566864" cy="1281113"/>
            <a:chOff x="0" y="0"/>
            <a:chExt cx="1566862" cy="1281112"/>
          </a:xfrm>
        </p:grpSpPr>
        <p:pic>
          <p:nvPicPr>
            <p:cNvPr id="379"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380"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382" name="Syntax analysis: involves analysis of words in the sentence for grammar and arranging words in a manner that shows the relationship among the words. The sentence such as “The school goes to boy” is rejected by English syntactic analyzer. Syntactic featur"/>
          <p:cNvSpPr txBox="1"/>
          <p:nvPr/>
        </p:nvSpPr>
        <p:spPr>
          <a:xfrm>
            <a:off x="217487" y="1568450"/>
            <a:ext cx="11063288" cy="181882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defTabSz="1216025">
              <a:spcBef>
                <a:spcPts val="600"/>
              </a:spcBef>
              <a:buSzPct val="100000"/>
              <a:buChar char="➢"/>
              <a:defRPr b="1" sz="2800">
                <a:solidFill>
                  <a:srgbClr val="FFFFFF"/>
                </a:solidFill>
                <a:latin typeface="Arial"/>
                <a:ea typeface="Arial"/>
                <a:cs typeface="Arial"/>
                <a:sym typeface="Arial"/>
              </a:defRPr>
            </a:pPr>
            <a:r>
              <a:t>Syntax analysis: </a:t>
            </a:r>
            <a:r>
              <a:rPr sz="2400"/>
              <a:t>involves analysis of words in the sentence for grammar and arranging words in a manner that shows the relationship among the words. The sentence such as “The school goes to boy” is rejected by English syntactic analyzer. </a:t>
            </a:r>
            <a:r>
              <a:rPr sz="2400">
                <a:solidFill>
                  <a:srgbClr val="FF0000"/>
                </a:solidFill>
              </a:rPr>
              <a:t>Syntactic features derived from constituency parse tree.</a:t>
            </a:r>
          </a:p>
        </p:txBody>
      </p:sp>
      <p:sp>
        <p:nvSpPr>
          <p:cNvPr id="383"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384" name="Sentence-level feature - Syntax analysis"/>
          <p:cNvSpPr txBox="1"/>
          <p:nvPr/>
        </p:nvSpPr>
        <p:spPr>
          <a:xfrm>
            <a:off x="190182" y="207962"/>
            <a:ext cx="5982703"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Sentence-level feature - Syntax analysis </a:t>
            </a:r>
          </a:p>
        </p:txBody>
      </p:sp>
      <p:sp>
        <p:nvSpPr>
          <p:cNvPr id="385"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386" name="Slide Number"/>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387" name="image.png" descr="image.png"/>
          <p:cNvPicPr>
            <a:picLocks noChangeAspect="1"/>
          </p:cNvPicPr>
          <p:nvPr/>
        </p:nvPicPr>
        <p:blipFill>
          <a:blip r:embed="rId4">
            <a:extLst/>
          </a:blip>
          <a:stretch>
            <a:fillRect/>
          </a:stretch>
        </p:blipFill>
        <p:spPr>
          <a:xfrm>
            <a:off x="2538412" y="3557587"/>
            <a:ext cx="7691438" cy="3163888"/>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38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82" grpId="1"/>
    </p:bldLst>
  </p:timing>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9" name="Rectangle"/>
          <p:cNvSpPr/>
          <p:nvPr/>
        </p:nvSpPr>
        <p:spPr>
          <a:xfrm>
            <a:off x="0" y="1411287"/>
            <a:ext cx="12192000" cy="5538788"/>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392" name="Group"/>
          <p:cNvGrpSpPr/>
          <p:nvPr/>
        </p:nvGrpSpPr>
        <p:grpSpPr>
          <a:xfrm>
            <a:off x="10625137" y="5580062"/>
            <a:ext cx="1566864" cy="1281113"/>
            <a:chOff x="0" y="0"/>
            <a:chExt cx="1566862" cy="1281112"/>
          </a:xfrm>
        </p:grpSpPr>
        <p:pic>
          <p:nvPicPr>
            <p:cNvPr id="390"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391"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393" name="Syntax analysis: Syntactic features derived from constituency parse tree."/>
          <p:cNvSpPr txBox="1"/>
          <p:nvPr/>
        </p:nvSpPr>
        <p:spPr>
          <a:xfrm>
            <a:off x="217487" y="1568450"/>
            <a:ext cx="11063288" cy="75202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defTabSz="1216025">
              <a:spcBef>
                <a:spcPts val="600"/>
              </a:spcBef>
              <a:buSzPct val="100000"/>
              <a:buChar char="➢"/>
              <a:defRPr b="1" sz="2800">
                <a:solidFill>
                  <a:srgbClr val="FFFFFF"/>
                </a:solidFill>
                <a:latin typeface="Arial"/>
                <a:ea typeface="Arial"/>
                <a:cs typeface="Arial"/>
                <a:sym typeface="Arial"/>
              </a:defRPr>
            </a:pPr>
            <a:r>
              <a:t>Syntax analysis:</a:t>
            </a:r>
            <a:r>
              <a:rPr sz="2400"/>
              <a:t> </a:t>
            </a:r>
            <a:r>
              <a:rPr sz="2400">
                <a:solidFill>
                  <a:srgbClr val="FF0000"/>
                </a:solidFill>
              </a:rPr>
              <a:t>Syntactic features derived from constituency parse tree.</a:t>
            </a:r>
          </a:p>
        </p:txBody>
      </p:sp>
      <p:sp>
        <p:nvSpPr>
          <p:cNvPr id="394"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395" name="Sentence-level feature - Syntax analysis"/>
          <p:cNvSpPr txBox="1"/>
          <p:nvPr/>
        </p:nvSpPr>
        <p:spPr>
          <a:xfrm>
            <a:off x="190182" y="207962"/>
            <a:ext cx="5982703"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Sentence-level feature - Syntax analysis </a:t>
            </a:r>
          </a:p>
        </p:txBody>
      </p:sp>
      <p:sp>
        <p:nvSpPr>
          <p:cNvPr id="396"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397" name="Slide Number"/>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398" name="image.png" descr="image.png"/>
          <p:cNvPicPr>
            <a:picLocks noChangeAspect="1"/>
          </p:cNvPicPr>
          <p:nvPr/>
        </p:nvPicPr>
        <p:blipFill>
          <a:blip r:embed="rId4">
            <a:extLst/>
          </a:blip>
          <a:stretch>
            <a:fillRect/>
          </a:stretch>
        </p:blipFill>
        <p:spPr>
          <a:xfrm>
            <a:off x="4286250" y="2282825"/>
            <a:ext cx="2603500" cy="3981450"/>
          </a:xfrm>
          <a:prstGeom prst="rect">
            <a:avLst/>
          </a:prstGeom>
          <a:ln w="12700">
            <a:miter lim="400000"/>
          </a:ln>
        </p:spPr>
      </p:pic>
      <p:sp>
        <p:nvSpPr>
          <p:cNvPr id="399" name="[1] Shivkumar, A., Weston, J., Lenain, R., &amp; Fristed, E. (2020). BlaBla: Linguistic Feature Extraction for Clinical Analysis in Multiple Languages. arXiv preprint arXiv:2005.10219."/>
          <p:cNvSpPr txBox="1"/>
          <p:nvPr/>
        </p:nvSpPr>
        <p:spPr>
          <a:xfrm>
            <a:off x="1685607" y="6307137"/>
            <a:ext cx="8390574" cy="6251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a:solidFill>
                  <a:srgbClr val="FFFFFF"/>
                </a:solidFill>
              </a:defRPr>
            </a:lvl1pPr>
          </a:lstStyle>
          <a:p>
            <a:pPr/>
            <a:r>
              <a:t>[1] Shivkumar, A., Weston, J., Lenain, R., &amp; Fristed, E. (2020). BlaBla: Linguistic Feature Extraction for Clinical Analysis in Multiple Languages. arXiv preprint arXiv:2005.10219.</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3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93" grpId="1"/>
    </p:bldLst>
  </p:timing>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1" name="Rectangle"/>
          <p:cNvSpPr/>
          <p:nvPr/>
        </p:nvSpPr>
        <p:spPr>
          <a:xfrm>
            <a:off x="0" y="1462087"/>
            <a:ext cx="12192000" cy="5538788"/>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404" name="Group"/>
          <p:cNvGrpSpPr/>
          <p:nvPr/>
        </p:nvGrpSpPr>
        <p:grpSpPr>
          <a:xfrm>
            <a:off x="10625137" y="5580062"/>
            <a:ext cx="1566864" cy="1281113"/>
            <a:chOff x="0" y="0"/>
            <a:chExt cx="1566862" cy="1281112"/>
          </a:xfrm>
        </p:grpSpPr>
        <p:pic>
          <p:nvPicPr>
            <p:cNvPr id="402"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403"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405" name="POS tagging: make a prediction of which tag or label most likely applies in this context. A model consists of binary data and is produced by showing a system enough examples for it to make predictions that generalize across the language – for example, a "/>
          <p:cNvSpPr txBox="1"/>
          <p:nvPr/>
        </p:nvSpPr>
        <p:spPr>
          <a:xfrm>
            <a:off x="217487" y="1568450"/>
            <a:ext cx="10509251" cy="122359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defTabSz="1216025">
              <a:spcBef>
                <a:spcPts val="500"/>
              </a:spcBef>
              <a:buSzPct val="100000"/>
              <a:buChar char="➢"/>
              <a:defRPr b="1" sz="2400">
                <a:solidFill>
                  <a:srgbClr val="FFFFFF"/>
                </a:solidFill>
                <a:latin typeface="Arial"/>
                <a:ea typeface="Arial"/>
                <a:cs typeface="Arial"/>
                <a:sym typeface="Arial"/>
              </a:defRPr>
            </a:pPr>
            <a:r>
              <a:t>POS tagging: </a:t>
            </a:r>
            <a:r>
              <a:rPr sz="2000"/>
              <a:t>make a prediction of which tag or label most likely applies in this context. A model consists of binary data and is produced by showing a system enough examples for it to make predictions that generalize across the language – for example, a word following “the” in English is most likely a noun.</a:t>
            </a:r>
          </a:p>
        </p:txBody>
      </p:sp>
      <p:sp>
        <p:nvSpPr>
          <p:cNvPr id="406"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407" name="Sentence-level feature - POS tagging"/>
          <p:cNvSpPr txBox="1"/>
          <p:nvPr/>
        </p:nvSpPr>
        <p:spPr>
          <a:xfrm>
            <a:off x="190182" y="207962"/>
            <a:ext cx="5439480"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Sentence-level feature - POS tagging</a:t>
            </a:r>
          </a:p>
        </p:txBody>
      </p:sp>
      <p:sp>
        <p:nvSpPr>
          <p:cNvPr id="408"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409" name="Slide Number"/>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410" name="image.png" descr="image.png"/>
          <p:cNvPicPr>
            <a:picLocks noChangeAspect="1"/>
          </p:cNvPicPr>
          <p:nvPr/>
        </p:nvPicPr>
        <p:blipFill>
          <a:blip r:embed="rId4">
            <a:extLst/>
          </a:blip>
          <a:stretch>
            <a:fillRect/>
          </a:stretch>
        </p:blipFill>
        <p:spPr>
          <a:xfrm>
            <a:off x="1273175" y="3417887"/>
            <a:ext cx="8709025" cy="2376488"/>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4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05" grpId="1"/>
    </p:bldLst>
  </p:timing>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2" name="Rectangle"/>
          <p:cNvSpPr/>
          <p:nvPr/>
        </p:nvSpPr>
        <p:spPr>
          <a:xfrm>
            <a:off x="0" y="1462087"/>
            <a:ext cx="12192000" cy="5538788"/>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415" name="Group"/>
          <p:cNvGrpSpPr/>
          <p:nvPr/>
        </p:nvGrpSpPr>
        <p:grpSpPr>
          <a:xfrm>
            <a:off x="10625137" y="5580062"/>
            <a:ext cx="1566864" cy="1281113"/>
            <a:chOff x="0" y="0"/>
            <a:chExt cx="1566862" cy="1281112"/>
          </a:xfrm>
        </p:grpSpPr>
        <p:pic>
          <p:nvPicPr>
            <p:cNvPr id="413"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414"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416" name="Discourse analysis looks at conversations in their social context.…"/>
          <p:cNvSpPr txBox="1"/>
          <p:nvPr/>
        </p:nvSpPr>
        <p:spPr>
          <a:xfrm>
            <a:off x="361950" y="1822450"/>
            <a:ext cx="10755313" cy="403283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defTabSz="1216025">
              <a:spcBef>
                <a:spcPts val="400"/>
              </a:spcBef>
              <a:buSzPct val="100000"/>
              <a:buChar char="➢"/>
              <a:defRPr b="1" sz="2000">
                <a:solidFill>
                  <a:srgbClr val="FFFFFF"/>
                </a:solidFill>
                <a:latin typeface="Arial"/>
                <a:ea typeface="Arial"/>
                <a:cs typeface="Arial"/>
                <a:sym typeface="Arial"/>
              </a:defRPr>
            </a:pPr>
            <a:r>
              <a:t>Discourse analysis looks at conversations in their social context.</a:t>
            </a:r>
          </a:p>
          <a:p>
            <a:pPr marL="342900" indent="-342900" defTabSz="1216025">
              <a:spcBef>
                <a:spcPts val="400"/>
              </a:spcBef>
              <a:buSzPct val="100000"/>
              <a:buChar char="➢"/>
              <a:defRPr b="1" sz="2000">
                <a:solidFill>
                  <a:srgbClr val="FFFFFF"/>
                </a:solidFill>
                <a:latin typeface="Arial"/>
                <a:ea typeface="Arial"/>
                <a:cs typeface="Arial"/>
                <a:sym typeface="Arial"/>
              </a:defRPr>
            </a:pPr>
            <a:r>
              <a:t>Discourse analysis melds linguistics and sociology by taking into account the social and cultural context that language is used.</a:t>
            </a:r>
          </a:p>
          <a:p>
            <a:pPr marL="342900" indent="-342900" defTabSz="1216025">
              <a:spcBef>
                <a:spcPts val="400"/>
              </a:spcBef>
              <a:buSzPct val="100000"/>
              <a:buChar char="➢"/>
              <a:defRPr b="1" sz="2000">
                <a:solidFill>
                  <a:srgbClr val="FFFFFF"/>
                </a:solidFill>
                <a:latin typeface="Arial"/>
                <a:ea typeface="Arial"/>
                <a:cs typeface="Arial"/>
                <a:sym typeface="Arial"/>
              </a:defRPr>
            </a:pPr>
            <a:r>
              <a:t>Discourse analysis including discourse during a political debate, discourse in advertising, television programming/media, interviewing, and storytelling. By looking at the context of language use, not simply the words, we can understand nuanced layers of meaning that are added by the social or institutional aspects at work, such as gender, power imbalance, conflicts, cultural background, and racism.</a:t>
            </a:r>
          </a:p>
          <a:p>
            <a:pPr marL="342900" indent="-342900" defTabSz="1216025">
              <a:spcBef>
                <a:spcPts val="400"/>
              </a:spcBef>
              <a:buSzPct val="100000"/>
              <a:buChar char="➢"/>
              <a:defRPr b="1" sz="2000">
                <a:solidFill>
                  <a:srgbClr val="FFFFFF"/>
                </a:solidFill>
                <a:latin typeface="Arial"/>
                <a:ea typeface="Arial"/>
                <a:cs typeface="Arial"/>
                <a:sym typeface="Arial"/>
              </a:defRPr>
            </a:pPr>
            <a:r>
              <a:t>Scientific discourse annotation schemes which define classes such as Hypothesis, Method and Result for Core Scientific Concepts and Background/ Own/Contrast.</a:t>
            </a:r>
          </a:p>
          <a:p>
            <a:pPr marL="342900" indent="-342900" defTabSz="1216025">
              <a:spcBef>
                <a:spcPts val="400"/>
              </a:spcBef>
              <a:buSzPct val="100000"/>
              <a:buChar char="➢"/>
              <a:defRPr b="1" sz="2000">
                <a:solidFill>
                  <a:srgbClr val="FFFFFF"/>
                </a:solidFill>
                <a:latin typeface="Arial"/>
                <a:ea typeface="Arial"/>
                <a:cs typeface="Arial"/>
                <a:sym typeface="Arial"/>
              </a:defRPr>
            </a:pPr>
            <a:r>
              <a:t>Unlike grammar analysis, which focuses on the structure of sentences, discourse analysis focuses on the broad and general use of language within and between particular groups of people. </a:t>
            </a:r>
          </a:p>
        </p:txBody>
      </p:sp>
      <p:sp>
        <p:nvSpPr>
          <p:cNvPr id="417"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418" name="Sentence-level feature - Discourse Analysis"/>
          <p:cNvSpPr txBox="1"/>
          <p:nvPr/>
        </p:nvSpPr>
        <p:spPr>
          <a:xfrm>
            <a:off x="190182" y="207962"/>
            <a:ext cx="6411775"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Sentence-level feature - Discourse Analysis</a:t>
            </a:r>
          </a:p>
        </p:txBody>
      </p:sp>
      <p:sp>
        <p:nvSpPr>
          <p:cNvPr id="419"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420" name="Slide Number"/>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421" name="[3] Duma, D. C. (2019). Contextual citation recommendation using scientific discourse annotation schemes (Doctoral dissertation, University of Edinburgh)."/>
          <p:cNvSpPr txBox="1"/>
          <p:nvPr/>
        </p:nvSpPr>
        <p:spPr>
          <a:xfrm>
            <a:off x="1685607" y="6307137"/>
            <a:ext cx="8390574" cy="6251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a:solidFill>
                  <a:srgbClr val="FFFFFF"/>
                </a:solidFill>
              </a:defRPr>
            </a:lvl1pPr>
          </a:lstStyle>
          <a:p>
            <a:pPr/>
            <a:r>
              <a:t>[3] Duma, D. C. (2019). Contextual citation recommendation using scientific discourse annotation schemes (Doctoral dissertation, University of Edinburgh).</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41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16" grpId="1"/>
    </p:bldLst>
  </p:timing>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3" name="Rectangle"/>
          <p:cNvSpPr/>
          <p:nvPr/>
        </p:nvSpPr>
        <p:spPr>
          <a:xfrm>
            <a:off x="0" y="1462087"/>
            <a:ext cx="12192000" cy="5538788"/>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426" name="Group"/>
          <p:cNvGrpSpPr/>
          <p:nvPr/>
        </p:nvGrpSpPr>
        <p:grpSpPr>
          <a:xfrm>
            <a:off x="10625137" y="5580062"/>
            <a:ext cx="1566864" cy="1281113"/>
            <a:chOff x="0" y="0"/>
            <a:chExt cx="1566862" cy="1281112"/>
          </a:xfrm>
        </p:grpSpPr>
        <p:pic>
          <p:nvPicPr>
            <p:cNvPr id="424"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425"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427" name="Discourse features"/>
          <p:cNvSpPr txBox="1"/>
          <p:nvPr/>
        </p:nvSpPr>
        <p:spPr>
          <a:xfrm>
            <a:off x="361950" y="1822450"/>
            <a:ext cx="10755313" cy="28379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marL="342900" indent="-342900" defTabSz="1216025">
              <a:spcBef>
                <a:spcPts val="400"/>
              </a:spcBef>
              <a:buSzPct val="100000"/>
              <a:buChar char="➢"/>
              <a:defRPr b="1" sz="2000">
                <a:solidFill>
                  <a:srgbClr val="FFFFFF"/>
                </a:solidFill>
                <a:latin typeface="Arial"/>
                <a:ea typeface="Arial"/>
                <a:cs typeface="Arial"/>
                <a:sym typeface="Arial"/>
              </a:defRPr>
            </a:lvl1pPr>
          </a:lstStyle>
          <a:p>
            <a:pPr/>
            <a:r>
              <a:t>Discourse features</a:t>
            </a:r>
          </a:p>
        </p:txBody>
      </p:sp>
      <p:sp>
        <p:nvSpPr>
          <p:cNvPr id="428"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429" name="Sentence-level feature - Discourse Analysis"/>
          <p:cNvSpPr txBox="1"/>
          <p:nvPr/>
        </p:nvSpPr>
        <p:spPr>
          <a:xfrm>
            <a:off x="190182" y="207962"/>
            <a:ext cx="6411775"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Sentence-level feature - Discourse Analysis</a:t>
            </a:r>
          </a:p>
        </p:txBody>
      </p:sp>
      <p:sp>
        <p:nvSpPr>
          <p:cNvPr id="430"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431" name="Slide Number"/>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432" name="[1] Shivkumar, A., Weston, J., Lenain, R., &amp; Fristed, E. (2020). BlaBla: Linguistic Feature Extraction for Clinical Analysis in Multiple Languages. arXiv preprint arXiv:2005.10219."/>
          <p:cNvSpPr txBox="1"/>
          <p:nvPr/>
        </p:nvSpPr>
        <p:spPr>
          <a:xfrm>
            <a:off x="1685607" y="6307137"/>
            <a:ext cx="8390574" cy="6251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a:solidFill>
                  <a:srgbClr val="FFFFFF"/>
                </a:solidFill>
              </a:defRPr>
            </a:lvl1pPr>
          </a:lstStyle>
          <a:p>
            <a:pPr/>
            <a:r>
              <a:t>[1] Shivkumar, A., Weston, J., Lenain, R., &amp; Fristed, E. (2020). BlaBla: Linguistic Feature Extraction for Clinical Analysis in Multiple Languages. arXiv preprint arXiv:2005.10219.</a:t>
            </a:r>
          </a:p>
        </p:txBody>
      </p:sp>
      <p:pic>
        <p:nvPicPr>
          <p:cNvPr id="433" name="image.png" descr="image.png"/>
          <p:cNvPicPr>
            <a:picLocks noChangeAspect="1"/>
          </p:cNvPicPr>
          <p:nvPr/>
        </p:nvPicPr>
        <p:blipFill>
          <a:blip r:embed="rId4">
            <a:extLst/>
          </a:blip>
          <a:stretch>
            <a:fillRect/>
          </a:stretch>
        </p:blipFill>
        <p:spPr>
          <a:xfrm>
            <a:off x="3081337" y="3092450"/>
            <a:ext cx="5597526" cy="1243013"/>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4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27" grpId="1"/>
    </p:bldLst>
  </p:timing>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5" name="Rectangle"/>
          <p:cNvSpPr/>
          <p:nvPr/>
        </p:nvSpPr>
        <p:spPr>
          <a:xfrm>
            <a:off x="0" y="1462087"/>
            <a:ext cx="12192000" cy="5538788"/>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438" name="Group"/>
          <p:cNvGrpSpPr/>
          <p:nvPr/>
        </p:nvGrpSpPr>
        <p:grpSpPr>
          <a:xfrm>
            <a:off x="10625137" y="5580062"/>
            <a:ext cx="1566864" cy="1281113"/>
            <a:chOff x="0" y="0"/>
            <a:chExt cx="1566862" cy="1281112"/>
          </a:xfrm>
        </p:grpSpPr>
        <p:pic>
          <p:nvPicPr>
            <p:cNvPr id="436"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437"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439" name="Statistic information…"/>
          <p:cNvSpPr txBox="1"/>
          <p:nvPr/>
        </p:nvSpPr>
        <p:spPr>
          <a:xfrm>
            <a:off x="700087" y="2117725"/>
            <a:ext cx="10509251" cy="172041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defTabSz="1216025">
              <a:spcBef>
                <a:spcPts val="400"/>
              </a:spcBef>
              <a:buSzPct val="100000"/>
              <a:buChar char="➢"/>
              <a:defRPr b="1" sz="2000">
                <a:solidFill>
                  <a:srgbClr val="FFFFFF"/>
                </a:solidFill>
                <a:latin typeface="Arial"/>
                <a:ea typeface="Arial"/>
                <a:cs typeface="Arial"/>
                <a:sym typeface="Arial"/>
              </a:defRPr>
            </a:pPr>
            <a:r>
              <a:t>Statistic information</a:t>
            </a:r>
          </a:p>
          <a:p>
            <a:pPr marL="342900" indent="-342900" defTabSz="1216025">
              <a:spcBef>
                <a:spcPts val="400"/>
              </a:spcBef>
              <a:buSzPct val="100000"/>
              <a:buChar char="➢"/>
              <a:defRPr b="1" sz="2000">
                <a:solidFill>
                  <a:srgbClr val="FFFFFF"/>
                </a:solidFill>
                <a:latin typeface="Arial"/>
                <a:ea typeface="Arial"/>
                <a:cs typeface="Arial"/>
                <a:sym typeface="Arial"/>
              </a:defRPr>
            </a:pPr>
            <a:r>
              <a:t>Position information</a:t>
            </a:r>
          </a:p>
          <a:p>
            <a:pPr marL="342900" indent="-342900" defTabSz="1216025">
              <a:spcBef>
                <a:spcPts val="400"/>
              </a:spcBef>
              <a:buSzPct val="100000"/>
              <a:buChar char="➢"/>
              <a:defRPr b="1" sz="2000">
                <a:solidFill>
                  <a:srgbClr val="FFFFFF"/>
                </a:solidFill>
                <a:latin typeface="Arial"/>
                <a:ea typeface="Arial"/>
                <a:cs typeface="Arial"/>
                <a:sym typeface="Arial"/>
              </a:defRPr>
            </a:pPr>
            <a:r>
              <a:t>Rule-based features</a:t>
            </a:r>
          </a:p>
          <a:p>
            <a:pPr marL="342900" indent="-342900" defTabSz="1216025">
              <a:spcBef>
                <a:spcPts val="400"/>
              </a:spcBef>
              <a:buSzPct val="100000"/>
              <a:buChar char="➢"/>
              <a:defRPr b="1" sz="2000">
                <a:solidFill>
                  <a:srgbClr val="FFFFFF"/>
                </a:solidFill>
                <a:latin typeface="Arial"/>
                <a:ea typeface="Arial"/>
                <a:cs typeface="Arial"/>
                <a:sym typeface="Arial"/>
              </a:defRPr>
            </a:pPr>
            <a:r>
              <a:t>What are other features can be extracted from text?</a:t>
            </a:r>
          </a:p>
        </p:txBody>
      </p:sp>
      <p:sp>
        <p:nvSpPr>
          <p:cNvPr id="440"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441" name="Other features"/>
          <p:cNvSpPr txBox="1"/>
          <p:nvPr/>
        </p:nvSpPr>
        <p:spPr>
          <a:xfrm>
            <a:off x="190182" y="207962"/>
            <a:ext cx="2187586"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Other features</a:t>
            </a:r>
          </a:p>
        </p:txBody>
      </p:sp>
      <p:sp>
        <p:nvSpPr>
          <p:cNvPr id="442"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443" name="Slide Number"/>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444" name="What are the drawbacks?"/>
          <p:cNvSpPr txBox="1"/>
          <p:nvPr/>
        </p:nvSpPr>
        <p:spPr>
          <a:xfrm>
            <a:off x="3246437" y="4722812"/>
            <a:ext cx="5416551" cy="4566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16025">
              <a:spcBef>
                <a:spcPts val="700"/>
              </a:spcBef>
              <a:defRPr b="1" sz="3200">
                <a:solidFill>
                  <a:srgbClr val="FFFFFF"/>
                </a:solidFill>
                <a:latin typeface="Arial"/>
                <a:ea typeface="Arial"/>
                <a:cs typeface="Arial"/>
                <a:sym typeface="Arial"/>
              </a:defRPr>
            </a:lvl1pPr>
          </a:lstStyle>
          <a:p>
            <a:pPr/>
            <a:r>
              <a:t>What are the drawbacks?</a:t>
            </a:r>
          </a:p>
        </p:txBody>
      </p:sp>
      <p:sp>
        <p:nvSpPr>
          <p:cNvPr id="445" name="[2] Corston-Oliver, S., Gamon, M., &amp; Brockett, C. (2001, July). A machine learning approach to the automatic evaluation of machine translation. In Proceedings of the 39th Annual Meeting of the Association for Computational Linguistics (pp. 148-155)."/>
          <p:cNvSpPr txBox="1"/>
          <p:nvPr/>
        </p:nvSpPr>
        <p:spPr>
          <a:xfrm>
            <a:off x="2188844" y="5754687"/>
            <a:ext cx="8390574" cy="9172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a:solidFill>
                  <a:srgbClr val="FFFFFF"/>
                </a:solidFill>
              </a:defRPr>
            </a:lvl1pPr>
          </a:lstStyle>
          <a:p>
            <a:pPr/>
            <a:r>
              <a:t>[2] Corston-Oliver, S., Gamon, M., &amp; Brockett, C. (2001, July). A machine learning approach to the automatic evaluation of machine translation. In Proceedings of the 39th Annual Meeting of the Association for Computational Linguistics (pp. 148-155).</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4" presetID="2" grpId="1" fill="hold">
                                  <p:stCondLst>
                                    <p:cond delay="0"/>
                                  </p:stCondLst>
                                  <p:iterate type="el" backwards="0">
                                    <p:tmAbs val="0"/>
                                  </p:iterate>
                                  <p:childTnLst>
                                    <p:set>
                                      <p:cBhvr>
                                        <p:cTn id="6" fill="hold"/>
                                        <p:tgtEl>
                                          <p:spTgt spid="439">
                                            <p:bg/>
                                          </p:spTgt>
                                        </p:tgtEl>
                                        <p:attrNameLst>
                                          <p:attrName>style.visibility</p:attrName>
                                        </p:attrNameLst>
                                      </p:cBhvr>
                                      <p:to>
                                        <p:strVal val="visible"/>
                                      </p:to>
                                    </p:set>
                                    <p:anim calcmode="lin" valueType="num">
                                      <p:cBhvr>
                                        <p:cTn id="7" dur="500" fill="hold"/>
                                        <p:tgtEl>
                                          <p:spTgt spid="439">
                                            <p:bg/>
                                          </p:spTgt>
                                        </p:tgtEl>
                                        <p:attrNameLst>
                                          <p:attrName>ppt_x</p:attrName>
                                        </p:attrNameLst>
                                      </p:cBhvr>
                                      <p:tavLst>
                                        <p:tav tm="0">
                                          <p:val>
                                            <p:strVal val="#ppt_x"/>
                                          </p:val>
                                        </p:tav>
                                        <p:tav tm="100000">
                                          <p:val>
                                            <p:strVal val="#ppt_x"/>
                                          </p:val>
                                        </p:tav>
                                      </p:tavLst>
                                    </p:anim>
                                    <p:anim calcmode="lin" valueType="num">
                                      <p:cBhvr>
                                        <p:cTn id="8" dur="500" fill="hold"/>
                                        <p:tgtEl>
                                          <p:spTgt spid="439">
                                            <p:bg/>
                                          </p:spTgt>
                                        </p:tgtEl>
                                        <p:attrNameLst>
                                          <p:attrName>ppt_y</p:attrName>
                                        </p:attrNameLst>
                                      </p:cBhvr>
                                      <p:tavLst>
                                        <p:tav tm="0">
                                          <p:val>
                                            <p:strVal val="1+#ppt_h/2"/>
                                          </p:val>
                                        </p:tav>
                                        <p:tav tm="100000">
                                          <p:val>
                                            <p:strVal val="#ppt_y"/>
                                          </p:val>
                                        </p:tav>
                                      </p:tavLst>
                                    </p:anim>
                                  </p:childTnLst>
                                </p:cTn>
                              </p:par>
                              <p:par>
                                <p:cTn id="9" presetClass="entr" nodeType="withEffect" presetSubtype="4" presetID="2" grpId="1" fill="hold">
                                  <p:stCondLst>
                                    <p:cond delay="0"/>
                                  </p:stCondLst>
                                  <p:iterate type="el" backwards="0">
                                    <p:tmAbs val="0"/>
                                  </p:iterate>
                                  <p:childTnLst>
                                    <p:set>
                                      <p:cBhvr>
                                        <p:cTn id="10" fill="hold"/>
                                        <p:tgtEl>
                                          <p:spTgt spid="439">
                                            <p:txEl>
                                              <p:pRg st="0" end="0"/>
                                            </p:txEl>
                                          </p:spTgt>
                                        </p:tgtEl>
                                        <p:attrNameLst>
                                          <p:attrName>style.visibility</p:attrName>
                                        </p:attrNameLst>
                                      </p:cBhvr>
                                      <p:to>
                                        <p:strVal val="visible"/>
                                      </p:to>
                                    </p:set>
                                    <p:anim calcmode="lin" valueType="num">
                                      <p:cBhvr>
                                        <p:cTn id="11" dur="500" fill="hold"/>
                                        <p:tgtEl>
                                          <p:spTgt spid="439">
                                            <p:txEl>
                                              <p:pRg st="0" end="0"/>
                                            </p:txEl>
                                          </p:spTgt>
                                        </p:tgtEl>
                                        <p:attrNameLst>
                                          <p:attrName>ppt_x</p:attrName>
                                        </p:attrNameLst>
                                      </p:cBhvr>
                                      <p:tavLst>
                                        <p:tav tm="0">
                                          <p:val>
                                            <p:strVal val="#ppt_x"/>
                                          </p:val>
                                        </p:tav>
                                        <p:tav tm="100000">
                                          <p:val>
                                            <p:strVal val="#ppt_x"/>
                                          </p:val>
                                        </p:tav>
                                      </p:tavLst>
                                    </p:anim>
                                    <p:anim calcmode="lin" valueType="num">
                                      <p:cBhvr>
                                        <p:cTn id="12" dur="500" fill="hold"/>
                                        <p:tgtEl>
                                          <p:spTgt spid="43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4" presetID="2" grpId="1" fill="hold">
                                  <p:stCondLst>
                                    <p:cond delay="0"/>
                                  </p:stCondLst>
                                  <p:iterate type="el" backwards="0">
                                    <p:tmAbs val="0"/>
                                  </p:iterate>
                                  <p:childTnLst>
                                    <p:set>
                                      <p:cBhvr>
                                        <p:cTn id="16" fill="hold"/>
                                        <p:tgtEl>
                                          <p:spTgt spid="439">
                                            <p:txEl>
                                              <p:pRg st="1" end="1"/>
                                            </p:txEl>
                                          </p:spTgt>
                                        </p:tgtEl>
                                        <p:attrNameLst>
                                          <p:attrName>style.visibility</p:attrName>
                                        </p:attrNameLst>
                                      </p:cBhvr>
                                      <p:to>
                                        <p:strVal val="visible"/>
                                      </p:to>
                                    </p:set>
                                    <p:anim calcmode="lin" valueType="num">
                                      <p:cBhvr>
                                        <p:cTn id="17" dur="500" fill="hold"/>
                                        <p:tgtEl>
                                          <p:spTgt spid="439">
                                            <p:txEl>
                                              <p:pRg st="1" end="1"/>
                                            </p:txEl>
                                          </p:spTgt>
                                        </p:tgtEl>
                                        <p:attrNameLst>
                                          <p:attrName>ppt_x</p:attrName>
                                        </p:attrNameLst>
                                      </p:cBhvr>
                                      <p:tavLst>
                                        <p:tav tm="0">
                                          <p:val>
                                            <p:strVal val="#ppt_x"/>
                                          </p:val>
                                        </p:tav>
                                        <p:tav tm="100000">
                                          <p:val>
                                            <p:strVal val="#ppt_x"/>
                                          </p:val>
                                        </p:tav>
                                      </p:tavLst>
                                    </p:anim>
                                    <p:anim calcmode="lin" valueType="num">
                                      <p:cBhvr>
                                        <p:cTn id="18" dur="500" fill="hold"/>
                                        <p:tgtEl>
                                          <p:spTgt spid="43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Class="entr" nodeType="clickEffect" presetSubtype="4" presetID="2" grpId="1" fill="hold">
                                  <p:stCondLst>
                                    <p:cond delay="0"/>
                                  </p:stCondLst>
                                  <p:iterate type="el" backwards="0">
                                    <p:tmAbs val="0"/>
                                  </p:iterate>
                                  <p:childTnLst>
                                    <p:set>
                                      <p:cBhvr>
                                        <p:cTn id="22" fill="hold"/>
                                        <p:tgtEl>
                                          <p:spTgt spid="439">
                                            <p:txEl>
                                              <p:pRg st="2" end="2"/>
                                            </p:txEl>
                                          </p:spTgt>
                                        </p:tgtEl>
                                        <p:attrNameLst>
                                          <p:attrName>style.visibility</p:attrName>
                                        </p:attrNameLst>
                                      </p:cBhvr>
                                      <p:to>
                                        <p:strVal val="visible"/>
                                      </p:to>
                                    </p:set>
                                    <p:anim calcmode="lin" valueType="num">
                                      <p:cBhvr>
                                        <p:cTn id="23" dur="500" fill="hold"/>
                                        <p:tgtEl>
                                          <p:spTgt spid="439">
                                            <p:txEl>
                                              <p:pRg st="2" end="2"/>
                                            </p:txEl>
                                          </p:spTgt>
                                        </p:tgtEl>
                                        <p:attrNameLst>
                                          <p:attrName>ppt_x</p:attrName>
                                        </p:attrNameLst>
                                      </p:cBhvr>
                                      <p:tavLst>
                                        <p:tav tm="0">
                                          <p:val>
                                            <p:strVal val="#ppt_x"/>
                                          </p:val>
                                        </p:tav>
                                        <p:tav tm="100000">
                                          <p:val>
                                            <p:strVal val="#ppt_x"/>
                                          </p:val>
                                        </p:tav>
                                      </p:tavLst>
                                    </p:anim>
                                    <p:anim calcmode="lin" valueType="num">
                                      <p:cBhvr>
                                        <p:cTn id="24" dur="500" fill="hold"/>
                                        <p:tgtEl>
                                          <p:spTgt spid="43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Class="entr" nodeType="clickEffect" presetSubtype="4" presetID="2" grpId="1" fill="hold">
                                  <p:stCondLst>
                                    <p:cond delay="0"/>
                                  </p:stCondLst>
                                  <p:iterate type="el" backwards="0">
                                    <p:tmAbs val="0"/>
                                  </p:iterate>
                                  <p:childTnLst>
                                    <p:set>
                                      <p:cBhvr>
                                        <p:cTn id="28" fill="hold"/>
                                        <p:tgtEl>
                                          <p:spTgt spid="439">
                                            <p:txEl>
                                              <p:pRg st="3" end="3"/>
                                            </p:txEl>
                                          </p:spTgt>
                                        </p:tgtEl>
                                        <p:attrNameLst>
                                          <p:attrName>style.visibility</p:attrName>
                                        </p:attrNameLst>
                                      </p:cBhvr>
                                      <p:to>
                                        <p:strVal val="visible"/>
                                      </p:to>
                                    </p:set>
                                    <p:anim calcmode="lin" valueType="num">
                                      <p:cBhvr>
                                        <p:cTn id="29" dur="500" fill="hold"/>
                                        <p:tgtEl>
                                          <p:spTgt spid="439">
                                            <p:txEl>
                                              <p:pRg st="3" end="3"/>
                                            </p:txEl>
                                          </p:spTgt>
                                        </p:tgtEl>
                                        <p:attrNameLst>
                                          <p:attrName>ppt_x</p:attrName>
                                        </p:attrNameLst>
                                      </p:cBhvr>
                                      <p:tavLst>
                                        <p:tav tm="0">
                                          <p:val>
                                            <p:strVal val="#ppt_x"/>
                                          </p:val>
                                        </p:tav>
                                        <p:tav tm="100000">
                                          <p:val>
                                            <p:strVal val="#ppt_x"/>
                                          </p:val>
                                        </p:tav>
                                      </p:tavLst>
                                    </p:anim>
                                    <p:anim calcmode="lin" valueType="num">
                                      <p:cBhvr>
                                        <p:cTn id="30" dur="500" fill="hold"/>
                                        <p:tgtEl>
                                          <p:spTgt spid="43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Class="entr" nodeType="clickEffect" presetSubtype="4" presetID="2" grpId="2" fill="hold">
                                  <p:stCondLst>
                                    <p:cond delay="0"/>
                                  </p:stCondLst>
                                  <p:iterate type="el" backwards="0">
                                    <p:tmAbs val="0"/>
                                  </p:iterate>
                                  <p:childTnLst>
                                    <p:set>
                                      <p:cBhvr>
                                        <p:cTn id="34" fill="hold"/>
                                        <p:tgtEl>
                                          <p:spTgt spid="445"/>
                                        </p:tgtEl>
                                        <p:attrNameLst>
                                          <p:attrName>style.visibility</p:attrName>
                                        </p:attrNameLst>
                                      </p:cBhvr>
                                      <p:to>
                                        <p:strVal val="visible"/>
                                      </p:to>
                                    </p:set>
                                    <p:anim calcmode="lin" valueType="num">
                                      <p:cBhvr>
                                        <p:cTn id="35" dur="500" fill="hold"/>
                                        <p:tgtEl>
                                          <p:spTgt spid="445"/>
                                        </p:tgtEl>
                                        <p:attrNameLst>
                                          <p:attrName>ppt_x</p:attrName>
                                        </p:attrNameLst>
                                      </p:cBhvr>
                                      <p:tavLst>
                                        <p:tav tm="0">
                                          <p:val>
                                            <p:strVal val="#ppt_x"/>
                                          </p:val>
                                        </p:tav>
                                        <p:tav tm="100000">
                                          <p:val>
                                            <p:strVal val="#ppt_x"/>
                                          </p:val>
                                        </p:tav>
                                      </p:tavLst>
                                    </p:anim>
                                    <p:anim calcmode="lin" valueType="num">
                                      <p:cBhvr>
                                        <p:cTn id="36" dur="500" fill="hold"/>
                                        <p:tgtEl>
                                          <p:spTgt spid="445"/>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Class="entr" nodeType="clickEffect" presetSubtype="4" presetID="2" grpId="3" fill="hold">
                                  <p:stCondLst>
                                    <p:cond delay="0"/>
                                  </p:stCondLst>
                                  <p:iterate type="el" backwards="0">
                                    <p:tmAbs val="0"/>
                                  </p:iterate>
                                  <p:childTnLst>
                                    <p:set>
                                      <p:cBhvr>
                                        <p:cTn id="40" fill="hold"/>
                                        <p:tgtEl>
                                          <p:spTgt spid="444"/>
                                        </p:tgtEl>
                                        <p:attrNameLst>
                                          <p:attrName>style.visibility</p:attrName>
                                        </p:attrNameLst>
                                      </p:cBhvr>
                                      <p:to>
                                        <p:strVal val="visible"/>
                                      </p:to>
                                    </p:set>
                                    <p:anim calcmode="lin" valueType="num">
                                      <p:cBhvr>
                                        <p:cTn id="41" dur="1000" fill="hold"/>
                                        <p:tgtEl>
                                          <p:spTgt spid="444"/>
                                        </p:tgtEl>
                                        <p:attrNameLst>
                                          <p:attrName>ppt_x</p:attrName>
                                        </p:attrNameLst>
                                      </p:cBhvr>
                                      <p:tavLst>
                                        <p:tav tm="0">
                                          <p:val>
                                            <p:strVal val="#ppt_x"/>
                                          </p:val>
                                        </p:tav>
                                        <p:tav tm="100000">
                                          <p:val>
                                            <p:strVal val="#ppt_x"/>
                                          </p:val>
                                        </p:tav>
                                      </p:tavLst>
                                    </p:anim>
                                    <p:anim calcmode="lin" valueType="num">
                                      <p:cBhvr>
                                        <p:cTn id="42" dur="1000" fill="hold"/>
                                        <p:tgtEl>
                                          <p:spTgt spid="444"/>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Class="entr" nodeType="clickEffect" presetSubtype="4" presetID="2" grpId="1" fill="hold">
                                  <p:stCondLst>
                                    <p:cond delay="0"/>
                                  </p:stCondLst>
                                  <p:iterate type="el" backwards="0">
                                    <p:tmAbs val="0"/>
                                  </p:iterate>
                                  <p:childTnLst>
                                    <p:set>
                                      <p:cBhvr>
                                        <p:cTn id="46" fill="hold"/>
                                        <p:tgtEl>
                                          <p:spTgt spid="439">
                                            <p:txEl>
                                              <p:pRg st="4" end="4"/>
                                            </p:txEl>
                                          </p:spTgt>
                                        </p:tgtEl>
                                        <p:attrNameLst>
                                          <p:attrName>style.visibility</p:attrName>
                                        </p:attrNameLst>
                                      </p:cBhvr>
                                      <p:to>
                                        <p:strVal val="visible"/>
                                      </p:to>
                                    </p:set>
                                    <p:anim calcmode="lin" valueType="num">
                                      <p:cBhvr>
                                        <p:cTn id="47" dur="500" fill="hold"/>
                                        <p:tgtEl>
                                          <p:spTgt spid="439">
                                            <p:txEl>
                                              <p:pRg st="4" end="4"/>
                                            </p:txEl>
                                          </p:spTgt>
                                        </p:tgtEl>
                                        <p:attrNameLst>
                                          <p:attrName>ppt_x</p:attrName>
                                        </p:attrNameLst>
                                      </p:cBhvr>
                                      <p:tavLst>
                                        <p:tav tm="0">
                                          <p:val>
                                            <p:strVal val="#ppt_x"/>
                                          </p:val>
                                        </p:tav>
                                        <p:tav tm="100000">
                                          <p:val>
                                            <p:strVal val="#ppt_x"/>
                                          </p:val>
                                        </p:tav>
                                      </p:tavLst>
                                    </p:anim>
                                    <p:anim calcmode="lin" valueType="num">
                                      <p:cBhvr>
                                        <p:cTn id="48" dur="500" fill="hold"/>
                                        <p:tgtEl>
                                          <p:spTgt spid="439">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44" grpId="3"/>
      <p:bldP build="p" bldLvl="5" animBg="1" rev="0" advAuto="0" spid="439" grpId="1"/>
      <p:bldP build="whole" bldLvl="1" animBg="1" rev="0" advAuto="0" spid="445" grpId="2"/>
    </p:bldLst>
  </p:timing>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7" name="Rectangle"/>
          <p:cNvSpPr/>
          <p:nvPr/>
        </p:nvSpPr>
        <p:spPr>
          <a:xfrm>
            <a:off x="0" y="1319212"/>
            <a:ext cx="12192000" cy="5538788"/>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450" name="Group"/>
          <p:cNvGrpSpPr/>
          <p:nvPr/>
        </p:nvGrpSpPr>
        <p:grpSpPr>
          <a:xfrm>
            <a:off x="10625137" y="5580062"/>
            <a:ext cx="1566864" cy="1281113"/>
            <a:chOff x="0" y="0"/>
            <a:chExt cx="1566862" cy="1281112"/>
          </a:xfrm>
        </p:grpSpPr>
        <p:pic>
          <p:nvPicPr>
            <p:cNvPr id="448"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449"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451" name="Semantics focuses only on the literal meaning of words, phrases, and sentences. This only abstracts the dictionary meaning or the real meaning from the given context. The structures assigned by the syntactic analyzer always have assigned meaning. For exa"/>
          <p:cNvSpPr txBox="1"/>
          <p:nvPr/>
        </p:nvSpPr>
        <p:spPr>
          <a:xfrm>
            <a:off x="217487" y="1568450"/>
            <a:ext cx="10509251" cy="332491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1" indent="742950" defTabSz="1216025">
              <a:spcBef>
                <a:spcPts val="500"/>
              </a:spcBef>
              <a:defRPr b="1" sz="2800">
                <a:solidFill>
                  <a:srgbClr val="FFFFFF"/>
                </a:solidFill>
                <a:latin typeface="Arial"/>
                <a:ea typeface="Arial"/>
                <a:cs typeface="Arial"/>
                <a:sym typeface="Arial"/>
              </a:defRPr>
            </a:pPr>
          </a:p>
          <a:p>
            <a:pPr lvl="1" indent="742950" defTabSz="1216025">
              <a:spcBef>
                <a:spcPts val="600"/>
              </a:spcBef>
              <a:defRPr b="1" sz="2800">
                <a:solidFill>
                  <a:srgbClr val="FFFFFF"/>
                </a:solidFill>
                <a:latin typeface="Arial"/>
                <a:ea typeface="Arial"/>
                <a:cs typeface="Arial"/>
                <a:sym typeface="Arial"/>
              </a:defRPr>
            </a:pPr>
            <a:r>
              <a:t>Semantics focuses only on the literal meaning of words, phrases, and sentences. This only abstracts the dictionary meaning or the real meaning from the given context. The structures assigned by the syntactic analyzer always have assigned meaning. For example, “I have a green idea” be rejected by the semantic analysis since “green doesn't make any sense”.</a:t>
            </a:r>
          </a:p>
        </p:txBody>
      </p:sp>
      <p:sp>
        <p:nvSpPr>
          <p:cNvPr id="452"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453" name="Semantic analysis"/>
          <p:cNvSpPr txBox="1"/>
          <p:nvPr/>
        </p:nvSpPr>
        <p:spPr>
          <a:xfrm>
            <a:off x="190182" y="207962"/>
            <a:ext cx="2747180"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Semantic analysis</a:t>
            </a:r>
          </a:p>
        </p:txBody>
      </p:sp>
      <p:sp>
        <p:nvSpPr>
          <p:cNvPr id="454"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455" name="Slide Number"/>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45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51" grpId="1"/>
    </p:bldLst>
  </p:timing>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57" name="Rectangle"/>
          <p:cNvSpPr/>
          <p:nvPr/>
        </p:nvSpPr>
        <p:spPr>
          <a:xfrm>
            <a:off x="0" y="1462087"/>
            <a:ext cx="12192000" cy="5538788"/>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460" name="Group"/>
          <p:cNvGrpSpPr/>
          <p:nvPr/>
        </p:nvGrpSpPr>
        <p:grpSpPr>
          <a:xfrm>
            <a:off x="10625137" y="5580062"/>
            <a:ext cx="1566864" cy="1281113"/>
            <a:chOff x="0" y="0"/>
            <a:chExt cx="1566862" cy="1281112"/>
          </a:xfrm>
        </p:grpSpPr>
        <p:pic>
          <p:nvPicPr>
            <p:cNvPr id="458" name="image.png" descr="image.png"/>
            <p:cNvPicPr>
              <a:picLocks noChangeAspect="1"/>
            </p:cNvPicPr>
            <p:nvPr/>
          </p:nvPicPr>
          <p:blipFill>
            <a:blip r:embed="rId3">
              <a:extLst/>
            </a:blip>
            <a:stretch>
              <a:fillRect/>
            </a:stretch>
          </p:blipFill>
          <p:spPr>
            <a:xfrm>
              <a:off x="-1" y="0"/>
              <a:ext cx="1566864" cy="1281113"/>
            </a:xfrm>
            <a:prstGeom prst="rect">
              <a:avLst/>
            </a:prstGeom>
            <a:ln w="12700" cap="flat">
              <a:noFill/>
              <a:miter lim="400000"/>
            </a:ln>
            <a:effectLst/>
          </p:spPr>
        </p:pic>
        <p:pic>
          <p:nvPicPr>
            <p:cNvPr id="459" name="image.png" descr="image.png"/>
            <p:cNvPicPr>
              <a:picLocks noChangeAspect="1"/>
            </p:cNvPicPr>
            <p:nvPr/>
          </p:nvPicPr>
          <p:blipFill>
            <a:blip r:embed="rId4">
              <a:extLst/>
            </a:blip>
            <a:srcRect l="0" t="0" r="0" b="6207"/>
            <a:stretch>
              <a:fillRect/>
            </a:stretch>
          </p:blipFill>
          <p:spPr>
            <a:xfrm>
              <a:off x="101332" y="44050"/>
              <a:ext cx="1365097" cy="865485"/>
            </a:xfrm>
            <a:prstGeom prst="rect">
              <a:avLst/>
            </a:prstGeom>
            <a:ln w="12700" cap="flat">
              <a:noFill/>
              <a:miter lim="400000"/>
            </a:ln>
            <a:effectLst/>
          </p:spPr>
        </p:pic>
      </p:grpSp>
      <p:sp>
        <p:nvSpPr>
          <p:cNvPr id="461"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462" name="Word Embeddings"/>
          <p:cNvSpPr txBox="1"/>
          <p:nvPr/>
        </p:nvSpPr>
        <p:spPr>
          <a:xfrm>
            <a:off x="190182" y="207962"/>
            <a:ext cx="2791084"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Word Embeddings</a:t>
            </a:r>
          </a:p>
        </p:txBody>
      </p:sp>
      <p:sp>
        <p:nvSpPr>
          <p:cNvPr id="463"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464" name="Slide Number"/>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465" name="A word embedding is a learned representation for text where words that have the same meaning have a similar representation.…"/>
          <p:cNvSpPr txBox="1"/>
          <p:nvPr/>
        </p:nvSpPr>
        <p:spPr>
          <a:xfrm>
            <a:off x="250825" y="1714500"/>
            <a:ext cx="4913313" cy="468598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defTabSz="1216025">
              <a:spcBef>
                <a:spcPts val="500"/>
              </a:spcBef>
              <a:buSzPct val="100000"/>
              <a:buChar char="➢"/>
              <a:defRPr b="1" sz="2400">
                <a:solidFill>
                  <a:srgbClr val="FFFFFF"/>
                </a:solidFill>
                <a:latin typeface="Arial"/>
                <a:ea typeface="Arial"/>
                <a:cs typeface="Arial"/>
                <a:sym typeface="Arial"/>
              </a:defRPr>
            </a:pPr>
            <a:r>
              <a:t>A word embedding is a learned representation for text where words that have the same meaning have a similar representation.</a:t>
            </a:r>
          </a:p>
          <a:p>
            <a:pPr marL="342900" indent="-342900" defTabSz="1216025">
              <a:spcBef>
                <a:spcPts val="500"/>
              </a:spcBef>
              <a:buSzPct val="100000"/>
              <a:buChar char="➢"/>
              <a:defRPr b="1" sz="2400">
                <a:solidFill>
                  <a:srgbClr val="FFFFFF"/>
                </a:solidFill>
                <a:latin typeface="Arial"/>
                <a:ea typeface="Arial"/>
                <a:cs typeface="Arial"/>
                <a:sym typeface="Arial"/>
              </a:defRPr>
            </a:pPr>
            <a:r>
              <a:t>It is this approach to representing words and documents that may be considered one of the key breakthroughs of deep learning on challenging natural language processing problems.</a:t>
            </a:r>
          </a:p>
        </p:txBody>
      </p:sp>
      <p:pic>
        <p:nvPicPr>
          <p:cNvPr id="466" name="image.png" descr="image.png"/>
          <p:cNvPicPr>
            <a:picLocks noChangeAspect="1"/>
          </p:cNvPicPr>
          <p:nvPr/>
        </p:nvPicPr>
        <p:blipFill>
          <a:blip r:embed="rId5">
            <a:extLst/>
          </a:blip>
          <a:stretch>
            <a:fillRect/>
          </a:stretch>
        </p:blipFill>
        <p:spPr>
          <a:xfrm>
            <a:off x="5414962" y="1766887"/>
            <a:ext cx="6777038" cy="5060951"/>
          </a:xfrm>
          <a:prstGeom prst="rect">
            <a:avLst/>
          </a:prstGeom>
          <a:ln w="12700">
            <a:miter lim="400000"/>
          </a:ln>
        </p:spPr>
      </p:pic>
    </p:spTree>
  </p:cSld>
  <p:clrMapOvr>
    <a:masterClrMapping/>
  </p:clrMapOvr>
  <p:transition xmlns:p14="http://schemas.microsoft.com/office/powerpoint/2010/main" spd="med" advClick="1"/>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70" name="Rectangle"/>
          <p:cNvSpPr/>
          <p:nvPr/>
        </p:nvSpPr>
        <p:spPr>
          <a:xfrm>
            <a:off x="0" y="1462087"/>
            <a:ext cx="12192000" cy="5538788"/>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473" name="Group"/>
          <p:cNvGrpSpPr/>
          <p:nvPr/>
        </p:nvGrpSpPr>
        <p:grpSpPr>
          <a:xfrm>
            <a:off x="10625137" y="5580062"/>
            <a:ext cx="1566864" cy="1281113"/>
            <a:chOff x="0" y="0"/>
            <a:chExt cx="1566862" cy="1281112"/>
          </a:xfrm>
        </p:grpSpPr>
        <p:pic>
          <p:nvPicPr>
            <p:cNvPr id="471"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472"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474"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475" name="Word Embeddings"/>
          <p:cNvSpPr txBox="1"/>
          <p:nvPr/>
        </p:nvSpPr>
        <p:spPr>
          <a:xfrm>
            <a:off x="190182" y="207962"/>
            <a:ext cx="2791084"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Word Embeddings</a:t>
            </a:r>
          </a:p>
        </p:txBody>
      </p:sp>
      <p:sp>
        <p:nvSpPr>
          <p:cNvPr id="476"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477" name="Slide Number"/>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478" name="image.png" descr="image.png"/>
          <p:cNvPicPr>
            <a:picLocks noChangeAspect="1"/>
          </p:cNvPicPr>
          <p:nvPr/>
        </p:nvPicPr>
        <p:blipFill>
          <a:blip r:embed="rId4">
            <a:extLst/>
          </a:blip>
          <a:stretch>
            <a:fillRect/>
          </a:stretch>
        </p:blipFill>
        <p:spPr>
          <a:xfrm>
            <a:off x="458787" y="1719262"/>
            <a:ext cx="5484813" cy="4491038"/>
          </a:xfrm>
          <a:prstGeom prst="rect">
            <a:avLst/>
          </a:prstGeom>
          <a:ln w="12700">
            <a:miter lim="400000"/>
          </a:ln>
        </p:spPr>
      </p:pic>
      <p:pic>
        <p:nvPicPr>
          <p:cNvPr id="479" name="image.png" descr="image.png"/>
          <p:cNvPicPr>
            <a:picLocks noChangeAspect="1"/>
          </p:cNvPicPr>
          <p:nvPr/>
        </p:nvPicPr>
        <p:blipFill>
          <a:blip r:embed="rId5">
            <a:extLst/>
          </a:blip>
          <a:stretch>
            <a:fillRect/>
          </a:stretch>
        </p:blipFill>
        <p:spPr>
          <a:xfrm>
            <a:off x="6275387" y="2078037"/>
            <a:ext cx="5584826" cy="3133726"/>
          </a:xfrm>
          <a:prstGeom prst="rect">
            <a:avLst/>
          </a:prstGeom>
          <a:ln w="12700">
            <a:miter lim="400000"/>
          </a:ln>
        </p:spPr>
      </p:pic>
    </p:spTree>
  </p:cSld>
  <p:clrMapOvr>
    <a:masterClrMapping/>
  </p:clrMapOvr>
  <p:transition xmlns:p14="http://schemas.microsoft.com/office/powerpoint/2010/main" spd="med" advClick="1"/>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81" name="Rectangle"/>
          <p:cNvSpPr/>
          <p:nvPr/>
        </p:nvSpPr>
        <p:spPr>
          <a:xfrm>
            <a:off x="0" y="1462087"/>
            <a:ext cx="12192000" cy="5538788"/>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484" name="Group"/>
          <p:cNvGrpSpPr/>
          <p:nvPr/>
        </p:nvGrpSpPr>
        <p:grpSpPr>
          <a:xfrm>
            <a:off x="10625137" y="5580062"/>
            <a:ext cx="1566864" cy="1281113"/>
            <a:chOff x="0" y="0"/>
            <a:chExt cx="1566862" cy="1281112"/>
          </a:xfrm>
        </p:grpSpPr>
        <p:pic>
          <p:nvPicPr>
            <p:cNvPr id="482" name="image.png" descr="image.png"/>
            <p:cNvPicPr>
              <a:picLocks noChangeAspect="1"/>
            </p:cNvPicPr>
            <p:nvPr/>
          </p:nvPicPr>
          <p:blipFill>
            <a:blip r:embed="rId3">
              <a:extLst/>
            </a:blip>
            <a:stretch>
              <a:fillRect/>
            </a:stretch>
          </p:blipFill>
          <p:spPr>
            <a:xfrm>
              <a:off x="-1" y="0"/>
              <a:ext cx="1566864" cy="1281113"/>
            </a:xfrm>
            <a:prstGeom prst="rect">
              <a:avLst/>
            </a:prstGeom>
            <a:ln w="12700" cap="flat">
              <a:noFill/>
              <a:miter lim="400000"/>
            </a:ln>
            <a:effectLst/>
          </p:spPr>
        </p:pic>
        <p:pic>
          <p:nvPicPr>
            <p:cNvPr id="483" name="image.png" descr="image.png"/>
            <p:cNvPicPr>
              <a:picLocks noChangeAspect="1"/>
            </p:cNvPicPr>
            <p:nvPr/>
          </p:nvPicPr>
          <p:blipFill>
            <a:blip r:embed="rId4">
              <a:extLst/>
            </a:blip>
            <a:srcRect l="0" t="0" r="0" b="6207"/>
            <a:stretch>
              <a:fillRect/>
            </a:stretch>
          </p:blipFill>
          <p:spPr>
            <a:xfrm>
              <a:off x="101332" y="44050"/>
              <a:ext cx="1365097" cy="865485"/>
            </a:xfrm>
            <a:prstGeom prst="rect">
              <a:avLst/>
            </a:prstGeom>
            <a:ln w="12700" cap="flat">
              <a:noFill/>
              <a:miter lim="400000"/>
            </a:ln>
            <a:effectLst/>
          </p:spPr>
        </p:pic>
      </p:grpSp>
      <p:sp>
        <p:nvSpPr>
          <p:cNvPr id="485"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486" name="Word Embeddings – word2vec"/>
          <p:cNvSpPr txBox="1"/>
          <p:nvPr/>
        </p:nvSpPr>
        <p:spPr>
          <a:xfrm>
            <a:off x="190182" y="207962"/>
            <a:ext cx="4536094"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Word Embeddings – word2vec</a:t>
            </a:r>
          </a:p>
        </p:txBody>
      </p:sp>
      <p:sp>
        <p:nvSpPr>
          <p:cNvPr id="487"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488" name="Slide Number"/>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489" name="Word2Vec is a statistical method for efficiently learning a standalone word embedding from a text corpus.…"/>
          <p:cNvSpPr txBox="1"/>
          <p:nvPr/>
        </p:nvSpPr>
        <p:spPr>
          <a:xfrm>
            <a:off x="250825" y="1624012"/>
            <a:ext cx="11029950" cy="151315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defTabSz="1216025">
              <a:spcBef>
                <a:spcPts val="400"/>
              </a:spcBef>
              <a:buSzPct val="100000"/>
              <a:buChar char="➢"/>
              <a:defRPr b="1" sz="2000">
                <a:solidFill>
                  <a:srgbClr val="FFFFFF"/>
                </a:solidFill>
                <a:latin typeface="Arial"/>
                <a:ea typeface="Arial"/>
                <a:cs typeface="Arial"/>
                <a:sym typeface="Arial"/>
              </a:defRPr>
            </a:pPr>
            <a:r>
              <a:t>Word2Vec is a statistical method for efficiently learning a standalone word embedding from a text corpus.</a:t>
            </a:r>
          </a:p>
          <a:p>
            <a:pPr marL="342900" indent="-342900" defTabSz="1216025">
              <a:spcBef>
                <a:spcPts val="400"/>
              </a:spcBef>
              <a:buSzPct val="100000"/>
              <a:buChar char="➢"/>
              <a:defRPr b="1" sz="2000">
                <a:solidFill>
                  <a:srgbClr val="FFFFFF"/>
                </a:solidFill>
                <a:latin typeface="Arial"/>
                <a:ea typeface="Arial"/>
                <a:cs typeface="Arial"/>
                <a:sym typeface="Arial"/>
              </a:defRPr>
            </a:pPr>
            <a:r>
              <a:t>The CBOW model learns the embedding by predicting the current word based on its context. The continuous skip-gram model learns by predicting the surrounding words given a current word.</a:t>
            </a:r>
          </a:p>
        </p:txBody>
      </p:sp>
      <p:pic>
        <p:nvPicPr>
          <p:cNvPr id="490" name="image.png" descr="image.png"/>
          <p:cNvPicPr>
            <a:picLocks noChangeAspect="1"/>
          </p:cNvPicPr>
          <p:nvPr/>
        </p:nvPicPr>
        <p:blipFill>
          <a:blip r:embed="rId5">
            <a:extLst/>
          </a:blip>
          <a:stretch>
            <a:fillRect/>
          </a:stretch>
        </p:blipFill>
        <p:spPr>
          <a:xfrm>
            <a:off x="3559175" y="3073400"/>
            <a:ext cx="6154738" cy="3662363"/>
          </a:xfrm>
          <a:prstGeom prst="rect">
            <a:avLst/>
          </a:prstGeom>
          <a:ln w="12700">
            <a:miter lim="400000"/>
          </a:ln>
        </p:spPr>
      </p:pic>
    </p:spTree>
  </p:cSld>
  <p:clrMapOvr>
    <a:masterClrMapping/>
  </p:clrMapOvr>
  <p:transition xmlns:p14="http://schemas.microsoft.com/office/powerpoint/2010/main" spd="med" advClick="1"/>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94" name="Rectangle"/>
          <p:cNvSpPr/>
          <p:nvPr/>
        </p:nvSpPr>
        <p:spPr>
          <a:xfrm>
            <a:off x="0" y="1462087"/>
            <a:ext cx="12192000" cy="5538788"/>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497" name="Group"/>
          <p:cNvGrpSpPr/>
          <p:nvPr/>
        </p:nvGrpSpPr>
        <p:grpSpPr>
          <a:xfrm>
            <a:off x="10625137" y="5580062"/>
            <a:ext cx="1566864" cy="1281113"/>
            <a:chOff x="0" y="0"/>
            <a:chExt cx="1566862" cy="1281112"/>
          </a:xfrm>
        </p:grpSpPr>
        <p:pic>
          <p:nvPicPr>
            <p:cNvPr id="495" name="image.png" descr="image.png"/>
            <p:cNvPicPr>
              <a:picLocks noChangeAspect="1"/>
            </p:cNvPicPr>
            <p:nvPr/>
          </p:nvPicPr>
          <p:blipFill>
            <a:blip r:embed="rId3">
              <a:extLst/>
            </a:blip>
            <a:stretch>
              <a:fillRect/>
            </a:stretch>
          </p:blipFill>
          <p:spPr>
            <a:xfrm>
              <a:off x="-1" y="0"/>
              <a:ext cx="1566864" cy="1281113"/>
            </a:xfrm>
            <a:prstGeom prst="rect">
              <a:avLst/>
            </a:prstGeom>
            <a:ln w="12700" cap="flat">
              <a:noFill/>
              <a:miter lim="400000"/>
            </a:ln>
            <a:effectLst/>
          </p:spPr>
        </p:pic>
        <p:pic>
          <p:nvPicPr>
            <p:cNvPr id="496" name="image.png" descr="image.png"/>
            <p:cNvPicPr>
              <a:picLocks noChangeAspect="1"/>
            </p:cNvPicPr>
            <p:nvPr/>
          </p:nvPicPr>
          <p:blipFill>
            <a:blip r:embed="rId4">
              <a:extLst/>
            </a:blip>
            <a:srcRect l="0" t="0" r="0" b="6207"/>
            <a:stretch>
              <a:fillRect/>
            </a:stretch>
          </p:blipFill>
          <p:spPr>
            <a:xfrm>
              <a:off x="101332" y="44050"/>
              <a:ext cx="1365097" cy="865485"/>
            </a:xfrm>
            <a:prstGeom prst="rect">
              <a:avLst/>
            </a:prstGeom>
            <a:ln w="12700" cap="flat">
              <a:noFill/>
              <a:miter lim="400000"/>
            </a:ln>
            <a:effectLst/>
          </p:spPr>
        </p:pic>
      </p:grpSp>
      <p:sp>
        <p:nvSpPr>
          <p:cNvPr id="498"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499" name="Word Embeddings – Universal Language Model Fine-tuning (ULMFiT)"/>
          <p:cNvSpPr txBox="1"/>
          <p:nvPr/>
        </p:nvSpPr>
        <p:spPr>
          <a:xfrm>
            <a:off x="190182" y="207962"/>
            <a:ext cx="10140217"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Word Embeddings – Universal Language Model Fine-tuning (ULMFiT)</a:t>
            </a:r>
          </a:p>
        </p:txBody>
      </p:sp>
      <p:sp>
        <p:nvSpPr>
          <p:cNvPr id="500"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501" name="Slide Number"/>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502" name="image.png" descr="image.png"/>
          <p:cNvPicPr>
            <a:picLocks noChangeAspect="1"/>
          </p:cNvPicPr>
          <p:nvPr/>
        </p:nvPicPr>
        <p:blipFill>
          <a:blip r:embed="rId5">
            <a:extLst/>
          </a:blip>
          <a:stretch>
            <a:fillRect/>
          </a:stretch>
        </p:blipFill>
        <p:spPr>
          <a:xfrm>
            <a:off x="1847850" y="1673225"/>
            <a:ext cx="8297863" cy="4976813"/>
          </a:xfrm>
          <a:prstGeom prst="rect">
            <a:avLst/>
          </a:prstGeom>
          <a:ln w="12700">
            <a:miter lim="400000"/>
          </a:ln>
        </p:spPr>
      </p:pic>
    </p:spTree>
  </p:cSld>
  <p:clrMapOvr>
    <a:masterClrMapping/>
  </p:clrMapOvr>
  <p:transition xmlns:p14="http://schemas.microsoft.com/office/powerpoint/2010/main" spd="med" advClick="1"/>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06" name="Rectangle"/>
          <p:cNvSpPr/>
          <p:nvPr/>
        </p:nvSpPr>
        <p:spPr>
          <a:xfrm>
            <a:off x="0" y="1462087"/>
            <a:ext cx="12192000" cy="5538788"/>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509" name="Group"/>
          <p:cNvGrpSpPr/>
          <p:nvPr/>
        </p:nvGrpSpPr>
        <p:grpSpPr>
          <a:xfrm>
            <a:off x="10625137" y="5580062"/>
            <a:ext cx="1566864" cy="1281113"/>
            <a:chOff x="0" y="0"/>
            <a:chExt cx="1566862" cy="1281112"/>
          </a:xfrm>
        </p:grpSpPr>
        <p:pic>
          <p:nvPicPr>
            <p:cNvPr id="507" name="image.png" descr="image.png"/>
            <p:cNvPicPr>
              <a:picLocks noChangeAspect="1"/>
            </p:cNvPicPr>
            <p:nvPr/>
          </p:nvPicPr>
          <p:blipFill>
            <a:blip r:embed="rId3">
              <a:extLst/>
            </a:blip>
            <a:stretch>
              <a:fillRect/>
            </a:stretch>
          </p:blipFill>
          <p:spPr>
            <a:xfrm>
              <a:off x="-1" y="0"/>
              <a:ext cx="1566864" cy="1281113"/>
            </a:xfrm>
            <a:prstGeom prst="rect">
              <a:avLst/>
            </a:prstGeom>
            <a:ln w="12700" cap="flat">
              <a:noFill/>
              <a:miter lim="400000"/>
            </a:ln>
            <a:effectLst/>
          </p:spPr>
        </p:pic>
        <p:pic>
          <p:nvPicPr>
            <p:cNvPr id="508" name="image.png" descr="image.png"/>
            <p:cNvPicPr>
              <a:picLocks noChangeAspect="1"/>
            </p:cNvPicPr>
            <p:nvPr/>
          </p:nvPicPr>
          <p:blipFill>
            <a:blip r:embed="rId4">
              <a:extLst/>
            </a:blip>
            <a:srcRect l="0" t="0" r="0" b="6207"/>
            <a:stretch>
              <a:fillRect/>
            </a:stretch>
          </p:blipFill>
          <p:spPr>
            <a:xfrm>
              <a:off x="101332" y="44050"/>
              <a:ext cx="1365097" cy="865485"/>
            </a:xfrm>
            <a:prstGeom prst="rect">
              <a:avLst/>
            </a:prstGeom>
            <a:ln w="12700" cap="flat">
              <a:noFill/>
              <a:miter lim="400000"/>
            </a:ln>
            <a:effectLst/>
          </p:spPr>
        </p:pic>
      </p:grpSp>
      <p:sp>
        <p:nvSpPr>
          <p:cNvPr id="510"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511" name="Word Embeddings – ELMO"/>
          <p:cNvSpPr txBox="1"/>
          <p:nvPr/>
        </p:nvSpPr>
        <p:spPr>
          <a:xfrm>
            <a:off x="190182" y="207962"/>
            <a:ext cx="4010433"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Word Embeddings – ELMO</a:t>
            </a:r>
          </a:p>
        </p:txBody>
      </p:sp>
      <p:sp>
        <p:nvSpPr>
          <p:cNvPr id="512"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513" name="Slide Number"/>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514" name="image.png" descr="image.png"/>
          <p:cNvPicPr>
            <a:picLocks noChangeAspect="1"/>
          </p:cNvPicPr>
          <p:nvPr/>
        </p:nvPicPr>
        <p:blipFill>
          <a:blip r:embed="rId5">
            <a:extLst/>
          </a:blip>
          <a:stretch>
            <a:fillRect/>
          </a:stretch>
        </p:blipFill>
        <p:spPr>
          <a:xfrm>
            <a:off x="1330325" y="1570037"/>
            <a:ext cx="9194800" cy="4786313"/>
          </a:xfrm>
          <a:prstGeom prst="rect">
            <a:avLst/>
          </a:prstGeom>
          <a:ln w="12700">
            <a:miter lim="400000"/>
          </a:ln>
        </p:spPr>
      </p:pic>
    </p:spTree>
  </p:cSld>
  <p:clrMapOvr>
    <a:masterClrMapping/>
  </p:clrMapOvr>
  <p:transition xmlns:p14="http://schemas.microsoft.com/office/powerpoint/2010/main" spd="med" advClick="1"/>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18" name="Rectangle"/>
          <p:cNvSpPr/>
          <p:nvPr/>
        </p:nvSpPr>
        <p:spPr>
          <a:xfrm>
            <a:off x="0" y="1462087"/>
            <a:ext cx="12192000" cy="5538788"/>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521" name="Group"/>
          <p:cNvGrpSpPr/>
          <p:nvPr/>
        </p:nvGrpSpPr>
        <p:grpSpPr>
          <a:xfrm>
            <a:off x="10625137" y="5580062"/>
            <a:ext cx="1566864" cy="1281113"/>
            <a:chOff x="0" y="0"/>
            <a:chExt cx="1566862" cy="1281112"/>
          </a:xfrm>
        </p:grpSpPr>
        <p:pic>
          <p:nvPicPr>
            <p:cNvPr id="519" name="image.png" descr="image.png"/>
            <p:cNvPicPr>
              <a:picLocks noChangeAspect="1"/>
            </p:cNvPicPr>
            <p:nvPr/>
          </p:nvPicPr>
          <p:blipFill>
            <a:blip r:embed="rId3">
              <a:extLst/>
            </a:blip>
            <a:stretch>
              <a:fillRect/>
            </a:stretch>
          </p:blipFill>
          <p:spPr>
            <a:xfrm>
              <a:off x="-1" y="0"/>
              <a:ext cx="1566864" cy="1281113"/>
            </a:xfrm>
            <a:prstGeom prst="rect">
              <a:avLst/>
            </a:prstGeom>
            <a:ln w="12700" cap="flat">
              <a:noFill/>
              <a:miter lim="400000"/>
            </a:ln>
            <a:effectLst/>
          </p:spPr>
        </p:pic>
        <p:pic>
          <p:nvPicPr>
            <p:cNvPr id="520" name="image.png" descr="image.png"/>
            <p:cNvPicPr>
              <a:picLocks noChangeAspect="1"/>
            </p:cNvPicPr>
            <p:nvPr/>
          </p:nvPicPr>
          <p:blipFill>
            <a:blip r:embed="rId4">
              <a:extLst/>
            </a:blip>
            <a:srcRect l="0" t="0" r="0" b="6207"/>
            <a:stretch>
              <a:fillRect/>
            </a:stretch>
          </p:blipFill>
          <p:spPr>
            <a:xfrm>
              <a:off x="101332" y="44050"/>
              <a:ext cx="1365097" cy="865485"/>
            </a:xfrm>
            <a:prstGeom prst="rect">
              <a:avLst/>
            </a:prstGeom>
            <a:ln w="12700" cap="flat">
              <a:noFill/>
              <a:miter lim="400000"/>
            </a:ln>
            <a:effectLst/>
          </p:spPr>
        </p:pic>
      </p:grpSp>
      <p:sp>
        <p:nvSpPr>
          <p:cNvPr id="522"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523" name="Word Embeddings – BERT"/>
          <p:cNvSpPr txBox="1"/>
          <p:nvPr/>
        </p:nvSpPr>
        <p:spPr>
          <a:xfrm>
            <a:off x="190182" y="207962"/>
            <a:ext cx="3959682"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Word Embeddings – BERT</a:t>
            </a:r>
          </a:p>
        </p:txBody>
      </p:sp>
      <p:sp>
        <p:nvSpPr>
          <p:cNvPr id="524"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525" name="Slide Number"/>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526" name="image.png" descr="image.png"/>
          <p:cNvPicPr>
            <a:picLocks noChangeAspect="1"/>
          </p:cNvPicPr>
          <p:nvPr/>
        </p:nvPicPr>
        <p:blipFill>
          <a:blip r:embed="rId5">
            <a:extLst/>
          </a:blip>
          <a:stretch>
            <a:fillRect/>
          </a:stretch>
        </p:blipFill>
        <p:spPr>
          <a:xfrm>
            <a:off x="838200" y="1565275"/>
            <a:ext cx="9574213" cy="4811713"/>
          </a:xfrm>
          <a:prstGeom prst="rect">
            <a:avLst/>
          </a:prstGeom>
          <a:ln w="12700">
            <a:miter lim="400000"/>
          </a:ln>
        </p:spPr>
      </p:pic>
    </p:spTree>
  </p:cSld>
  <p:clrMapOvr>
    <a:masterClrMapping/>
  </p:clrMapOvr>
  <p:transition xmlns:p14="http://schemas.microsoft.com/office/powerpoint/2010/main" spd="med" advClick="1"/>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30" name="Rectangle"/>
          <p:cNvSpPr/>
          <p:nvPr/>
        </p:nvSpPr>
        <p:spPr>
          <a:xfrm>
            <a:off x="0" y="1462087"/>
            <a:ext cx="12192000" cy="5538788"/>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533" name="Group"/>
          <p:cNvGrpSpPr/>
          <p:nvPr/>
        </p:nvGrpSpPr>
        <p:grpSpPr>
          <a:xfrm>
            <a:off x="10625137" y="5580062"/>
            <a:ext cx="1566864" cy="1281113"/>
            <a:chOff x="0" y="0"/>
            <a:chExt cx="1566862" cy="1281112"/>
          </a:xfrm>
        </p:grpSpPr>
        <p:pic>
          <p:nvPicPr>
            <p:cNvPr id="531"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532"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534"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535" name="Next direction of document representation"/>
          <p:cNvSpPr txBox="1"/>
          <p:nvPr/>
        </p:nvSpPr>
        <p:spPr>
          <a:xfrm>
            <a:off x="190182" y="207962"/>
            <a:ext cx="6251784"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Next direction of document representation</a:t>
            </a:r>
          </a:p>
        </p:txBody>
      </p:sp>
      <p:sp>
        <p:nvSpPr>
          <p:cNvPr id="536"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537" name="Slide Number"/>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538" name="Training on more data?…"/>
          <p:cNvSpPr txBox="1"/>
          <p:nvPr/>
        </p:nvSpPr>
        <p:spPr>
          <a:xfrm>
            <a:off x="669925" y="1951037"/>
            <a:ext cx="10509250" cy="284129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1" indent="742950" defTabSz="1216025">
              <a:spcBef>
                <a:spcPts val="500"/>
              </a:spcBef>
              <a:defRPr b="1" sz="2800">
                <a:solidFill>
                  <a:srgbClr val="FFFFFF"/>
                </a:solidFill>
                <a:latin typeface="Arial"/>
                <a:ea typeface="Arial"/>
                <a:cs typeface="Arial"/>
                <a:sym typeface="Arial"/>
              </a:defRPr>
            </a:pPr>
          </a:p>
          <a:p>
            <a:pPr lvl="1" marL="742950" indent="0" defTabSz="1216025">
              <a:spcBef>
                <a:spcPts val="600"/>
              </a:spcBef>
              <a:buSzPct val="100000"/>
              <a:buChar char="➢"/>
              <a:defRPr b="1" sz="2800">
                <a:solidFill>
                  <a:srgbClr val="FFFFFF"/>
                </a:solidFill>
                <a:latin typeface="Arial"/>
                <a:ea typeface="Arial"/>
                <a:cs typeface="Arial"/>
                <a:sym typeface="Arial"/>
              </a:defRPr>
            </a:pPr>
            <a:r>
              <a:t>Training on more data?</a:t>
            </a:r>
          </a:p>
          <a:p>
            <a:pPr lvl="1" marL="742950" indent="0" defTabSz="1216025">
              <a:spcBef>
                <a:spcPts val="600"/>
              </a:spcBef>
              <a:buSzPct val="100000"/>
              <a:buChar char="➢"/>
              <a:defRPr b="1" sz="2800">
                <a:solidFill>
                  <a:srgbClr val="FFFFFF"/>
                </a:solidFill>
                <a:latin typeface="Arial"/>
                <a:ea typeface="Arial"/>
                <a:cs typeface="Arial"/>
                <a:sym typeface="Arial"/>
              </a:defRPr>
            </a:pPr>
            <a:r>
              <a:t>Domain specific text representation?</a:t>
            </a:r>
          </a:p>
          <a:p>
            <a:pPr lvl="1" marL="742950" indent="0" defTabSz="1216025">
              <a:spcBef>
                <a:spcPts val="600"/>
              </a:spcBef>
              <a:buSzPct val="100000"/>
              <a:buChar char="➢"/>
              <a:defRPr b="1" sz="2800">
                <a:solidFill>
                  <a:srgbClr val="FFFFFF"/>
                </a:solidFill>
                <a:latin typeface="Arial"/>
                <a:ea typeface="Arial"/>
                <a:cs typeface="Arial"/>
                <a:sym typeface="Arial"/>
              </a:defRPr>
            </a:pPr>
            <a:r>
              <a:t>Transfer learning?</a:t>
            </a:r>
          </a:p>
          <a:p>
            <a:pPr lvl="1" marL="742950" indent="0" defTabSz="1216025">
              <a:spcBef>
                <a:spcPts val="600"/>
              </a:spcBef>
              <a:buSzPct val="100000"/>
              <a:buChar char="➢"/>
              <a:defRPr b="1" sz="2800">
                <a:solidFill>
                  <a:srgbClr val="FFFFFF"/>
                </a:solidFill>
                <a:latin typeface="Arial"/>
                <a:ea typeface="Arial"/>
                <a:cs typeface="Arial"/>
                <a:sym typeface="Arial"/>
              </a:defRPr>
            </a:pPr>
            <a:r>
              <a:t>Graph Neural Network?</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53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38" grpId="1"/>
    </p:bldLst>
  </p:timing>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542" name="Group"/>
          <p:cNvGrpSpPr/>
          <p:nvPr/>
        </p:nvGrpSpPr>
        <p:grpSpPr>
          <a:xfrm>
            <a:off x="6804024" y="3178174"/>
            <a:ext cx="5578477" cy="3481389"/>
            <a:chOff x="0" y="0"/>
            <a:chExt cx="5578475" cy="3481387"/>
          </a:xfrm>
        </p:grpSpPr>
        <p:pic>
          <p:nvPicPr>
            <p:cNvPr id="540" name="image.png" descr="image.png"/>
            <p:cNvPicPr>
              <a:picLocks noChangeAspect="1"/>
            </p:cNvPicPr>
            <p:nvPr/>
          </p:nvPicPr>
          <p:blipFill>
            <a:blip r:embed="rId2">
              <a:extLst/>
            </a:blip>
            <a:srcRect l="0" t="0" r="0" b="52040"/>
            <a:stretch>
              <a:fillRect/>
            </a:stretch>
          </p:blipFill>
          <p:spPr>
            <a:xfrm>
              <a:off x="6646" y="0"/>
              <a:ext cx="5571830" cy="1720707"/>
            </a:xfrm>
            <a:prstGeom prst="rect">
              <a:avLst/>
            </a:prstGeom>
            <a:ln w="12700" cap="flat">
              <a:noFill/>
              <a:miter lim="400000"/>
            </a:ln>
            <a:effectLst/>
          </p:spPr>
        </p:pic>
        <p:pic>
          <p:nvPicPr>
            <p:cNvPr id="541" name="image.png" descr="image.png"/>
            <p:cNvPicPr>
              <a:picLocks noChangeAspect="1"/>
            </p:cNvPicPr>
            <p:nvPr/>
          </p:nvPicPr>
          <p:blipFill>
            <a:blip r:embed="rId2">
              <a:extLst/>
            </a:blip>
            <a:srcRect l="0" t="50633" r="2627" b="0"/>
            <a:stretch>
              <a:fillRect/>
            </a:stretch>
          </p:blipFill>
          <p:spPr>
            <a:xfrm>
              <a:off x="-1" y="1710252"/>
              <a:ext cx="5425464" cy="1771136"/>
            </a:xfrm>
            <a:prstGeom prst="rect">
              <a:avLst/>
            </a:prstGeom>
            <a:ln w="12700" cap="flat">
              <a:noFill/>
              <a:miter lim="400000"/>
            </a:ln>
            <a:effectLst/>
          </p:spPr>
        </p:pic>
      </p:grpSp>
      <p:pic>
        <p:nvPicPr>
          <p:cNvPr id="543" name="image.png" descr="image.png"/>
          <p:cNvPicPr>
            <a:picLocks noChangeAspect="1"/>
          </p:cNvPicPr>
          <p:nvPr/>
        </p:nvPicPr>
        <p:blipFill>
          <a:blip r:embed="rId3">
            <a:extLst/>
          </a:blip>
          <a:stretch>
            <a:fillRect/>
          </a:stretch>
        </p:blipFill>
        <p:spPr>
          <a:xfrm>
            <a:off x="2632075" y="354012"/>
            <a:ext cx="7481888" cy="3743326"/>
          </a:xfrm>
          <a:prstGeom prst="rect">
            <a:avLst/>
          </a:prstGeom>
          <a:ln w="12700">
            <a:miter lim="400000"/>
          </a:ln>
        </p:spPr>
      </p:pic>
      <p:sp>
        <p:nvSpPr>
          <p:cNvPr id="544" name="Rectangle"/>
          <p:cNvSpPr/>
          <p:nvPr/>
        </p:nvSpPr>
        <p:spPr>
          <a:xfrm>
            <a:off x="0" y="4902200"/>
            <a:ext cx="12192000" cy="1955800"/>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545" name="4"/>
          <p:cNvSpPr txBox="1"/>
          <p:nvPr/>
        </p:nvSpPr>
        <p:spPr>
          <a:xfrm>
            <a:off x="45720" y="1571625"/>
            <a:ext cx="1403985" cy="53365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4400">
                <a:solidFill>
                  <a:srgbClr val="1C4885"/>
                </a:solidFill>
                <a:latin typeface="Microsoft YaHei"/>
                <a:ea typeface="Microsoft YaHei"/>
                <a:cs typeface="Microsoft YaHei"/>
                <a:sym typeface="Microsoft YaHei"/>
              </a:defRPr>
            </a:lvl1pPr>
          </a:lstStyle>
          <a:p>
            <a:pPr/>
            <a:r>
              <a:t>4</a:t>
            </a:r>
          </a:p>
        </p:txBody>
      </p:sp>
      <p:sp>
        <p:nvSpPr>
          <p:cNvPr id="546" name="Python for feature extraction"/>
          <p:cNvSpPr txBox="1"/>
          <p:nvPr/>
        </p:nvSpPr>
        <p:spPr>
          <a:xfrm>
            <a:off x="2677794" y="3975100"/>
            <a:ext cx="9066849" cy="7645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4400">
                <a:solidFill>
                  <a:srgbClr val="1C4885"/>
                </a:solidFill>
                <a:latin typeface="Microsoft YaHei"/>
                <a:ea typeface="Microsoft YaHei"/>
                <a:cs typeface="Microsoft YaHei"/>
                <a:sym typeface="Microsoft YaHei"/>
              </a:defRPr>
            </a:lvl1pPr>
          </a:lstStyle>
          <a:p>
            <a:pPr/>
            <a:r>
              <a:t>Python for feature extraction</a:t>
            </a:r>
          </a:p>
        </p:txBody>
      </p:sp>
      <p:sp>
        <p:nvSpPr>
          <p:cNvPr id="547" name="Shape"/>
          <p:cNvSpPr/>
          <p:nvPr/>
        </p:nvSpPr>
        <p:spPr>
          <a:xfrm>
            <a:off x="168275" y="4889500"/>
            <a:ext cx="2484438" cy="92868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21600" y="4833"/>
                </a:lnTo>
                <a:lnTo>
                  <a:pt x="18111" y="4833"/>
                </a:lnTo>
                <a:lnTo>
                  <a:pt x="18111" y="21600"/>
                </a:lnTo>
                <a:lnTo>
                  <a:pt x="12637" y="21600"/>
                </a:lnTo>
                <a:lnTo>
                  <a:pt x="12637" y="4833"/>
                </a:lnTo>
                <a:lnTo>
                  <a:pt x="0" y="4833"/>
                </a:lnTo>
                <a:lnTo>
                  <a:pt x="0" y="0"/>
                </a:lnTo>
                <a:close/>
              </a:path>
            </a:pathLst>
          </a:custGeom>
          <a:solidFill>
            <a:srgbClr val="FFFFFF"/>
          </a:solidFill>
          <a:ln w="12700">
            <a:miter lim="400000"/>
          </a:ln>
        </p:spPr>
        <p:txBody>
          <a:bodyPr lIns="45719" rIns="45719"/>
          <a:lstStyle/>
          <a:p>
            <a:pPr/>
          </a:p>
        </p:txBody>
      </p:sp>
      <p:sp>
        <p:nvSpPr>
          <p:cNvPr id="548"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549" name="Slide Number"/>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51" name="Rectangle"/>
          <p:cNvSpPr/>
          <p:nvPr/>
        </p:nvSpPr>
        <p:spPr>
          <a:xfrm>
            <a:off x="0" y="1462087"/>
            <a:ext cx="12192000" cy="5538788"/>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554" name="Group"/>
          <p:cNvGrpSpPr/>
          <p:nvPr/>
        </p:nvGrpSpPr>
        <p:grpSpPr>
          <a:xfrm>
            <a:off x="10625137" y="5580062"/>
            <a:ext cx="1566864" cy="1281113"/>
            <a:chOff x="0" y="0"/>
            <a:chExt cx="1566862" cy="1281112"/>
          </a:xfrm>
        </p:grpSpPr>
        <p:pic>
          <p:nvPicPr>
            <p:cNvPr id="552"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553"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555"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556" name="Python for feature extraction - Bag-of-Words and tfidf"/>
          <p:cNvSpPr txBox="1"/>
          <p:nvPr/>
        </p:nvSpPr>
        <p:spPr>
          <a:xfrm>
            <a:off x="190182" y="207962"/>
            <a:ext cx="7837250"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Python for feature extraction - Bag-of-Words and tfidf</a:t>
            </a:r>
          </a:p>
        </p:txBody>
      </p:sp>
      <p:sp>
        <p:nvSpPr>
          <p:cNvPr id="557"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558" name="Slide Number"/>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559" name="Collected text files → processed/normalized text data → extracted features → model…"/>
          <p:cNvSpPr txBox="1"/>
          <p:nvPr/>
        </p:nvSpPr>
        <p:spPr>
          <a:xfrm>
            <a:off x="379412" y="2422525"/>
            <a:ext cx="11029951" cy="268279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defTabSz="1216025">
              <a:spcBef>
                <a:spcPts val="600"/>
              </a:spcBef>
              <a:buSzPct val="100000"/>
              <a:buChar char="➢"/>
              <a:defRPr b="1" sz="2800">
                <a:solidFill>
                  <a:srgbClr val="FFFFFF"/>
                </a:solidFill>
                <a:latin typeface="Arial"/>
                <a:ea typeface="Arial"/>
                <a:cs typeface="Arial"/>
                <a:sym typeface="Arial"/>
              </a:defRPr>
            </a:pPr>
            <a:r>
              <a:t>Collected text files → processed/normalized text data → extracted features → model</a:t>
            </a:r>
          </a:p>
          <a:p>
            <a:pPr marL="342900" indent="-342900" defTabSz="1216025">
              <a:spcBef>
                <a:spcPts val="600"/>
              </a:spcBef>
              <a:buSzPct val="100000"/>
              <a:buChar char="➢"/>
              <a:defRPr b="1" sz="2800">
                <a:solidFill>
                  <a:srgbClr val="FFFFFF"/>
                </a:solidFill>
                <a:latin typeface="Arial"/>
                <a:ea typeface="Arial"/>
                <a:cs typeface="Arial"/>
                <a:sym typeface="Arial"/>
              </a:defRPr>
            </a:pPr>
          </a:p>
          <a:p>
            <a:pPr marL="342900" indent="-342900" defTabSz="1216025">
              <a:spcBef>
                <a:spcPts val="600"/>
              </a:spcBef>
              <a:buSzPct val="100000"/>
              <a:buChar char="➢"/>
              <a:defRPr b="1" sz="2800">
                <a:solidFill>
                  <a:srgbClr val="FFFFFF"/>
                </a:solidFill>
                <a:latin typeface="Arial"/>
                <a:ea typeface="Arial"/>
                <a:cs typeface="Arial"/>
                <a:sym typeface="Arial"/>
              </a:defRPr>
            </a:pPr>
            <a:r>
              <a:t>Tutorial: Text Processing and Feature Extraction for Quantitative Text Analysis</a:t>
            </a:r>
          </a:p>
          <a:p>
            <a:pPr marL="342900" indent="-342900" defTabSz="1216025">
              <a:spcBef>
                <a:spcPts val="600"/>
              </a:spcBef>
              <a:buSzPct val="100000"/>
              <a:buChar char="➢"/>
              <a:defRPr b="1" sz="2800">
                <a:solidFill>
                  <a:srgbClr val="FFFFFF"/>
                </a:solidFill>
                <a:latin typeface="Arial"/>
                <a:ea typeface="Arial"/>
                <a:cs typeface="Arial"/>
                <a:sym typeface="Arial"/>
              </a:defRPr>
            </a:pPr>
            <a:r>
              <a:t>Link: </a:t>
            </a:r>
            <a:r>
              <a:rPr u="sng">
                <a:solidFill>
                  <a:srgbClr val="0563C1"/>
                </a:solidFill>
                <a:uFill>
                  <a:solidFill>
                    <a:srgbClr val="0563C1"/>
                  </a:solidFill>
                </a:uFill>
                <a:hlinkClick r:id="rId4" invalidUrl="" action="" tgtFrame="" tooltip="" history="1" highlightClick="0" endSnd="0"/>
              </a:rPr>
              <a:t>http://dsspace.wzb.eu/pyug/text_proc_feature_extraction/</a:t>
            </a:r>
            <a:r>
              <a:t> </a:t>
            </a:r>
          </a:p>
        </p:txBody>
      </p:sp>
    </p:spTree>
  </p:cSld>
  <p:clrMapOvr>
    <a:masterClrMapping/>
  </p:clrMapOvr>
  <p:transition xmlns:p14="http://schemas.microsoft.com/office/powerpoint/2010/main" spd="med" advClick="1"/>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61" name="Rectangle"/>
          <p:cNvSpPr/>
          <p:nvPr/>
        </p:nvSpPr>
        <p:spPr>
          <a:xfrm>
            <a:off x="0" y="1462087"/>
            <a:ext cx="12192000" cy="5538788"/>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564" name="Group"/>
          <p:cNvGrpSpPr/>
          <p:nvPr/>
        </p:nvGrpSpPr>
        <p:grpSpPr>
          <a:xfrm>
            <a:off x="10625137" y="5580062"/>
            <a:ext cx="1566864" cy="1281113"/>
            <a:chOff x="0" y="0"/>
            <a:chExt cx="1566862" cy="1281112"/>
          </a:xfrm>
        </p:grpSpPr>
        <p:pic>
          <p:nvPicPr>
            <p:cNvPr id="562"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563"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565"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566" name="Python for feature extraction - Linguistic Features"/>
          <p:cNvSpPr txBox="1"/>
          <p:nvPr/>
        </p:nvSpPr>
        <p:spPr>
          <a:xfrm>
            <a:off x="190182" y="207962"/>
            <a:ext cx="7335848"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Python for feature extraction - Linguistic Features</a:t>
            </a:r>
          </a:p>
        </p:txBody>
      </p:sp>
      <p:sp>
        <p:nvSpPr>
          <p:cNvPr id="567"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568" name="Slide Number"/>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569" name="Linguistic Features with Spacy Tutorial:…"/>
          <p:cNvSpPr txBox="1"/>
          <p:nvPr/>
        </p:nvSpPr>
        <p:spPr>
          <a:xfrm>
            <a:off x="379412" y="2509837"/>
            <a:ext cx="11029951" cy="366628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defTabSz="1216025">
              <a:spcBef>
                <a:spcPts val="600"/>
              </a:spcBef>
              <a:buSzPct val="100000"/>
              <a:buChar char="➢"/>
              <a:defRPr b="1" sz="2800">
                <a:solidFill>
                  <a:srgbClr val="FFFFFF"/>
                </a:solidFill>
                <a:latin typeface="Arial"/>
                <a:ea typeface="Arial"/>
                <a:cs typeface="Arial"/>
                <a:sym typeface="Arial"/>
              </a:defRPr>
            </a:pPr>
            <a:r>
              <a:t>Linguistic Features with Spacy Tutorial:</a:t>
            </a:r>
          </a:p>
          <a:p>
            <a:pPr marL="342900" indent="-342900" defTabSz="1216025">
              <a:spcBef>
                <a:spcPts val="600"/>
              </a:spcBef>
              <a:buSzPct val="100000"/>
              <a:buChar char="➢"/>
              <a:defRPr b="1" sz="2800">
                <a:solidFill>
                  <a:srgbClr val="FFFFFF"/>
                </a:solidFill>
                <a:latin typeface="Arial"/>
                <a:ea typeface="Arial"/>
                <a:cs typeface="Arial"/>
                <a:sym typeface="Arial"/>
              </a:defRPr>
            </a:pPr>
            <a:r>
              <a:t>Link: </a:t>
            </a:r>
            <a:r>
              <a:rPr u="sng">
                <a:solidFill>
                  <a:srgbClr val="0563C1"/>
                </a:solidFill>
                <a:uFill>
                  <a:solidFill>
                    <a:srgbClr val="0563C1"/>
                  </a:solidFill>
                </a:uFill>
                <a:hlinkClick r:id="rId4" invalidUrl="" action="" tgtFrame="" tooltip="" history="1" highlightClick="0" endSnd="0"/>
              </a:rPr>
              <a:t>https://spacy.io/usage/linguistic-features</a:t>
            </a:r>
            <a:r>
              <a:t> </a:t>
            </a:r>
          </a:p>
          <a:p>
            <a:pPr marL="342900" indent="-342900" defTabSz="1216025">
              <a:spcBef>
                <a:spcPts val="600"/>
              </a:spcBef>
              <a:buSzPct val="100000"/>
              <a:buChar char="➢"/>
              <a:defRPr b="1" sz="2800">
                <a:solidFill>
                  <a:srgbClr val="FFFFFF"/>
                </a:solidFill>
                <a:latin typeface="Arial"/>
                <a:ea typeface="Arial"/>
                <a:cs typeface="Arial"/>
                <a:sym typeface="Arial"/>
              </a:defRPr>
            </a:pPr>
          </a:p>
          <a:p>
            <a:pPr marL="342900" indent="-342900" defTabSz="1216025">
              <a:spcBef>
                <a:spcPts val="600"/>
              </a:spcBef>
              <a:buSzPct val="100000"/>
              <a:buChar char="➢"/>
              <a:defRPr b="1" sz="2800">
                <a:solidFill>
                  <a:srgbClr val="FFFFFF"/>
                </a:solidFill>
                <a:latin typeface="Arial"/>
                <a:ea typeface="Arial"/>
                <a:cs typeface="Arial"/>
                <a:sym typeface="Arial"/>
              </a:defRPr>
            </a:pPr>
            <a:r>
              <a:t>A Python package for clinical linguistic feature extraction in multiple languages:</a:t>
            </a:r>
          </a:p>
          <a:p>
            <a:pPr marL="342900" indent="-342900" defTabSz="1216025">
              <a:spcBef>
                <a:spcPts val="600"/>
              </a:spcBef>
              <a:buSzPct val="100000"/>
              <a:buChar char="➢"/>
              <a:defRPr b="1" sz="2800">
                <a:solidFill>
                  <a:srgbClr val="FFFFFF"/>
                </a:solidFill>
                <a:latin typeface="Arial"/>
                <a:ea typeface="Arial"/>
                <a:cs typeface="Arial"/>
                <a:sym typeface="Arial"/>
              </a:defRPr>
            </a:pPr>
            <a:r>
              <a:t>Link: </a:t>
            </a:r>
            <a:r>
              <a:rPr u="sng">
                <a:solidFill>
                  <a:srgbClr val="0563C1"/>
                </a:solidFill>
                <a:uFill>
                  <a:solidFill>
                    <a:srgbClr val="0563C1"/>
                  </a:solidFill>
                </a:uFill>
                <a:hlinkClick r:id="rId5" invalidUrl="" action="" tgtFrame="" tooltip="" history="1" highlightClick="0" endSnd="0"/>
              </a:rPr>
              <a:t>https://github.com/novoic/blabla</a:t>
            </a:r>
            <a:r>
              <a:t> </a:t>
            </a:r>
          </a:p>
          <a:p>
            <a:pPr marL="342900" indent="-342900" defTabSz="1216025">
              <a:spcBef>
                <a:spcPts val="600"/>
              </a:spcBef>
              <a:buSzPct val="100000"/>
              <a:buChar char="➢"/>
              <a:defRPr b="1" sz="2800">
                <a:solidFill>
                  <a:srgbClr val="FFFFFF"/>
                </a:solidFill>
                <a:latin typeface="Arial"/>
                <a:ea typeface="Arial"/>
                <a:cs typeface="Arial"/>
                <a:sym typeface="Arial"/>
              </a:defRPr>
            </a:pPr>
            <a:r>
              <a:rPr u="sng">
                <a:solidFill>
                  <a:srgbClr val="0563C1"/>
                </a:solidFill>
                <a:uFill>
                  <a:solidFill>
                    <a:srgbClr val="0563C1"/>
                  </a:solidFill>
                </a:uFill>
                <a:hlinkClick r:id="rId6" invalidUrl="" action="" tgtFrame="" tooltip="" history="1" highlightClick="0" endSnd="0"/>
              </a:rPr>
              <a:t>https://github.com/novoic/blabla/tree/master/blabla/sentence_processor</a:t>
            </a:r>
            <a:r>
              <a:t> </a:t>
            </a:r>
          </a:p>
        </p:txBody>
      </p:sp>
    </p:spTree>
  </p:cSld>
  <p:clrMapOvr>
    <a:masterClrMapping/>
  </p:clrMapOvr>
  <p:transition xmlns:p14="http://schemas.microsoft.com/office/powerpoint/2010/main" spd="med" advClick="1"/>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71" name="Rectangle"/>
          <p:cNvSpPr/>
          <p:nvPr/>
        </p:nvSpPr>
        <p:spPr>
          <a:xfrm>
            <a:off x="0" y="1462087"/>
            <a:ext cx="12192000" cy="5538788"/>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574" name="Group"/>
          <p:cNvGrpSpPr/>
          <p:nvPr/>
        </p:nvGrpSpPr>
        <p:grpSpPr>
          <a:xfrm>
            <a:off x="10625137" y="5580062"/>
            <a:ext cx="1566864" cy="1281113"/>
            <a:chOff x="0" y="0"/>
            <a:chExt cx="1566862" cy="1281112"/>
          </a:xfrm>
        </p:grpSpPr>
        <p:pic>
          <p:nvPicPr>
            <p:cNvPr id="572"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573"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575"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576" name="Python for feature extraction – Word2Vec"/>
          <p:cNvSpPr txBox="1"/>
          <p:nvPr/>
        </p:nvSpPr>
        <p:spPr>
          <a:xfrm>
            <a:off x="190182" y="207962"/>
            <a:ext cx="6077804"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Python for feature extraction – Word2Vec</a:t>
            </a:r>
          </a:p>
        </p:txBody>
      </p:sp>
      <p:sp>
        <p:nvSpPr>
          <p:cNvPr id="577"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578" name="Slide Number"/>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579" name="Exploring Word2Vec:…"/>
          <p:cNvSpPr txBox="1"/>
          <p:nvPr/>
        </p:nvSpPr>
        <p:spPr>
          <a:xfrm>
            <a:off x="323850" y="1970087"/>
            <a:ext cx="11029950" cy="366628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defTabSz="1216025">
              <a:spcBef>
                <a:spcPts val="600"/>
              </a:spcBef>
              <a:defRPr b="1" sz="2800">
                <a:solidFill>
                  <a:srgbClr val="FFFFFF"/>
                </a:solidFill>
                <a:latin typeface="Arial"/>
                <a:ea typeface="Arial"/>
                <a:cs typeface="Arial"/>
                <a:sym typeface="Arial"/>
              </a:defRPr>
            </a:pPr>
          </a:p>
          <a:p>
            <a:pPr defTabSz="1216025">
              <a:spcBef>
                <a:spcPts val="600"/>
              </a:spcBef>
              <a:buSzPct val="100000"/>
              <a:buChar char="➢"/>
              <a:defRPr b="1" sz="2800">
                <a:solidFill>
                  <a:srgbClr val="FFFFFF"/>
                </a:solidFill>
                <a:latin typeface="Arial"/>
                <a:ea typeface="Arial"/>
                <a:cs typeface="Arial"/>
                <a:sym typeface="Arial"/>
              </a:defRPr>
            </a:pPr>
            <a:r>
              <a:t>Exploring Word2Vec:</a:t>
            </a:r>
          </a:p>
          <a:p>
            <a:pPr defTabSz="1216025">
              <a:spcBef>
                <a:spcPts val="600"/>
              </a:spcBef>
              <a:buSzPct val="100000"/>
              <a:buChar char="➢"/>
              <a:defRPr b="1" sz="2800">
                <a:solidFill>
                  <a:srgbClr val="FFFFFF"/>
                </a:solidFill>
                <a:latin typeface="Arial"/>
                <a:ea typeface="Arial"/>
                <a:cs typeface="Arial"/>
                <a:sym typeface="Arial"/>
              </a:defRPr>
            </a:pPr>
            <a:r>
              <a:t>Link: </a:t>
            </a:r>
            <a:r>
              <a:rPr u="sng">
                <a:solidFill>
                  <a:srgbClr val="0563C1"/>
                </a:solidFill>
                <a:uFill>
                  <a:solidFill>
                    <a:srgbClr val="0563C1"/>
                  </a:solidFill>
                </a:uFill>
                <a:hlinkClick r:id="rId4" invalidUrl="" action="" tgtFrame="" tooltip="" history="1" highlightClick="0" endSnd="0"/>
              </a:rPr>
              <a:t>https://github.com/lutzhamel/word2vec-simplified/blob/master/Exploring%20Word2Vec.ipynb</a:t>
            </a:r>
            <a:r>
              <a:t> </a:t>
            </a:r>
          </a:p>
          <a:p>
            <a:pPr defTabSz="1216025">
              <a:spcBef>
                <a:spcPts val="600"/>
              </a:spcBef>
              <a:buSzPct val="100000"/>
              <a:buChar char="➢"/>
              <a:defRPr b="1" sz="2800">
                <a:solidFill>
                  <a:srgbClr val="FFFFFF"/>
                </a:solidFill>
                <a:latin typeface="Arial"/>
                <a:ea typeface="Arial"/>
                <a:cs typeface="Arial"/>
                <a:sym typeface="Arial"/>
              </a:defRPr>
            </a:pPr>
          </a:p>
          <a:p>
            <a:pPr defTabSz="1216025">
              <a:spcBef>
                <a:spcPts val="600"/>
              </a:spcBef>
              <a:buSzPct val="100000"/>
              <a:buChar char="➢"/>
              <a:defRPr b="1" sz="2800">
                <a:solidFill>
                  <a:srgbClr val="FFFFFF"/>
                </a:solidFill>
                <a:latin typeface="Arial"/>
                <a:ea typeface="Arial"/>
                <a:cs typeface="Arial"/>
                <a:sym typeface="Arial"/>
              </a:defRPr>
            </a:pPr>
            <a:r>
              <a:t>Gensim Word2Vec Tutorial:</a:t>
            </a:r>
          </a:p>
          <a:p>
            <a:pPr defTabSz="1216025">
              <a:spcBef>
                <a:spcPts val="600"/>
              </a:spcBef>
              <a:buSzPct val="100000"/>
              <a:buChar char="➢"/>
              <a:defRPr b="1" sz="2800">
                <a:solidFill>
                  <a:srgbClr val="FFFFFF"/>
                </a:solidFill>
                <a:latin typeface="Arial"/>
                <a:ea typeface="Arial"/>
                <a:cs typeface="Arial"/>
                <a:sym typeface="Arial"/>
              </a:defRPr>
            </a:pPr>
            <a:r>
              <a:t>Link: </a:t>
            </a:r>
            <a:r>
              <a:rPr u="sng">
                <a:solidFill>
                  <a:srgbClr val="0563C1"/>
                </a:solidFill>
                <a:uFill>
                  <a:solidFill>
                    <a:srgbClr val="0563C1"/>
                  </a:solidFill>
                </a:uFill>
                <a:hlinkClick r:id="rId5" invalidUrl="" action="" tgtFrame="" tooltip="" history="1" highlightClick="0" endSnd="0"/>
              </a:rPr>
              <a:t>https://www.kaggle.com/pierremegret/gensim-word2vec-tutorial</a:t>
            </a:r>
            <a:r>
              <a:t> </a:t>
            </a:r>
          </a:p>
        </p:txBody>
      </p:sp>
    </p:spTree>
  </p:cSld>
  <p:clrMapOvr>
    <a:masterClrMapping/>
  </p:clrMapOvr>
  <p:transition xmlns:p14="http://schemas.microsoft.com/office/powerpoint/2010/main" spd="med" advClick="1"/>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81" name="Rectangle"/>
          <p:cNvSpPr/>
          <p:nvPr/>
        </p:nvSpPr>
        <p:spPr>
          <a:xfrm>
            <a:off x="0" y="1182687"/>
            <a:ext cx="12192000" cy="5538788"/>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584" name="Group"/>
          <p:cNvGrpSpPr/>
          <p:nvPr/>
        </p:nvGrpSpPr>
        <p:grpSpPr>
          <a:xfrm>
            <a:off x="10625137" y="5580062"/>
            <a:ext cx="1566864" cy="1281113"/>
            <a:chOff x="0" y="0"/>
            <a:chExt cx="1566862" cy="1281112"/>
          </a:xfrm>
        </p:grpSpPr>
        <p:pic>
          <p:nvPicPr>
            <p:cNvPr id="582"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583"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585"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586" name="Python for feature extraction – ULMFIT, ELMO, and BERT"/>
          <p:cNvSpPr txBox="1"/>
          <p:nvPr/>
        </p:nvSpPr>
        <p:spPr>
          <a:xfrm>
            <a:off x="190182" y="207962"/>
            <a:ext cx="8452952"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Python for feature extraction – ULMFIT, ELMO, and BERT </a:t>
            </a:r>
          </a:p>
        </p:txBody>
      </p:sp>
      <p:sp>
        <p:nvSpPr>
          <p:cNvPr id="587"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588" name="Slide Number"/>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589" name="ULMFIT:…"/>
          <p:cNvSpPr txBox="1"/>
          <p:nvPr/>
        </p:nvSpPr>
        <p:spPr>
          <a:xfrm>
            <a:off x="-574675" y="1200149"/>
            <a:ext cx="12976225" cy="415803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1" indent="742950" defTabSz="1216025">
              <a:spcBef>
                <a:spcPts val="500"/>
              </a:spcBef>
              <a:defRPr b="1" sz="2800">
                <a:solidFill>
                  <a:srgbClr val="FFFFFF"/>
                </a:solidFill>
                <a:latin typeface="Arial"/>
                <a:ea typeface="Arial"/>
                <a:cs typeface="Arial"/>
                <a:sym typeface="Arial"/>
              </a:defRPr>
            </a:pPr>
          </a:p>
          <a:p>
            <a:pPr lvl="1" marL="742950" indent="0" defTabSz="1216025">
              <a:spcBef>
                <a:spcPts val="600"/>
              </a:spcBef>
              <a:buSzPct val="100000"/>
              <a:buChar char="➢"/>
              <a:defRPr b="1" sz="2800">
                <a:solidFill>
                  <a:srgbClr val="FFFFFF"/>
                </a:solidFill>
                <a:latin typeface="Arial"/>
                <a:ea typeface="Arial"/>
                <a:cs typeface="Arial"/>
                <a:sym typeface="Arial"/>
              </a:defRPr>
            </a:pPr>
            <a:r>
              <a:t>ULMFIT:</a:t>
            </a:r>
          </a:p>
          <a:p>
            <a:pPr lvl="1" marL="742950" indent="0" defTabSz="1216025">
              <a:spcBef>
                <a:spcPts val="600"/>
              </a:spcBef>
              <a:buSzPct val="100000"/>
              <a:buChar char="➢"/>
              <a:defRPr b="1" sz="2800">
                <a:solidFill>
                  <a:srgbClr val="FFFFFF"/>
                </a:solidFill>
                <a:latin typeface="Arial"/>
                <a:ea typeface="Arial"/>
                <a:cs typeface="Arial"/>
                <a:sym typeface="Arial"/>
              </a:defRPr>
            </a:pPr>
            <a:r>
              <a:rPr u="sng">
                <a:solidFill>
                  <a:srgbClr val="0563C1"/>
                </a:solidFill>
                <a:uFill>
                  <a:solidFill>
                    <a:srgbClr val="0563C1"/>
                  </a:solidFill>
                </a:uFill>
                <a:hlinkClick r:id="rId4" invalidUrl="" action="" tgtFrame="" tooltip="" history="1" highlightClick="0" endSnd="0"/>
              </a:rPr>
              <a:t>https://humboldt-wi.github.io/blog/research/information_systems_1819/group4_ulmfit/</a:t>
            </a:r>
            <a:r>
              <a:t> </a:t>
            </a:r>
          </a:p>
          <a:p>
            <a:pPr lvl="1" marL="742950" indent="0" defTabSz="1216025">
              <a:spcBef>
                <a:spcPts val="600"/>
              </a:spcBef>
              <a:buSzPct val="100000"/>
              <a:buChar char="➢"/>
              <a:defRPr b="1" sz="2800">
                <a:solidFill>
                  <a:srgbClr val="FFFFFF"/>
                </a:solidFill>
                <a:latin typeface="Arial"/>
                <a:ea typeface="Arial"/>
                <a:cs typeface="Arial"/>
                <a:sym typeface="Arial"/>
              </a:defRPr>
            </a:pPr>
            <a:r>
              <a:t>ELMO:</a:t>
            </a:r>
          </a:p>
          <a:p>
            <a:pPr lvl="1" marL="742950" indent="0" defTabSz="1216025">
              <a:spcBef>
                <a:spcPts val="600"/>
              </a:spcBef>
              <a:buSzPct val="100000"/>
              <a:buChar char="➢"/>
              <a:defRPr b="1" sz="2800">
                <a:solidFill>
                  <a:srgbClr val="FFFFFF"/>
                </a:solidFill>
                <a:latin typeface="Arial"/>
                <a:ea typeface="Arial"/>
                <a:cs typeface="Arial"/>
                <a:sym typeface="Arial"/>
              </a:defRPr>
            </a:pPr>
            <a:r>
              <a:rPr u="sng">
                <a:solidFill>
                  <a:srgbClr val="0563C1"/>
                </a:solidFill>
                <a:uFill>
                  <a:solidFill>
                    <a:srgbClr val="0563C1"/>
                  </a:solidFill>
                </a:uFill>
                <a:hlinkClick r:id="rId5" invalidUrl="" action="" tgtFrame="" tooltip="" history="1" highlightClick="0" endSnd="0"/>
              </a:rPr>
              <a:t>https://www.analyticsvidhya.com/blog/2019/03/learn-to-use-elmo-to-extract-features-from-text/</a:t>
            </a:r>
          </a:p>
          <a:p>
            <a:pPr lvl="1" marL="742950" indent="0" defTabSz="1216025">
              <a:spcBef>
                <a:spcPts val="600"/>
              </a:spcBef>
              <a:buSzPct val="100000"/>
              <a:buChar char="➢"/>
              <a:defRPr b="1" sz="2800">
                <a:solidFill>
                  <a:srgbClr val="FFFFFF"/>
                </a:solidFill>
                <a:latin typeface="Arial"/>
                <a:ea typeface="Arial"/>
                <a:cs typeface="Arial"/>
                <a:sym typeface="Arial"/>
              </a:defRPr>
            </a:pPr>
            <a:r>
              <a:t>BERT:</a:t>
            </a:r>
          </a:p>
          <a:p>
            <a:pPr lvl="1" marL="742950" indent="0" defTabSz="1216025">
              <a:spcBef>
                <a:spcPts val="600"/>
              </a:spcBef>
              <a:buSzPct val="100000"/>
              <a:buChar char="➢"/>
              <a:defRPr b="1" sz="2800">
                <a:solidFill>
                  <a:srgbClr val="FFFFFF"/>
                </a:solidFill>
                <a:latin typeface="Arial"/>
                <a:ea typeface="Arial"/>
                <a:cs typeface="Arial"/>
                <a:sym typeface="Arial"/>
              </a:defRPr>
            </a:pPr>
            <a:r>
              <a:rPr u="sng">
                <a:solidFill>
                  <a:srgbClr val="0563C1"/>
                </a:solidFill>
                <a:uFill>
                  <a:solidFill>
                    <a:srgbClr val="0563C1"/>
                  </a:solidFill>
                </a:uFill>
                <a:hlinkClick r:id="rId6" invalidUrl="" action="" tgtFrame="" tooltip="" history="1" highlightClick="0" endSnd="0"/>
              </a:rPr>
              <a:t>https://github.com/huggingface/transformers</a:t>
            </a:r>
            <a:r>
              <a:t> </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58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89" grpId="1"/>
    </p:bldLst>
  </p:timing>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91" name="Rectangle"/>
          <p:cNvSpPr/>
          <p:nvPr/>
        </p:nvSpPr>
        <p:spPr>
          <a:xfrm>
            <a:off x="0" y="1319212"/>
            <a:ext cx="12192000" cy="5538788"/>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594" name="Group"/>
          <p:cNvGrpSpPr/>
          <p:nvPr/>
        </p:nvGrpSpPr>
        <p:grpSpPr>
          <a:xfrm>
            <a:off x="10625137" y="5580062"/>
            <a:ext cx="1566864" cy="1281113"/>
            <a:chOff x="0" y="0"/>
            <a:chExt cx="1566862" cy="1281112"/>
          </a:xfrm>
        </p:grpSpPr>
        <p:pic>
          <p:nvPicPr>
            <p:cNvPr id="592"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593"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595" name="2018 version:…"/>
          <p:cNvSpPr txBox="1"/>
          <p:nvPr/>
        </p:nvSpPr>
        <p:spPr>
          <a:xfrm>
            <a:off x="446087" y="1930400"/>
            <a:ext cx="11299826" cy="317454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457200" indent="-457200" defTabSz="1216025">
              <a:spcBef>
                <a:spcPts val="600"/>
              </a:spcBef>
              <a:buSzPct val="100000"/>
              <a:buChar char="➢"/>
              <a:defRPr b="1" sz="2800">
                <a:solidFill>
                  <a:srgbClr val="00B050"/>
                </a:solidFill>
                <a:latin typeface="Arial"/>
                <a:ea typeface="Arial"/>
                <a:cs typeface="Arial"/>
                <a:sym typeface="Arial"/>
              </a:defRPr>
            </a:pPr>
            <a:r>
              <a:t>2018 version:</a:t>
            </a:r>
          </a:p>
          <a:p>
            <a:pPr marL="457200" indent="-457200" defTabSz="1216025">
              <a:spcBef>
                <a:spcPts val="600"/>
              </a:spcBef>
              <a:buSzPct val="100000"/>
              <a:buChar char="➢"/>
              <a:defRPr b="1" sz="2800">
                <a:solidFill>
                  <a:srgbClr val="00B050"/>
                </a:solidFill>
                <a:latin typeface="Arial"/>
                <a:ea typeface="Arial"/>
                <a:cs typeface="Arial"/>
                <a:sym typeface="Arial"/>
              </a:defRPr>
            </a:pPr>
            <a:r>
              <a:rPr u="sng">
                <a:solidFill>
                  <a:srgbClr val="0563C1"/>
                </a:solidFill>
                <a:uFill>
                  <a:solidFill>
                    <a:srgbClr val="0563C1"/>
                  </a:solidFill>
                </a:uFill>
                <a:hlinkClick r:id="rId4" invalidUrl="" action="" tgtFrame="" tooltip="" history="1" highlightClick="0" endSnd="0"/>
              </a:rPr>
              <a:t>https://kleiber.me/blog/2018/02/25/top-10-python-nlp-libraries-2018/</a:t>
            </a:r>
            <a:r>
              <a:t> </a:t>
            </a:r>
          </a:p>
          <a:p>
            <a:pPr marL="457200" indent="-457200" defTabSz="1216025">
              <a:spcBef>
                <a:spcPts val="600"/>
              </a:spcBef>
              <a:buSzPct val="100000"/>
              <a:buChar char="➢"/>
              <a:defRPr b="1" sz="2800">
                <a:solidFill>
                  <a:srgbClr val="00B050"/>
                </a:solidFill>
                <a:latin typeface="Arial"/>
                <a:ea typeface="Arial"/>
                <a:cs typeface="Arial"/>
                <a:sym typeface="Arial"/>
              </a:defRPr>
            </a:pPr>
            <a:r>
              <a:t>2020 version:</a:t>
            </a:r>
          </a:p>
          <a:p>
            <a:pPr marL="457200" indent="-457200" defTabSz="1216025">
              <a:spcBef>
                <a:spcPts val="600"/>
              </a:spcBef>
              <a:buSzPct val="100000"/>
              <a:buChar char="➢"/>
              <a:defRPr b="1" sz="2800">
                <a:solidFill>
                  <a:srgbClr val="00B050"/>
                </a:solidFill>
                <a:latin typeface="Arial"/>
                <a:ea typeface="Arial"/>
                <a:cs typeface="Arial"/>
                <a:sym typeface="Arial"/>
              </a:defRPr>
            </a:pPr>
            <a:r>
              <a:rPr u="sng">
                <a:solidFill>
                  <a:srgbClr val="0563C1"/>
                </a:solidFill>
                <a:uFill>
                  <a:solidFill>
                    <a:srgbClr val="0563C1"/>
                  </a:solidFill>
                </a:uFill>
                <a:hlinkClick r:id="rId5" invalidUrl="" action="" tgtFrame="" tooltip="" history="1" highlightClick="0" endSnd="0"/>
              </a:rPr>
              <a:t>https://kleiber.me/blog/2020/08/26/top-10-python-nlp-libraries-2020/</a:t>
            </a:r>
            <a:r>
              <a:t> </a:t>
            </a:r>
          </a:p>
          <a:p>
            <a:pPr marL="457200" indent="-457200" defTabSz="1216025">
              <a:spcBef>
                <a:spcPts val="600"/>
              </a:spcBef>
              <a:buSzPct val="100000"/>
              <a:buChar char="➢"/>
              <a:defRPr b="1" sz="2800">
                <a:solidFill>
                  <a:srgbClr val="00B050"/>
                </a:solidFill>
                <a:latin typeface="Arial"/>
                <a:ea typeface="Arial"/>
                <a:cs typeface="Arial"/>
                <a:sym typeface="Arial"/>
              </a:defRPr>
            </a:pPr>
            <a:r>
              <a:t>Based on the GitHub data</a:t>
            </a:r>
          </a:p>
        </p:txBody>
      </p:sp>
      <p:sp>
        <p:nvSpPr>
          <p:cNvPr id="596"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597" name="Top 10 Python Libraries for Natural Language Processing"/>
          <p:cNvSpPr txBox="1"/>
          <p:nvPr/>
        </p:nvSpPr>
        <p:spPr>
          <a:xfrm>
            <a:off x="190182" y="207962"/>
            <a:ext cx="8431521"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Top 10 Python Libraries for Natural Language Processing</a:t>
            </a:r>
          </a:p>
        </p:txBody>
      </p:sp>
      <p:sp>
        <p:nvSpPr>
          <p:cNvPr id="598"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599" name="Slide Number"/>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601" name="image.png" descr="image.png"/>
          <p:cNvPicPr>
            <a:picLocks noChangeAspect="1"/>
          </p:cNvPicPr>
          <p:nvPr/>
        </p:nvPicPr>
        <p:blipFill>
          <a:blip r:embed="rId2">
            <a:extLst/>
          </a:blip>
          <a:stretch>
            <a:fillRect/>
          </a:stretch>
        </p:blipFill>
        <p:spPr>
          <a:xfrm>
            <a:off x="2632075" y="354012"/>
            <a:ext cx="7481888" cy="3743326"/>
          </a:xfrm>
          <a:prstGeom prst="rect">
            <a:avLst/>
          </a:prstGeom>
          <a:ln w="12700">
            <a:miter lim="400000"/>
          </a:ln>
        </p:spPr>
      </p:pic>
      <p:sp>
        <p:nvSpPr>
          <p:cNvPr id="602" name="Rectangle"/>
          <p:cNvSpPr/>
          <p:nvPr/>
        </p:nvSpPr>
        <p:spPr>
          <a:xfrm>
            <a:off x="0" y="4902200"/>
            <a:ext cx="12192000" cy="1955800"/>
          </a:xfrm>
          <a:prstGeom prst="rect">
            <a:avLst/>
          </a:prstGeom>
          <a:solidFill>
            <a:srgbClr val="1C4885"/>
          </a:solidFill>
          <a:ln w="12700">
            <a:miter lim="400000"/>
          </a:ln>
        </p:spPr>
        <p:txBody>
          <a:bodyPr lIns="45719" rIns="45719" anchor="ctr"/>
          <a:lstStyle/>
          <a:p>
            <a:pPr algn="ctr">
              <a:defRPr>
                <a:solidFill>
                  <a:srgbClr val="FFFFFF"/>
                </a:solidFill>
              </a:defRPr>
            </a:pPr>
          </a:p>
        </p:txBody>
      </p:sp>
      <p:grpSp>
        <p:nvGrpSpPr>
          <p:cNvPr id="605" name="Group"/>
          <p:cNvGrpSpPr/>
          <p:nvPr/>
        </p:nvGrpSpPr>
        <p:grpSpPr>
          <a:xfrm>
            <a:off x="6804024" y="3178174"/>
            <a:ext cx="5578477" cy="3481389"/>
            <a:chOff x="0" y="0"/>
            <a:chExt cx="5578475" cy="3481387"/>
          </a:xfrm>
        </p:grpSpPr>
        <p:pic>
          <p:nvPicPr>
            <p:cNvPr id="603" name="image.png" descr="image.png"/>
            <p:cNvPicPr>
              <a:picLocks noChangeAspect="1"/>
            </p:cNvPicPr>
            <p:nvPr/>
          </p:nvPicPr>
          <p:blipFill>
            <a:blip r:embed="rId3">
              <a:extLst/>
            </a:blip>
            <a:srcRect l="0" t="0" r="0" b="52040"/>
            <a:stretch>
              <a:fillRect/>
            </a:stretch>
          </p:blipFill>
          <p:spPr>
            <a:xfrm>
              <a:off x="6646" y="0"/>
              <a:ext cx="5571830" cy="1720707"/>
            </a:xfrm>
            <a:prstGeom prst="rect">
              <a:avLst/>
            </a:prstGeom>
            <a:ln w="12700" cap="flat">
              <a:noFill/>
              <a:miter lim="400000"/>
            </a:ln>
            <a:effectLst/>
          </p:spPr>
        </p:pic>
        <p:pic>
          <p:nvPicPr>
            <p:cNvPr id="604" name="image.png" descr="image.png"/>
            <p:cNvPicPr>
              <a:picLocks noChangeAspect="1"/>
            </p:cNvPicPr>
            <p:nvPr/>
          </p:nvPicPr>
          <p:blipFill>
            <a:blip r:embed="rId3">
              <a:extLst/>
            </a:blip>
            <a:srcRect l="0" t="50633" r="2627" b="0"/>
            <a:stretch>
              <a:fillRect/>
            </a:stretch>
          </p:blipFill>
          <p:spPr>
            <a:xfrm>
              <a:off x="-1" y="1710252"/>
              <a:ext cx="5425464" cy="1771136"/>
            </a:xfrm>
            <a:prstGeom prst="rect">
              <a:avLst/>
            </a:prstGeom>
            <a:ln w="12700" cap="flat">
              <a:noFill/>
              <a:miter lim="400000"/>
            </a:ln>
            <a:effectLst/>
          </p:spPr>
        </p:pic>
      </p:grpSp>
      <p:sp>
        <p:nvSpPr>
          <p:cNvPr id="606" name="Thank you"/>
          <p:cNvSpPr txBox="1"/>
          <p:nvPr/>
        </p:nvSpPr>
        <p:spPr>
          <a:xfrm>
            <a:off x="3395344" y="2900362"/>
            <a:ext cx="5609274" cy="1183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7200">
                <a:solidFill>
                  <a:srgbClr val="1C4885"/>
                </a:solidFill>
                <a:latin typeface="Microsoft YaHei"/>
                <a:ea typeface="Microsoft YaHei"/>
                <a:cs typeface="Microsoft YaHei"/>
                <a:sym typeface="Microsoft YaHei"/>
              </a:defRPr>
            </a:lvl1pPr>
          </a:lstStyle>
          <a:p>
            <a:pPr/>
            <a:r>
              <a:t>Thank you</a:t>
            </a:r>
          </a:p>
        </p:txBody>
      </p:sp>
      <p:sp>
        <p:nvSpPr>
          <p:cNvPr id="607" name="Line"/>
          <p:cNvSpPr/>
          <p:nvPr/>
        </p:nvSpPr>
        <p:spPr>
          <a:xfrm>
            <a:off x="3230562" y="4137025"/>
            <a:ext cx="5251451" cy="0"/>
          </a:xfrm>
          <a:prstGeom prst="line">
            <a:avLst/>
          </a:prstGeom>
          <a:ln w="6350">
            <a:solidFill>
              <a:srgbClr val="7F7F7F"/>
            </a:solidFill>
          </a:ln>
        </p:spPr>
        <p:txBody>
          <a:bodyPr lIns="45719" rIns="45719"/>
          <a:lstStyle/>
          <a:p>
            <a:pPr/>
          </a:p>
        </p:txBody>
      </p:sp>
      <p:sp>
        <p:nvSpPr>
          <p:cNvPr id="608"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609" name="Slide Number"/>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清风素材 https://12sc.taobao.com">
  <a:themeElements>
    <a:clrScheme name="清风素材 https://12sc.taobao.com">
      <a:dk1>
        <a:srgbClr val="000000"/>
      </a:dk1>
      <a:lt1>
        <a:srgbClr val="FFFFFF"/>
      </a:lt1>
      <a:dk2>
        <a:srgbClr val="A7A7A7"/>
      </a:dk2>
      <a:lt2>
        <a:srgbClr val="535353"/>
      </a:lt2>
      <a:accent1>
        <a:srgbClr val="5B9BD5"/>
      </a:accent1>
      <a:accent2>
        <a:srgbClr val="ED7D31"/>
      </a:accent2>
      <a:accent3>
        <a:srgbClr val="9BBB59"/>
      </a:accent3>
      <a:accent4>
        <a:srgbClr val="8064A2"/>
      </a:accent4>
      <a:accent5>
        <a:srgbClr val="4BACC6"/>
      </a:accent5>
      <a:accent6>
        <a:srgbClr val="F79646"/>
      </a:accent6>
      <a:hlink>
        <a:srgbClr val="0000FF"/>
      </a:hlink>
      <a:folHlink>
        <a:srgbClr val="FF00FF"/>
      </a:folHlink>
    </a:clrScheme>
    <a:fontScheme name="清风素材 https://12sc.taobao.com">
      <a:majorFont>
        <a:latin typeface="DengXian"/>
        <a:ea typeface="DengXian"/>
        <a:cs typeface="DengXian"/>
      </a:majorFont>
      <a:minorFont>
        <a:latin typeface="Helvetica"/>
        <a:ea typeface="Helvetica"/>
        <a:cs typeface="Helvetica"/>
      </a:minorFont>
    </a:fontScheme>
    <a:fmtScheme name="清风素材 https://12sc.taobao.com">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清风素材 https://12sc.taobao.com">
  <a:themeElements>
    <a:clrScheme name="清风素材 https://12sc.taobao.com">
      <a:dk1>
        <a:srgbClr val="000000"/>
      </a:dk1>
      <a:lt1>
        <a:srgbClr val="FFFFFF"/>
      </a:lt1>
      <a:dk2>
        <a:srgbClr val="A7A7A7"/>
      </a:dk2>
      <a:lt2>
        <a:srgbClr val="535353"/>
      </a:lt2>
      <a:accent1>
        <a:srgbClr val="5B9BD5"/>
      </a:accent1>
      <a:accent2>
        <a:srgbClr val="ED7D31"/>
      </a:accent2>
      <a:accent3>
        <a:srgbClr val="9BBB59"/>
      </a:accent3>
      <a:accent4>
        <a:srgbClr val="8064A2"/>
      </a:accent4>
      <a:accent5>
        <a:srgbClr val="4BACC6"/>
      </a:accent5>
      <a:accent6>
        <a:srgbClr val="F79646"/>
      </a:accent6>
      <a:hlink>
        <a:srgbClr val="0000FF"/>
      </a:hlink>
      <a:folHlink>
        <a:srgbClr val="FF00FF"/>
      </a:folHlink>
    </a:clrScheme>
    <a:fontScheme name="清风素材 https://12sc.taobao.com">
      <a:majorFont>
        <a:latin typeface="DengXian"/>
        <a:ea typeface="DengXian"/>
        <a:cs typeface="DengXian"/>
      </a:majorFont>
      <a:minorFont>
        <a:latin typeface="Helvetica"/>
        <a:ea typeface="Helvetica"/>
        <a:cs typeface="Helvetica"/>
      </a:minorFont>
    </a:fontScheme>
    <a:fmtScheme name="清风素材 https://12sc.taobao.com">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