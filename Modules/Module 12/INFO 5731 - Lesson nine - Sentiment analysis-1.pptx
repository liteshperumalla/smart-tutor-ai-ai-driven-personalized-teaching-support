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DengXian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DengXian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DengXian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DengXian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DengXian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DengXian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DengXian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DengXian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DengXian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" name="Shape 1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600"/>
              </a:spcBef>
              <a:defRPr b="1" sz="1800">
                <a:latin typeface="MyriadPro-BoldSemiCn"/>
                <a:ea typeface="MyriadPro-BoldSemiCn"/>
                <a:cs typeface="MyriadPro-BoldSemiCn"/>
                <a:sym typeface="MyriadPro-BoldSemiCn"/>
              </a:defRPr>
            </a:pPr>
            <a:r>
              <a:t>Business analysis: </a:t>
            </a:r>
            <a:r>
              <a:rPr b="0">
                <a:latin typeface="MyriadPro-SemiboldSemiCn"/>
                <a:ea typeface="MyriadPro-SemiboldSemiCn"/>
                <a:cs typeface="MyriadPro-SemiboldSemiCn"/>
                <a:sym typeface="MyriadPro-SemiboldSemiCn"/>
              </a:rPr>
              <a:t>Product reviews, Market research and competitor analysis</a:t>
            </a:r>
            <a:r>
              <a:rPr b="0" sz="1200">
                <a:latin typeface="+mn-lt"/>
                <a:ea typeface="+mn-ea"/>
                <a:cs typeface="+mn-cs"/>
                <a:sym typeface="DengXian"/>
              </a:rPr>
              <a:t> </a:t>
            </a:r>
            <a:endParaRPr b="0" sz="1200">
              <a:latin typeface="+mn-lt"/>
              <a:ea typeface="+mn-ea"/>
              <a:cs typeface="+mn-cs"/>
              <a:sym typeface="DengXian"/>
            </a:endParaRPr>
          </a:p>
          <a:p>
            <a:pPr>
              <a:spcBef>
                <a:spcPts val="600"/>
              </a:spcBef>
              <a:defRPr b="1"/>
            </a:pPr>
            <a:r>
              <a:t>Healthcare</a:t>
            </a:r>
            <a:r>
              <a:rPr b="0"/>
              <a:t>: For example, Twitter: </a:t>
            </a:r>
            <a:r>
              <a:rPr b="0" sz="1800">
                <a:latin typeface="STIX-Regular"/>
                <a:ea typeface="STIX-Regular"/>
                <a:cs typeface="STIX-Regular"/>
                <a:sym typeface="STIX-Regular"/>
              </a:rPr>
              <a:t>collect treatment experiences, rallying support, and expanding public awareness</a:t>
            </a:r>
            <a:r>
              <a:rPr b="0"/>
              <a:t> </a:t>
            </a:r>
            <a:endParaRPr b="0"/>
          </a:p>
          <a:p>
            <a:pPr>
              <a:spcBef>
                <a:spcPts val="600"/>
              </a:spcBef>
              <a:defRPr b="1"/>
            </a:pPr>
            <a:r>
              <a:t>Stock market: </a:t>
            </a:r>
            <a:r>
              <a:rPr b="0" sz="1800">
                <a:latin typeface="STIX-Regular"/>
                <a:ea typeface="STIX-Regular"/>
                <a:cs typeface="STIX-Regular"/>
                <a:sym typeface="STIX-Regular"/>
              </a:rPr>
              <a:t>analyzing all the news about the stock market and predicting the stock price trends.</a:t>
            </a:r>
            <a:br>
              <a:rPr b="0" sz="1800">
                <a:latin typeface="STIX-Regular"/>
                <a:ea typeface="STIX-Regular"/>
                <a:cs typeface="STIX-Regular"/>
                <a:sym typeface="STIX-Regular"/>
              </a:rPr>
            </a:br>
            <a:r>
              <a:rPr b="0" sz="1800">
                <a:latin typeface="STIX-Regular"/>
                <a:ea typeface="STIX-Regular"/>
                <a:cs typeface="STIX-Regular"/>
                <a:sym typeface="STIX-Regular"/>
              </a:rPr>
              <a:t>Data can be collected from various sources like Twitter, news articles, blogs, etc.</a:t>
            </a:r>
            <a:r>
              <a:rPr b="0"/>
              <a:t> </a:t>
            </a:r>
            <a:br>
              <a:rPr b="0"/>
            </a:br>
            <a:br>
              <a:rPr b="0"/>
            </a:br>
            <a:br>
              <a:rPr b="0"/>
            </a:br>
            <a:br>
              <a:rPr b="0"/>
            </a:br>
            <a:br>
              <a:rPr b="0"/>
            </a:b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9" name="Shape 2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1D35"/>
                </a:solidFill>
                <a:latin typeface="Google Sans"/>
                <a:ea typeface="Google Sans"/>
                <a:cs typeface="Google Sans"/>
                <a:sym typeface="Google Sans"/>
              </a:defRPr>
            </a:pPr>
            <a:r>
              <a:t>LOL: laugh out loud</a:t>
            </a:r>
          </a:p>
          <a:p>
            <a:pPr>
              <a:defRPr>
                <a:solidFill>
                  <a:srgbClr val="001D35"/>
                </a:solidFill>
                <a:latin typeface="Google Sans"/>
                <a:ea typeface="Google Sans"/>
                <a:cs typeface="Google Sans"/>
                <a:sym typeface="Google Sans"/>
              </a:defRPr>
            </a:pPr>
            <a:r>
              <a:t>ROFL: "</a:t>
            </a:r>
            <a:r>
              <a:rPr>
                <a:solidFill>
                  <a:srgbClr val="000000"/>
                </a:solidFill>
                <a:latin typeface="+mn-lt"/>
                <a:ea typeface="+mn-ea"/>
                <a:cs typeface="+mn-cs"/>
                <a:sym typeface="DengXian"/>
              </a:rPr>
              <a:t>rolling on the floor laughing</a:t>
            </a:r>
            <a:r>
              <a:t>"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E7E6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4572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9144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13716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182880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cs.uic.edu/~liub/FBS/Sentiment-Analysis-tutorial-AAAI-2011.pdf" TargetMode="External"/><Relationship Id="rId5" Type="http://schemas.openxmlformats.org/officeDocument/2006/relationships/hyperlink" Target="https://link.springer.com/article/10.1007/s10462-022-10144-1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5500" y="504825"/>
            <a:ext cx="7480300" cy="3743325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Rectangle"/>
          <p:cNvSpPr/>
          <p:nvPr/>
        </p:nvSpPr>
        <p:spPr>
          <a:xfrm>
            <a:off x="0" y="4902200"/>
            <a:ext cx="12192000" cy="1955800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4" name="Group"/>
          <p:cNvGrpSpPr/>
          <p:nvPr/>
        </p:nvGrpSpPr>
        <p:grpSpPr>
          <a:xfrm>
            <a:off x="5605462" y="2808287"/>
            <a:ext cx="6777038" cy="4229101"/>
            <a:chOff x="0" y="0"/>
            <a:chExt cx="6777037" cy="4229100"/>
          </a:xfrm>
        </p:grpSpPr>
        <p:pic>
          <p:nvPicPr>
            <p:cNvPr id="22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52040"/>
            <a:stretch>
              <a:fillRect/>
            </a:stretch>
          </p:blipFill>
          <p:spPr>
            <a:xfrm>
              <a:off x="8074" y="-1"/>
              <a:ext cx="6768964" cy="20902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50633" r="2627" b="0"/>
            <a:stretch>
              <a:fillRect/>
            </a:stretch>
          </p:blipFill>
          <p:spPr>
            <a:xfrm>
              <a:off x="0" y="2077570"/>
              <a:ext cx="6591149" cy="21515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5" name="Lesson 9: Sentiment Analysis"/>
          <p:cNvSpPr txBox="1"/>
          <p:nvPr/>
        </p:nvSpPr>
        <p:spPr>
          <a:xfrm>
            <a:off x="202882" y="1073150"/>
            <a:ext cx="11265536" cy="828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4800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Lesson</a:t>
            </a:r>
            <a:r>
              <a:t> </a:t>
            </a:r>
            <a:r>
              <a:t>9:</a:t>
            </a:r>
            <a:r>
              <a:t> </a:t>
            </a:r>
            <a:r>
              <a:t>Sentiment Analysis</a:t>
            </a:r>
          </a:p>
        </p:txBody>
      </p:sp>
      <p:sp>
        <p:nvSpPr>
          <p:cNvPr id="26" name="Partly based on slides from Bing Liu and others…"/>
          <p:cNvSpPr txBox="1"/>
          <p:nvPr/>
        </p:nvSpPr>
        <p:spPr>
          <a:xfrm>
            <a:off x="1190307" y="3917950"/>
            <a:ext cx="8860474" cy="891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>
                <a:solidFill>
                  <a:srgbClr val="57576E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Partly based on slides from Bing Liu and others</a:t>
            </a:r>
          </a:p>
          <a:p>
            <a:pPr/>
            <a:r>
              <a:t>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4" invalidUrl="" action="" tgtFrame="" tooltip="" history="1" highlightClick="0" endSnd="0"/>
              </a:rPr>
              <a:t>https://www.cs.uic.edu/~liub/FBS/Sentiment-Analysis-tutorial-AAAI-2011.pdf</a:t>
            </a:r>
            <a:r>
              <a:t> </a:t>
            </a:r>
            <a:br/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5" invalidUrl="" action="" tgtFrame="" tooltip="" history="1" highlightClick="0" endSnd="0"/>
              </a:rPr>
              <a:t>https://link.springer.com/article/10.1007/s10462-022-10144-1</a:t>
            </a: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"/>
          <p:cNvSpPr/>
          <p:nvPr/>
        </p:nvSpPr>
        <p:spPr>
          <a:xfrm>
            <a:off x="5614987" y="0"/>
            <a:ext cx="6423026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052" y="3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7052" y="3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9" name="Shape"/>
          <p:cNvSpPr/>
          <p:nvPr/>
        </p:nvSpPr>
        <p:spPr>
          <a:xfrm>
            <a:off x="5768975" y="0"/>
            <a:ext cx="6423026" cy="685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052" y="3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7052" y="30"/>
                </a:lnTo>
                <a:close/>
              </a:path>
            </a:pathLst>
          </a:cu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0" name="Triangle"/>
          <p:cNvSpPr/>
          <p:nvPr/>
        </p:nvSpPr>
        <p:spPr>
          <a:xfrm rot="21255612">
            <a:off x="9923462" y="-147638"/>
            <a:ext cx="2436813" cy="35433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1522"/>
                </a:lnTo>
                <a:lnTo>
                  <a:pt x="18557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1" name="Triangle"/>
          <p:cNvSpPr/>
          <p:nvPr/>
        </p:nvSpPr>
        <p:spPr>
          <a:xfrm rot="10452885">
            <a:off x="9837737" y="146050"/>
            <a:ext cx="1068388" cy="15525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1522"/>
                </a:lnTo>
                <a:lnTo>
                  <a:pt x="18557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2" name="Rectangle"/>
          <p:cNvSpPr/>
          <p:nvPr/>
        </p:nvSpPr>
        <p:spPr>
          <a:xfrm>
            <a:off x="1743075" y="1752600"/>
            <a:ext cx="3013075" cy="488950"/>
          </a:xfrm>
          <a:prstGeom prst="rect">
            <a:avLst/>
          </a:prstGeom>
          <a:ln>
            <a:solidFill>
              <a:srgbClr val="404040"/>
            </a:solidFill>
          </a:ln>
        </p:spPr>
        <p:txBody>
          <a:bodyPr lIns="45719" rIns="45719"/>
          <a:lstStyle/>
          <a:p>
            <a:pPr algn="ctr">
              <a:spcBef>
                <a:spcPts val="1600"/>
              </a:spcBef>
              <a:defRPr b="1" sz="16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3" name="Rectangle"/>
          <p:cNvSpPr/>
          <p:nvPr/>
        </p:nvSpPr>
        <p:spPr>
          <a:xfrm>
            <a:off x="695325" y="1752600"/>
            <a:ext cx="814388" cy="488950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" name="1"/>
          <p:cNvSpPr txBox="1"/>
          <p:nvPr/>
        </p:nvSpPr>
        <p:spPr>
          <a:xfrm>
            <a:off x="968057" y="1789112"/>
            <a:ext cx="41973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5" name="Rectangle"/>
          <p:cNvSpPr/>
          <p:nvPr/>
        </p:nvSpPr>
        <p:spPr>
          <a:xfrm>
            <a:off x="1743075" y="2413000"/>
            <a:ext cx="3013075" cy="488950"/>
          </a:xfrm>
          <a:prstGeom prst="rect">
            <a:avLst/>
          </a:prstGeom>
          <a:ln>
            <a:solidFill>
              <a:srgbClr val="404040"/>
            </a:solidFill>
          </a:ln>
        </p:spPr>
        <p:txBody>
          <a:bodyPr lIns="45719" rIns="45719"/>
          <a:lstStyle/>
          <a:p>
            <a:pPr algn="ctr">
              <a:spcBef>
                <a:spcPts val="1600"/>
              </a:spcBef>
              <a:defRPr b="1" sz="16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6" name="Rectangle"/>
          <p:cNvSpPr/>
          <p:nvPr/>
        </p:nvSpPr>
        <p:spPr>
          <a:xfrm>
            <a:off x="695325" y="2413000"/>
            <a:ext cx="814388" cy="488950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" name="2"/>
          <p:cNvSpPr txBox="1"/>
          <p:nvPr/>
        </p:nvSpPr>
        <p:spPr>
          <a:xfrm>
            <a:off x="968057" y="2449512"/>
            <a:ext cx="87058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8" name="Rectangle"/>
          <p:cNvSpPr/>
          <p:nvPr/>
        </p:nvSpPr>
        <p:spPr>
          <a:xfrm>
            <a:off x="1741487" y="3073400"/>
            <a:ext cx="3014663" cy="488950"/>
          </a:xfrm>
          <a:prstGeom prst="rect">
            <a:avLst/>
          </a:prstGeom>
          <a:ln>
            <a:solidFill>
              <a:srgbClr val="404040"/>
            </a:solidFill>
          </a:ln>
        </p:spPr>
        <p:txBody>
          <a:bodyPr lIns="45719" rIns="45719"/>
          <a:lstStyle/>
          <a:p>
            <a:pPr algn="ctr">
              <a:spcBef>
                <a:spcPts val="1600"/>
              </a:spcBef>
              <a:defRPr b="1" sz="16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9" name="Rectangle"/>
          <p:cNvSpPr/>
          <p:nvPr/>
        </p:nvSpPr>
        <p:spPr>
          <a:xfrm>
            <a:off x="692150" y="3073400"/>
            <a:ext cx="814388" cy="488950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" name="3"/>
          <p:cNvSpPr txBox="1"/>
          <p:nvPr/>
        </p:nvSpPr>
        <p:spPr>
          <a:xfrm>
            <a:off x="964882" y="3109912"/>
            <a:ext cx="87058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1" name="Rectangle"/>
          <p:cNvSpPr/>
          <p:nvPr/>
        </p:nvSpPr>
        <p:spPr>
          <a:xfrm>
            <a:off x="1741487" y="3733800"/>
            <a:ext cx="3014663" cy="488950"/>
          </a:xfrm>
          <a:prstGeom prst="rect">
            <a:avLst/>
          </a:prstGeom>
          <a:ln>
            <a:solidFill>
              <a:srgbClr val="404040"/>
            </a:solidFill>
          </a:ln>
        </p:spPr>
        <p:txBody>
          <a:bodyPr lIns="45719" rIns="45719"/>
          <a:lstStyle/>
          <a:p>
            <a:pPr algn="ctr">
              <a:spcBef>
                <a:spcPts val="1600"/>
              </a:spcBef>
              <a:defRPr b="1" sz="16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42" name="Rectangle"/>
          <p:cNvSpPr/>
          <p:nvPr/>
        </p:nvSpPr>
        <p:spPr>
          <a:xfrm>
            <a:off x="692150" y="3733800"/>
            <a:ext cx="814388" cy="488950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" name="4"/>
          <p:cNvSpPr txBox="1"/>
          <p:nvPr/>
        </p:nvSpPr>
        <p:spPr>
          <a:xfrm>
            <a:off x="964882" y="3770312"/>
            <a:ext cx="870586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4</a:t>
            </a:r>
          </a:p>
        </p:txBody>
      </p:sp>
      <p:grpSp>
        <p:nvGrpSpPr>
          <p:cNvPr id="46" name="Group"/>
          <p:cNvGrpSpPr/>
          <p:nvPr/>
        </p:nvGrpSpPr>
        <p:grpSpPr>
          <a:xfrm>
            <a:off x="575945" y="236537"/>
            <a:ext cx="2610485" cy="712789"/>
            <a:chOff x="0" y="0"/>
            <a:chExt cx="2610484" cy="712787"/>
          </a:xfrm>
        </p:grpSpPr>
        <p:sp>
          <p:nvSpPr>
            <p:cNvPr id="44" name="Agenda"/>
            <p:cNvSpPr txBox="1"/>
            <p:nvPr/>
          </p:nvSpPr>
          <p:spPr>
            <a:xfrm>
              <a:off x="0" y="0"/>
              <a:ext cx="2610485" cy="637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b="1" sz="3600">
                  <a:solidFill>
                    <a:srgbClr val="1C4885"/>
                  </a:solidFill>
                  <a:latin typeface="Microsoft YaHei"/>
                  <a:ea typeface="Microsoft YaHei"/>
                  <a:cs typeface="Microsoft YaHei"/>
                  <a:sym typeface="Microsoft YaHei"/>
                </a:defRPr>
              </a:lvl1pPr>
            </a:lstStyle>
            <a:p>
              <a:pPr/>
              <a:r>
                <a:t>Agenda</a:t>
              </a:r>
            </a:p>
          </p:txBody>
        </p:sp>
        <p:sp>
          <p:nvSpPr>
            <p:cNvPr id="45" name="Line"/>
            <p:cNvSpPr/>
            <p:nvPr/>
          </p:nvSpPr>
          <p:spPr>
            <a:xfrm>
              <a:off x="38128" y="712787"/>
              <a:ext cx="2550599" cy="1"/>
            </a:xfrm>
            <a:prstGeom prst="line">
              <a:avLst/>
            </a:prstGeom>
            <a:noFill/>
            <a:ln w="6350" cap="flat">
              <a:solidFill>
                <a:srgbClr val="7F7F7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47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65812" y="4013200"/>
            <a:ext cx="6326188" cy="2844800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Introduction to SA"/>
          <p:cNvSpPr txBox="1"/>
          <p:nvPr/>
        </p:nvSpPr>
        <p:spPr>
          <a:xfrm>
            <a:off x="1787207" y="1800225"/>
            <a:ext cx="2097694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Introduction to SA</a:t>
            </a:r>
          </a:p>
        </p:txBody>
      </p:sp>
      <p:sp>
        <p:nvSpPr>
          <p:cNvPr id="49" name="SA Techniques"/>
          <p:cNvSpPr txBox="1"/>
          <p:nvPr/>
        </p:nvSpPr>
        <p:spPr>
          <a:xfrm>
            <a:off x="1766569" y="3143250"/>
            <a:ext cx="3085149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SA Techniques</a:t>
            </a:r>
          </a:p>
        </p:txBody>
      </p:sp>
      <p:sp>
        <p:nvSpPr>
          <p:cNvPr id="50" name="SA Tasks"/>
          <p:cNvSpPr txBox="1"/>
          <p:nvPr/>
        </p:nvSpPr>
        <p:spPr>
          <a:xfrm>
            <a:off x="1766570" y="2465387"/>
            <a:ext cx="110817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SA Tasks</a:t>
            </a:r>
          </a:p>
        </p:txBody>
      </p:sp>
      <p:sp>
        <p:nvSpPr>
          <p:cNvPr id="51" name="Rectangle"/>
          <p:cNvSpPr/>
          <p:nvPr/>
        </p:nvSpPr>
        <p:spPr>
          <a:xfrm>
            <a:off x="1744662" y="4405312"/>
            <a:ext cx="3011488" cy="488951"/>
          </a:xfrm>
          <a:prstGeom prst="rect">
            <a:avLst/>
          </a:prstGeom>
          <a:ln>
            <a:solidFill>
              <a:srgbClr val="404040"/>
            </a:solidFill>
          </a:ln>
        </p:spPr>
        <p:txBody>
          <a:bodyPr lIns="45719" rIns="45719"/>
          <a:lstStyle/>
          <a:p>
            <a:pPr algn="ctr">
              <a:spcBef>
                <a:spcPts val="1600"/>
              </a:spcBef>
              <a:defRPr b="1" sz="16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52" name="Rectangle"/>
          <p:cNvSpPr/>
          <p:nvPr/>
        </p:nvSpPr>
        <p:spPr>
          <a:xfrm>
            <a:off x="695325" y="4405312"/>
            <a:ext cx="814388" cy="4889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" name="5"/>
          <p:cNvSpPr txBox="1"/>
          <p:nvPr/>
        </p:nvSpPr>
        <p:spPr>
          <a:xfrm>
            <a:off x="968057" y="4441825"/>
            <a:ext cx="870586" cy="396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0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4" name="Challenges for SA"/>
          <p:cNvSpPr txBox="1"/>
          <p:nvPr/>
        </p:nvSpPr>
        <p:spPr>
          <a:xfrm>
            <a:off x="1787207" y="3827462"/>
            <a:ext cx="283273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Challenges for SA</a:t>
            </a:r>
          </a:p>
        </p:txBody>
      </p:sp>
      <p:sp>
        <p:nvSpPr>
          <p:cNvPr id="55" name="SA with Python"/>
          <p:cNvSpPr txBox="1"/>
          <p:nvPr/>
        </p:nvSpPr>
        <p:spPr>
          <a:xfrm>
            <a:off x="1798319" y="4481512"/>
            <a:ext cx="253111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defRPr b="1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 SA with Python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32075" y="354012"/>
            <a:ext cx="7481888" cy="3743326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Rectangle"/>
          <p:cNvSpPr/>
          <p:nvPr/>
        </p:nvSpPr>
        <p:spPr>
          <a:xfrm>
            <a:off x="0" y="4902200"/>
            <a:ext cx="12192000" cy="1955800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" name="1"/>
          <p:cNvSpPr txBox="1"/>
          <p:nvPr/>
        </p:nvSpPr>
        <p:spPr>
          <a:xfrm>
            <a:off x="45720" y="1571625"/>
            <a:ext cx="1403985" cy="533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400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0" name="Introduction to…"/>
          <p:cNvSpPr txBox="1"/>
          <p:nvPr/>
        </p:nvSpPr>
        <p:spPr>
          <a:xfrm>
            <a:off x="2080894" y="3194050"/>
            <a:ext cx="9574849" cy="174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5400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Introduction to </a:t>
            </a:r>
          </a:p>
          <a:p>
            <a:pPr>
              <a:defRPr b="1" sz="5400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Sentiment Analysis</a:t>
            </a:r>
          </a:p>
        </p:txBody>
      </p:sp>
      <p:grpSp>
        <p:nvGrpSpPr>
          <p:cNvPr id="63" name="Group"/>
          <p:cNvGrpSpPr/>
          <p:nvPr/>
        </p:nvGrpSpPr>
        <p:grpSpPr>
          <a:xfrm>
            <a:off x="6804024" y="3178174"/>
            <a:ext cx="5578477" cy="3481389"/>
            <a:chOff x="0" y="0"/>
            <a:chExt cx="5578475" cy="3481387"/>
          </a:xfrm>
        </p:grpSpPr>
        <p:pic>
          <p:nvPicPr>
            <p:cNvPr id="61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52040"/>
            <a:stretch>
              <a:fillRect/>
            </a:stretch>
          </p:blipFill>
          <p:spPr>
            <a:xfrm>
              <a:off x="6646" y="0"/>
              <a:ext cx="5571830" cy="17207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2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50633" r="2627" b="0"/>
            <a:stretch>
              <a:fillRect/>
            </a:stretch>
          </p:blipFill>
          <p:spPr>
            <a:xfrm>
              <a:off x="-1" y="1710252"/>
              <a:ext cx="5425464" cy="17711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4" name="Shape"/>
          <p:cNvSpPr/>
          <p:nvPr/>
        </p:nvSpPr>
        <p:spPr>
          <a:xfrm>
            <a:off x="490537" y="4902200"/>
            <a:ext cx="2063751" cy="9159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7215" y="0"/>
                </a:moveTo>
                <a:lnTo>
                  <a:pt x="14430" y="0"/>
                </a:lnTo>
                <a:lnTo>
                  <a:pt x="14430" y="8665"/>
                </a:lnTo>
                <a:lnTo>
                  <a:pt x="21600" y="8665"/>
                </a:lnTo>
                <a:lnTo>
                  <a:pt x="21600" y="21600"/>
                </a:lnTo>
                <a:lnTo>
                  <a:pt x="0" y="21600"/>
                </a:lnTo>
                <a:lnTo>
                  <a:pt x="0" y="8665"/>
                </a:lnTo>
                <a:lnTo>
                  <a:pt x="7215" y="8665"/>
                </a:lnTo>
                <a:lnTo>
                  <a:pt x="7215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69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67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8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0" name="Computational study of opinions, sentiments, evaluations, attitudes,…"/>
          <p:cNvSpPr txBox="1"/>
          <p:nvPr/>
        </p:nvSpPr>
        <p:spPr>
          <a:xfrm>
            <a:off x="700087" y="1892300"/>
            <a:ext cx="11002963" cy="2060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spcBef>
                <a:spcPts val="500"/>
              </a:spcBef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Computational study of opinions, sentiments, evaluations, attitudes,</a:t>
            </a:r>
          </a:p>
          <a:p>
            <a:pPr defTabSz="1216025">
              <a:spcBef>
                <a:spcPts val="500"/>
              </a:spcBef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appraisal, affects, views, emotions, subjectivity, etc., expressed in</a:t>
            </a:r>
          </a:p>
          <a:p>
            <a:pPr defTabSz="1216025">
              <a:spcBef>
                <a:spcPts val="500"/>
              </a:spcBef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text.</a:t>
            </a:r>
          </a:p>
          <a:p>
            <a:pPr defTabSz="1216025">
              <a:spcBef>
                <a:spcPts val="500"/>
              </a:spcBef>
              <a:buSzPct val="100000"/>
              <a:buFont typeface="Arial"/>
              <a:buChar char="•"/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Text includes reviews, blogs, discussions, news, comments, feedback…</a:t>
            </a:r>
          </a:p>
          <a:p>
            <a:pPr defTabSz="1216025">
              <a:spcBef>
                <a:spcPts val="500"/>
              </a:spcBef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Also called </a:t>
            </a:r>
            <a:r>
              <a:rPr i="1">
                <a:solidFill>
                  <a:srgbClr val="00B050"/>
                </a:solidFill>
              </a:rPr>
              <a:t>Opinion mining</a:t>
            </a:r>
          </a:p>
        </p:txBody>
      </p:sp>
      <p:sp>
        <p:nvSpPr>
          <p:cNvPr id="71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" name="Sentiment Analysis"/>
          <p:cNvSpPr txBox="1"/>
          <p:nvPr/>
        </p:nvSpPr>
        <p:spPr>
          <a:xfrm>
            <a:off x="190182" y="207962"/>
            <a:ext cx="2904789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Sentiment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0" presetID="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5" name="Document level…"/>
          <p:cNvSpPr txBox="1"/>
          <p:nvPr/>
        </p:nvSpPr>
        <p:spPr>
          <a:xfrm>
            <a:off x="538162" y="1568450"/>
            <a:ext cx="6821488" cy="44275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 defTabSz="1216025">
              <a:spcBef>
                <a:spcPts val="500"/>
              </a:spcBef>
              <a:buSzPct val="100000"/>
              <a:buFont typeface="Arial"/>
              <a:buChar char="•"/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Document level </a:t>
            </a:r>
          </a:p>
          <a:p>
            <a:pPr marL="342900" indent="-342900" defTabSz="1216025"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Performed on an entire document</a:t>
            </a:r>
          </a:p>
          <a:p>
            <a:pPr marL="342900" indent="-342900" defTabSz="1216025"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Assume the document holds only one polarity</a:t>
            </a:r>
          </a:p>
          <a:p>
            <a:pPr marL="342900" indent="-342900" defTabSz="1216025">
              <a:spcBef>
                <a:spcPts val="500"/>
              </a:spcBef>
              <a:buSzPct val="100000"/>
              <a:buFont typeface="Arial"/>
              <a:buChar char="•"/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Sentence level</a:t>
            </a:r>
          </a:p>
          <a:p>
            <a:pPr lvl="1" marL="685800" indent="-342900" defTabSz="1216025"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Independently performed for each sentence.</a:t>
            </a:r>
          </a:p>
          <a:p>
            <a:pPr lvl="1" marL="685800" indent="-342900" defTabSz="1216025"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Useful when the document contains a mix of sentiments</a:t>
            </a:r>
          </a:p>
          <a:p>
            <a:pPr lvl="1" marL="685800" indent="-342900" defTabSz="1216025"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May be then aggregated to decide the sentiment per document.</a:t>
            </a:r>
          </a:p>
          <a:p>
            <a:pPr marL="342900" indent="-342900" defTabSz="1216025">
              <a:spcBef>
                <a:spcPts val="500"/>
              </a:spcBef>
              <a:buSzPct val="100000"/>
              <a:buFont typeface="Arial"/>
              <a:buChar char="•"/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Aspect level</a:t>
            </a:r>
          </a:p>
          <a:p>
            <a:pPr lvl="1" marL="685800" indent="-342900" defTabSz="1216025"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Each sentence may contain multiple aspects</a:t>
            </a:r>
          </a:p>
          <a:p>
            <a:pPr lvl="1" marL="685800" indent="-342900" defTabSz="1216025"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Goal: to assign polarity to each aspect</a:t>
            </a:r>
          </a:p>
          <a:p>
            <a:pPr lvl="1" marL="685800" indent="-342900" defTabSz="1216025">
              <a:spcBef>
                <a:spcPts val="5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76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" name="Sentiment Analysis Levels"/>
          <p:cNvSpPr txBox="1"/>
          <p:nvPr/>
        </p:nvSpPr>
        <p:spPr>
          <a:xfrm>
            <a:off x="190182" y="207962"/>
            <a:ext cx="3938400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Sentiment Analysis Levels</a:t>
            </a:r>
          </a:p>
        </p:txBody>
      </p:sp>
      <p:grpSp>
        <p:nvGrpSpPr>
          <p:cNvPr id="80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78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9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83" name="Group"/>
          <p:cNvGrpSpPr/>
          <p:nvPr/>
        </p:nvGrpSpPr>
        <p:grpSpPr>
          <a:xfrm>
            <a:off x="7542212" y="1563687"/>
            <a:ext cx="4581526" cy="3967163"/>
            <a:chOff x="0" y="0"/>
            <a:chExt cx="4581525" cy="3967162"/>
          </a:xfrm>
        </p:grpSpPr>
        <p:sp>
          <p:nvSpPr>
            <p:cNvPr id="81" name="Rectangle"/>
            <p:cNvSpPr/>
            <p:nvPr/>
          </p:nvSpPr>
          <p:spPr>
            <a:xfrm>
              <a:off x="0" y="0"/>
              <a:ext cx="4581525" cy="3967163"/>
            </a:xfrm>
            <a:prstGeom prst="rect">
              <a:avLst/>
            </a:prstGeom>
            <a:solidFill>
              <a:srgbClr val="E7E6E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" name="I bought an iPhone a few days ago. It is such a nice phone. The touch screen is really cool. The voice quality is clear too. It is much better than my old Blackberry, which was a terrible phone and so difficult to type with its tiny keys. However, my mot"/>
            <p:cNvSpPr txBox="1"/>
            <p:nvPr/>
          </p:nvSpPr>
          <p:spPr>
            <a:xfrm>
              <a:off x="45719" y="0"/>
              <a:ext cx="4490087" cy="37409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i="1">
                  <a:solidFill>
                    <a:srgbClr val="292934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  <a:r>
                <a:t>I bought an </a:t>
              </a:r>
              <a:r>
                <a:rPr>
                  <a:solidFill>
                    <a:srgbClr val="FF0000"/>
                  </a:solidFill>
                </a:rPr>
                <a:t>iPhone </a:t>
              </a:r>
              <a:r>
                <a:t>a few days</a:t>
              </a:r>
              <a:br/>
              <a:r>
                <a:t>ago. It is such a nice </a:t>
              </a:r>
              <a:r>
                <a:rPr>
                  <a:solidFill>
                    <a:srgbClr val="0000FF"/>
                  </a:solidFill>
                </a:rPr>
                <a:t>phone. </a:t>
              </a:r>
              <a:r>
                <a:t>The </a:t>
              </a:r>
              <a:r>
                <a:rPr>
                  <a:solidFill>
                    <a:srgbClr val="0000FF"/>
                  </a:solidFill>
                </a:rPr>
                <a:t>touch screen </a:t>
              </a:r>
              <a:r>
                <a:t>is really cool</a:t>
              </a:r>
              <a:r>
                <a:rPr>
                  <a:solidFill>
                    <a:srgbClr val="0000FF"/>
                  </a:solidFill>
                </a:rPr>
                <a:t>.</a:t>
              </a:r>
              <a:br>
                <a:rPr>
                  <a:solidFill>
                    <a:srgbClr val="0000FF"/>
                  </a:solidFill>
                </a:rPr>
              </a:br>
              <a:r>
                <a:t>The </a:t>
              </a:r>
              <a:r>
                <a:rPr>
                  <a:solidFill>
                    <a:srgbClr val="0000FF"/>
                  </a:solidFill>
                </a:rPr>
                <a:t>voice quality </a:t>
              </a:r>
              <a:r>
                <a:t>is clear too. It is much better than my old</a:t>
              </a:r>
              <a:br/>
              <a:r>
                <a:rPr>
                  <a:solidFill>
                    <a:srgbClr val="FF0000"/>
                  </a:solidFill>
                </a:rPr>
                <a:t>Blackberry</a:t>
              </a:r>
              <a:r>
                <a:t>, which was a terrible </a:t>
              </a:r>
              <a:r>
                <a:rPr>
                  <a:solidFill>
                    <a:srgbClr val="0000FF"/>
                  </a:solidFill>
                </a:rPr>
                <a:t>phone </a:t>
              </a:r>
              <a:r>
                <a:t>and so </a:t>
              </a:r>
              <a:r>
                <a:rPr>
                  <a:solidFill>
                    <a:srgbClr val="0000FF"/>
                  </a:solidFill>
                </a:rPr>
                <a:t>difficult to</a:t>
              </a:r>
              <a:br>
                <a:rPr>
                  <a:solidFill>
                    <a:srgbClr val="0000FF"/>
                  </a:solidFill>
                </a:rPr>
              </a:br>
              <a:r>
                <a:rPr>
                  <a:solidFill>
                    <a:srgbClr val="0000FF"/>
                  </a:solidFill>
                </a:rPr>
                <a:t>type </a:t>
              </a:r>
              <a:r>
                <a:t>with its </a:t>
              </a:r>
              <a:r>
                <a:rPr>
                  <a:solidFill>
                    <a:srgbClr val="0000FF"/>
                  </a:solidFill>
                </a:rPr>
                <a:t>tiny keys. </a:t>
              </a:r>
              <a:r>
                <a:t>However, </a:t>
              </a:r>
              <a:r>
                <a:rPr>
                  <a:solidFill>
                    <a:srgbClr val="C00000"/>
                  </a:solidFill>
                </a:rPr>
                <a:t>my mother </a:t>
              </a:r>
              <a:r>
                <a:t>was mad with</a:t>
              </a:r>
              <a:br/>
              <a:r>
                <a:t>me as I did not tell her before I bought the </a:t>
              </a:r>
              <a:r>
                <a:rPr>
                  <a:solidFill>
                    <a:srgbClr val="0000FF"/>
                  </a:solidFill>
                </a:rPr>
                <a:t>phone. </a:t>
              </a:r>
              <a:r>
                <a:t>She also</a:t>
              </a:r>
              <a:br/>
              <a:r>
                <a:t>thought the phone was too </a:t>
              </a:r>
              <a:r>
                <a:rPr>
                  <a:solidFill>
                    <a:srgbClr val="0000FF"/>
                  </a:solidFill>
                </a:rPr>
                <a:t>expensive…</a:t>
              </a:r>
              <a:r>
                <a:rPr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br>
                <a:rPr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0" presetID="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" name="Aspect/Feature Level…"/>
          <p:cNvSpPr txBox="1"/>
          <p:nvPr/>
        </p:nvSpPr>
        <p:spPr>
          <a:xfrm>
            <a:off x="720725" y="1603375"/>
            <a:ext cx="6821488" cy="3196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spcBef>
                <a:spcPts val="500"/>
              </a:spcBef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Aspect/Feature Level</a:t>
            </a:r>
          </a:p>
          <a:p>
            <a:pPr defTabSz="1216025">
              <a:spcBef>
                <a:spcPts val="6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Opinion targets: </a:t>
            </a:r>
            <a:r>
              <a:rPr>
                <a:solidFill>
                  <a:srgbClr val="FFFFFF"/>
                </a:solidFill>
              </a:rPr>
              <a:t>entities and their features/aspects</a:t>
            </a:r>
            <a:endParaRPr>
              <a:solidFill>
                <a:srgbClr val="FFFFFF"/>
              </a:solidFill>
            </a:endParaRP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i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Touch screen, voice quality, price…of iPhone</a:t>
            </a:r>
          </a:p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Sentiments</a:t>
            </a:r>
            <a:r>
              <a:rPr>
                <a:solidFill>
                  <a:srgbClr val="FFFFFF"/>
                </a:solidFill>
              </a:rPr>
              <a:t>: positive and negative</a:t>
            </a:r>
            <a:endParaRPr>
              <a:solidFill>
                <a:srgbClr val="FFFFFF"/>
              </a:solidFill>
            </a:endParaRPr>
          </a:p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Opinion holders</a:t>
            </a:r>
            <a:r>
              <a:rPr>
                <a:solidFill>
                  <a:srgbClr val="FFFFFF"/>
                </a:solidFill>
              </a:rPr>
              <a:t>: persons who hold the opinions</a:t>
            </a:r>
            <a:endParaRPr>
              <a:solidFill>
                <a:srgbClr val="FFFFFF"/>
              </a:solidFill>
            </a:endParaRP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i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Myself, my mother</a:t>
            </a:r>
          </a:p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Time</a:t>
            </a:r>
            <a:r>
              <a:rPr>
                <a:solidFill>
                  <a:srgbClr val="FFFFFF"/>
                </a:solidFill>
              </a:rPr>
              <a:t>: when opinions are expressed</a:t>
            </a:r>
            <a:endParaRPr>
              <a:solidFill>
                <a:srgbClr val="FFFFFF"/>
              </a:solidFill>
            </a:endParaRP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</a:t>
            </a:r>
            <a:r>
              <a:rPr b="0" i="1"/>
              <a:t>Few days ago</a:t>
            </a:r>
          </a:p>
        </p:txBody>
      </p:sp>
      <p:sp>
        <p:nvSpPr>
          <p:cNvPr id="87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" name="Basic Components of an Opinion"/>
          <p:cNvSpPr txBox="1"/>
          <p:nvPr/>
        </p:nvSpPr>
        <p:spPr>
          <a:xfrm>
            <a:off x="190182" y="207962"/>
            <a:ext cx="4913373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Basic Components of an Opinion</a:t>
            </a:r>
          </a:p>
        </p:txBody>
      </p:sp>
      <p:grpSp>
        <p:nvGrpSpPr>
          <p:cNvPr id="91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89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0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94" name="Group"/>
          <p:cNvGrpSpPr/>
          <p:nvPr/>
        </p:nvGrpSpPr>
        <p:grpSpPr>
          <a:xfrm>
            <a:off x="7542212" y="1563687"/>
            <a:ext cx="4581526" cy="3967163"/>
            <a:chOff x="0" y="0"/>
            <a:chExt cx="4581525" cy="3967162"/>
          </a:xfrm>
        </p:grpSpPr>
        <p:sp>
          <p:nvSpPr>
            <p:cNvPr id="92" name="Rectangle"/>
            <p:cNvSpPr/>
            <p:nvPr/>
          </p:nvSpPr>
          <p:spPr>
            <a:xfrm>
              <a:off x="0" y="0"/>
              <a:ext cx="4581525" cy="3967163"/>
            </a:xfrm>
            <a:prstGeom prst="rect">
              <a:avLst/>
            </a:prstGeom>
            <a:solidFill>
              <a:srgbClr val="E7E6E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3" name="I bought an iPhone a few days ago. It is such a nice phone. The touch screen is really cool. The voice quality is clear too. It is much better than my old Blackberry, which was a terrible phone and so difficult to type with its tiny keys. However, my mot"/>
            <p:cNvSpPr txBox="1"/>
            <p:nvPr/>
          </p:nvSpPr>
          <p:spPr>
            <a:xfrm>
              <a:off x="45719" y="0"/>
              <a:ext cx="4490087" cy="374091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i="1">
                  <a:solidFill>
                    <a:srgbClr val="292934"/>
                  </a:solidFill>
                  <a:latin typeface="+mj-lt"/>
                  <a:ea typeface="+mj-ea"/>
                  <a:cs typeface="+mj-cs"/>
                  <a:sym typeface="Helvetica"/>
                </a:defRPr>
              </a:pPr>
              <a:r>
                <a:t>I bought an </a:t>
              </a:r>
              <a:r>
                <a:rPr>
                  <a:solidFill>
                    <a:srgbClr val="FF0000"/>
                  </a:solidFill>
                </a:rPr>
                <a:t>iPhone </a:t>
              </a:r>
              <a:r>
                <a:t>a few days</a:t>
              </a:r>
              <a:br/>
              <a:r>
                <a:t>ago. It is such a nice </a:t>
              </a:r>
              <a:r>
                <a:rPr>
                  <a:solidFill>
                    <a:srgbClr val="0000FF"/>
                  </a:solidFill>
                </a:rPr>
                <a:t>phone. </a:t>
              </a:r>
              <a:r>
                <a:t>The </a:t>
              </a:r>
              <a:r>
                <a:rPr>
                  <a:solidFill>
                    <a:srgbClr val="0000FF"/>
                  </a:solidFill>
                </a:rPr>
                <a:t>touch screen </a:t>
              </a:r>
              <a:r>
                <a:t>is really cool</a:t>
              </a:r>
              <a:r>
                <a:rPr>
                  <a:solidFill>
                    <a:srgbClr val="0000FF"/>
                  </a:solidFill>
                </a:rPr>
                <a:t>.</a:t>
              </a:r>
              <a:br>
                <a:rPr>
                  <a:solidFill>
                    <a:srgbClr val="0000FF"/>
                  </a:solidFill>
                </a:rPr>
              </a:br>
              <a:r>
                <a:t>The </a:t>
              </a:r>
              <a:r>
                <a:rPr>
                  <a:solidFill>
                    <a:srgbClr val="0000FF"/>
                  </a:solidFill>
                </a:rPr>
                <a:t>voice quality </a:t>
              </a:r>
              <a:r>
                <a:t>is clear too. It is much better than my old</a:t>
              </a:r>
              <a:br/>
              <a:r>
                <a:rPr>
                  <a:solidFill>
                    <a:srgbClr val="FF0000"/>
                  </a:solidFill>
                </a:rPr>
                <a:t>Blackberry</a:t>
              </a:r>
              <a:r>
                <a:t>, which was a terrible </a:t>
              </a:r>
              <a:r>
                <a:rPr>
                  <a:solidFill>
                    <a:srgbClr val="0000FF"/>
                  </a:solidFill>
                </a:rPr>
                <a:t>phone </a:t>
              </a:r>
              <a:r>
                <a:t>and so </a:t>
              </a:r>
              <a:r>
                <a:rPr>
                  <a:solidFill>
                    <a:srgbClr val="0000FF"/>
                  </a:solidFill>
                </a:rPr>
                <a:t>difficult to</a:t>
              </a:r>
              <a:br>
                <a:rPr>
                  <a:solidFill>
                    <a:srgbClr val="0000FF"/>
                  </a:solidFill>
                </a:rPr>
              </a:br>
              <a:r>
                <a:rPr>
                  <a:solidFill>
                    <a:srgbClr val="0000FF"/>
                  </a:solidFill>
                </a:rPr>
                <a:t>type </a:t>
              </a:r>
              <a:r>
                <a:t>with its </a:t>
              </a:r>
              <a:r>
                <a:rPr>
                  <a:solidFill>
                    <a:srgbClr val="0000FF"/>
                  </a:solidFill>
                </a:rPr>
                <a:t>tiny keys. </a:t>
              </a:r>
              <a:r>
                <a:t>However, </a:t>
              </a:r>
              <a:r>
                <a:rPr>
                  <a:solidFill>
                    <a:srgbClr val="C00000"/>
                  </a:solidFill>
                </a:rPr>
                <a:t>my mother </a:t>
              </a:r>
              <a:r>
                <a:t>was mad with</a:t>
              </a:r>
              <a:br/>
              <a:r>
                <a:t>me as I did not tell her before I bought the </a:t>
              </a:r>
              <a:r>
                <a:rPr>
                  <a:solidFill>
                    <a:srgbClr val="0000FF"/>
                  </a:solidFill>
                </a:rPr>
                <a:t>phone. </a:t>
              </a:r>
              <a:r>
                <a:t>She also</a:t>
              </a:r>
              <a:br/>
              <a:r>
                <a:t>thought the phone was too </a:t>
              </a:r>
              <a:r>
                <a:rPr>
                  <a:solidFill>
                    <a:srgbClr val="0000FF"/>
                  </a:solidFill>
                </a:rPr>
                <a:t>expensive…</a:t>
              </a:r>
              <a:r>
                <a:rPr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br>
                <a:rPr i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0" presetID="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" name="Entity and Aspect…"/>
          <p:cNvSpPr txBox="1"/>
          <p:nvPr/>
        </p:nvSpPr>
        <p:spPr>
          <a:xfrm>
            <a:off x="720725" y="1603375"/>
            <a:ext cx="10877550" cy="1825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spcBef>
                <a:spcPts val="600"/>
              </a:spcBef>
              <a:defRPr b="1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Entity and Aspect</a:t>
            </a:r>
          </a:p>
          <a:p>
            <a:pPr defTabSz="1216025">
              <a:spcBef>
                <a:spcPts val="500"/>
              </a:spcBef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</a:t>
            </a:r>
          </a:p>
          <a:p>
            <a:pPr defTabSz="1216025">
              <a:spcBef>
                <a:spcPts val="400"/>
              </a:spcBef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Entity: a product, person, event, organization, or topic</a:t>
            </a:r>
          </a:p>
          <a:p>
            <a:pPr defTabSz="1216025">
              <a:spcBef>
                <a:spcPts val="400"/>
              </a:spcBef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Entity can be represented as a hierarchy of </a:t>
            </a:r>
            <a:r>
              <a:rPr>
                <a:solidFill>
                  <a:srgbClr val="00B050"/>
                </a:solidFill>
              </a:rPr>
              <a:t>components</a:t>
            </a:r>
            <a:r>
              <a:t> and sub-components with corresponding </a:t>
            </a:r>
            <a:r>
              <a:rPr>
                <a:solidFill>
                  <a:srgbClr val="00B050"/>
                </a:solidFill>
              </a:rPr>
              <a:t>attributes</a:t>
            </a:r>
          </a:p>
        </p:txBody>
      </p:sp>
      <p:sp>
        <p:nvSpPr>
          <p:cNvPr id="98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Aspect-based Sentiment Analysis"/>
          <p:cNvSpPr txBox="1"/>
          <p:nvPr/>
        </p:nvSpPr>
        <p:spPr>
          <a:xfrm>
            <a:off x="190182" y="207962"/>
            <a:ext cx="5072917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Aspect-based Sentiment Analysis </a:t>
            </a:r>
          </a:p>
        </p:txBody>
      </p:sp>
      <p:grpSp>
        <p:nvGrpSpPr>
          <p:cNvPr id="102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100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1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12" name="Group"/>
          <p:cNvGrpSpPr/>
          <p:nvPr/>
        </p:nvGrpSpPr>
        <p:grpSpPr>
          <a:xfrm>
            <a:off x="4379912" y="3613149"/>
            <a:ext cx="8214043" cy="2328217"/>
            <a:chOff x="0" y="0"/>
            <a:chExt cx="8214042" cy="2328215"/>
          </a:xfrm>
        </p:grpSpPr>
        <p:sp>
          <p:nvSpPr>
            <p:cNvPr id="103" name="Line"/>
            <p:cNvSpPr/>
            <p:nvPr/>
          </p:nvSpPr>
          <p:spPr>
            <a:xfrm flipV="1">
              <a:off x="1816100" y="1435099"/>
              <a:ext cx="1162050" cy="269877"/>
            </a:xfrm>
            <a:prstGeom prst="line">
              <a:avLst/>
            </a:prstGeom>
            <a:noFill/>
            <a:ln w="19050" cap="flat">
              <a:solidFill>
                <a:srgbClr val="FF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111" name="Group"/>
            <p:cNvGrpSpPr/>
            <p:nvPr/>
          </p:nvGrpSpPr>
          <p:grpSpPr>
            <a:xfrm>
              <a:off x="0" y="-1"/>
              <a:ext cx="8214043" cy="2328217"/>
              <a:chOff x="0" y="0"/>
              <a:chExt cx="8214042" cy="2328215"/>
            </a:xfrm>
          </p:grpSpPr>
          <p:pic>
            <p:nvPicPr>
              <p:cNvPr id="104" name="image.png" descr="image.png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0" y="0"/>
                <a:ext cx="6024568" cy="144597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05" name="Components/…"/>
              <p:cNvSpPr txBox="1"/>
              <p:nvPr/>
            </p:nvSpPr>
            <p:spPr>
              <a:xfrm>
                <a:off x="1109564" y="1710854"/>
                <a:ext cx="2239559" cy="6173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b="1">
                    <a:solidFill>
                      <a:srgbClr val="00B05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Components/</a:t>
                </a:r>
              </a:p>
              <a:p>
                <a:pPr>
                  <a:defRPr b="1">
                    <a:solidFill>
                      <a:srgbClr val="00B050"/>
                    </a:solid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Sub-components</a:t>
                </a:r>
              </a:p>
            </p:txBody>
          </p:sp>
          <p:sp>
            <p:nvSpPr>
              <p:cNvPr id="106" name="Attributes"/>
              <p:cNvSpPr txBox="1"/>
              <p:nvPr/>
            </p:nvSpPr>
            <p:spPr>
              <a:xfrm>
                <a:off x="6301779" y="473606"/>
                <a:ext cx="1912264" cy="3506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>
                  <a:defRPr b="1">
                    <a:solidFill>
                      <a:srgbClr val="00B05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/>
                <a:r>
                  <a:t>Attributes</a:t>
                </a:r>
              </a:p>
            </p:txBody>
          </p:sp>
          <p:sp>
            <p:nvSpPr>
              <p:cNvPr id="107" name="Line"/>
              <p:cNvSpPr/>
              <p:nvPr/>
            </p:nvSpPr>
            <p:spPr>
              <a:xfrm flipH="1" flipV="1">
                <a:off x="1428749" y="558799"/>
                <a:ext cx="384177" cy="1152526"/>
              </a:xfrm>
              <a:prstGeom prst="line">
                <a:avLst/>
              </a:prstGeom>
              <a:noFill/>
              <a:ln w="19050" cap="flat">
                <a:solidFill>
                  <a:srgbClr val="FF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8" name="Line"/>
              <p:cNvSpPr/>
              <p:nvPr/>
            </p:nvSpPr>
            <p:spPr>
              <a:xfrm flipH="1" flipV="1">
                <a:off x="1028699" y="1311274"/>
                <a:ext cx="787402" cy="400051"/>
              </a:xfrm>
              <a:prstGeom prst="line">
                <a:avLst/>
              </a:prstGeom>
              <a:noFill/>
              <a:ln w="19050" cap="flat">
                <a:solidFill>
                  <a:srgbClr val="FF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09" name="Line"/>
              <p:cNvSpPr/>
              <p:nvPr/>
            </p:nvSpPr>
            <p:spPr>
              <a:xfrm flipH="1">
                <a:off x="5492749" y="784224"/>
                <a:ext cx="763588" cy="350839"/>
              </a:xfrm>
              <a:prstGeom prst="line">
                <a:avLst/>
              </a:prstGeom>
              <a:noFill/>
              <a:ln w="19050" cap="flat">
                <a:solidFill>
                  <a:srgbClr val="FF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110" name="Line"/>
              <p:cNvSpPr/>
              <p:nvPr/>
            </p:nvSpPr>
            <p:spPr>
              <a:xfrm flipH="1" flipV="1">
                <a:off x="5492749" y="414337"/>
                <a:ext cx="763588" cy="244476"/>
              </a:xfrm>
              <a:prstGeom prst="line">
                <a:avLst/>
              </a:prstGeom>
              <a:noFill/>
              <a:ln w="19050" cap="flat">
                <a:solidFill>
                  <a:srgbClr val="FF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113" name="referred to Aspects"/>
          <p:cNvSpPr txBox="1"/>
          <p:nvPr/>
        </p:nvSpPr>
        <p:spPr>
          <a:xfrm>
            <a:off x="679132" y="5181600"/>
            <a:ext cx="6002974" cy="43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referred to </a:t>
            </a:r>
            <a:r>
              <a:rPr>
                <a:solidFill>
                  <a:srgbClr val="FFFF00"/>
                </a:solidFill>
              </a:rPr>
              <a:t>Aspects</a:t>
            </a:r>
          </a:p>
        </p:txBody>
      </p:sp>
      <p:sp>
        <p:nvSpPr>
          <p:cNvPr id="114" name="Arrow"/>
          <p:cNvSpPr/>
          <p:nvPr/>
        </p:nvSpPr>
        <p:spPr>
          <a:xfrm>
            <a:off x="144462" y="5359400"/>
            <a:ext cx="354013" cy="179388"/>
          </a:xfrm>
          <a:prstGeom prst="rightArrow">
            <a:avLst>
              <a:gd name="adj1" fmla="val 50000"/>
              <a:gd name="adj2" fmla="val 50332"/>
            </a:avLst>
          </a:prstGeom>
          <a:solidFill>
            <a:schemeClr val="accent1"/>
          </a:solidFill>
          <a:ln>
            <a:solidFill>
              <a:srgbClr val="00B0F0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10" presetID="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19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117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8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20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Sentiment Analysis Applications"/>
          <p:cNvSpPr txBox="1"/>
          <p:nvPr/>
        </p:nvSpPr>
        <p:spPr>
          <a:xfrm>
            <a:off x="190182" y="207962"/>
            <a:ext cx="4807259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Sentiment Analysis Applications</a:t>
            </a:r>
          </a:p>
        </p:txBody>
      </p:sp>
      <p:pic>
        <p:nvPicPr>
          <p:cNvPr id="122" name="image.png" descr="imag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35100" y="1492250"/>
            <a:ext cx="8940800" cy="44545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32075" y="354012"/>
            <a:ext cx="7481888" cy="3743326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Rectangle"/>
          <p:cNvSpPr/>
          <p:nvPr/>
        </p:nvSpPr>
        <p:spPr>
          <a:xfrm>
            <a:off x="0" y="4902200"/>
            <a:ext cx="12192000" cy="1955800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2"/>
          <p:cNvSpPr txBox="1"/>
          <p:nvPr/>
        </p:nvSpPr>
        <p:spPr>
          <a:xfrm>
            <a:off x="45720" y="1571625"/>
            <a:ext cx="1403985" cy="533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400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29" name="Sentiment Analysis Tasks"/>
          <p:cNvSpPr txBox="1"/>
          <p:nvPr/>
        </p:nvSpPr>
        <p:spPr>
          <a:xfrm>
            <a:off x="2677794" y="3178175"/>
            <a:ext cx="9776462" cy="916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400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Sentiment Analysis Tasks</a:t>
            </a:r>
          </a:p>
        </p:txBody>
      </p:sp>
      <p:grpSp>
        <p:nvGrpSpPr>
          <p:cNvPr id="132" name="Group"/>
          <p:cNvGrpSpPr/>
          <p:nvPr/>
        </p:nvGrpSpPr>
        <p:grpSpPr>
          <a:xfrm>
            <a:off x="6804024" y="3178174"/>
            <a:ext cx="5578477" cy="3481389"/>
            <a:chOff x="0" y="0"/>
            <a:chExt cx="5578475" cy="3481387"/>
          </a:xfrm>
        </p:grpSpPr>
        <p:pic>
          <p:nvPicPr>
            <p:cNvPr id="130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52040"/>
            <a:stretch>
              <a:fillRect/>
            </a:stretch>
          </p:blipFill>
          <p:spPr>
            <a:xfrm>
              <a:off x="6646" y="0"/>
              <a:ext cx="5571830" cy="17207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1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50633" r="2627" b="0"/>
            <a:stretch>
              <a:fillRect/>
            </a:stretch>
          </p:blipFill>
          <p:spPr>
            <a:xfrm>
              <a:off x="-1" y="1710252"/>
              <a:ext cx="5425464" cy="17711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3" name="Shape"/>
          <p:cNvSpPr/>
          <p:nvPr/>
        </p:nvSpPr>
        <p:spPr>
          <a:xfrm>
            <a:off x="341312" y="4933950"/>
            <a:ext cx="2155826" cy="881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528" y="0"/>
                </a:moveTo>
                <a:lnTo>
                  <a:pt x="11194" y="0"/>
                </a:lnTo>
                <a:lnTo>
                  <a:pt x="7934" y="7193"/>
                </a:lnTo>
                <a:lnTo>
                  <a:pt x="7934" y="7507"/>
                </a:lnTo>
                <a:lnTo>
                  <a:pt x="21600" y="7507"/>
                </a:lnTo>
                <a:lnTo>
                  <a:pt x="21600" y="21600"/>
                </a:lnTo>
                <a:lnTo>
                  <a:pt x="0" y="21600"/>
                </a:lnTo>
                <a:lnTo>
                  <a:pt x="0" y="8293"/>
                </a:lnTo>
                <a:lnTo>
                  <a:pt x="3528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Sentiment Analysis Tasks"/>
          <p:cNvSpPr txBox="1"/>
          <p:nvPr/>
        </p:nvSpPr>
        <p:spPr>
          <a:xfrm>
            <a:off x="190182" y="207962"/>
            <a:ext cx="3831244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Sentiment Analysis Tasks</a:t>
            </a:r>
          </a:p>
        </p:txBody>
      </p:sp>
      <p:sp>
        <p:nvSpPr>
          <p:cNvPr id="138" name="Subjectivity classification:…"/>
          <p:cNvSpPr txBox="1"/>
          <p:nvPr/>
        </p:nvSpPr>
        <p:spPr>
          <a:xfrm>
            <a:off x="430212" y="1477962"/>
            <a:ext cx="5254626" cy="3726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spcBef>
                <a:spcPts val="400"/>
              </a:spcBef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Subjectivity classification:</a:t>
            </a:r>
          </a:p>
          <a:p>
            <a:pPr defTabSz="1216025">
              <a:spcBef>
                <a:spcPts val="400"/>
              </a:spcBef>
              <a:buSzPct val="100000"/>
              <a:buChar char="-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Recognizes subjective hints, emotional phrases, and subjective idea</a:t>
            </a:r>
          </a:p>
          <a:p>
            <a:pPr defTabSz="1216025">
              <a:spcBef>
                <a:spcPts val="600"/>
              </a:spcBef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defTabSz="1216025">
              <a:spcBef>
                <a:spcPts val="400"/>
              </a:spcBef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Sentiment classification:</a:t>
            </a:r>
          </a:p>
          <a:p>
            <a:pPr defTabSz="1216025">
              <a:spcBef>
                <a:spcPts val="400"/>
              </a:spcBef>
              <a:buSzPct val="100000"/>
              <a:buChar char="-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Polarity determination: positive, negative, (neutral)</a:t>
            </a:r>
          </a:p>
          <a:p>
            <a:pPr defTabSz="1216025">
              <a:spcBef>
                <a:spcPts val="600"/>
              </a:spcBef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defTabSz="1216025">
              <a:spcBef>
                <a:spcPts val="400"/>
              </a:spcBef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Opinion spam detection:</a:t>
            </a:r>
          </a:p>
          <a:p>
            <a:pPr defTabSz="1216025">
              <a:spcBef>
                <a:spcPts val="400"/>
              </a:spcBef>
              <a:buSzPct val="100000"/>
              <a:buChar char="-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Opinion spam: fake reviews, well-written comments supporting or criticizing a product for certain benefits.</a:t>
            </a:r>
          </a:p>
        </p:txBody>
      </p:sp>
      <p:pic>
        <p:nvPicPr>
          <p:cNvPr id="139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1825" y="1349375"/>
            <a:ext cx="6454775" cy="44529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2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140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1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Sentiment Analysis Tasks"/>
          <p:cNvSpPr txBox="1"/>
          <p:nvPr/>
        </p:nvSpPr>
        <p:spPr>
          <a:xfrm>
            <a:off x="190182" y="207962"/>
            <a:ext cx="3831244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Sentiment Analysis Tasks</a:t>
            </a:r>
          </a:p>
        </p:txBody>
      </p:sp>
      <p:sp>
        <p:nvSpPr>
          <p:cNvPr id="147" name="Implicit language detection:…"/>
          <p:cNvSpPr txBox="1"/>
          <p:nvPr/>
        </p:nvSpPr>
        <p:spPr>
          <a:xfrm>
            <a:off x="430212" y="1477962"/>
            <a:ext cx="5254626" cy="390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spcBef>
                <a:spcPts val="400"/>
              </a:spcBef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Implicit language detection: </a:t>
            </a: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Implicit language: sarcasm, irony, and humor</a:t>
            </a:r>
          </a:p>
          <a:p>
            <a:pPr defTabSz="1216025">
              <a:spcBef>
                <a:spcPts val="400"/>
              </a:spcBef>
              <a:buSzPct val="100000"/>
              <a:buChar char="à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flip the meaning and polarity of the sentence.</a:t>
            </a:r>
          </a:p>
          <a:p>
            <a:pPr defTabSz="1216025">
              <a:spcBef>
                <a:spcPts val="300"/>
              </a:spcBef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   E.g.: “Brilliant, I am fired”</a:t>
            </a:r>
          </a:p>
          <a:p>
            <a:pPr defTabSz="1216025">
              <a:spcBef>
                <a:spcPts val="600"/>
              </a:spcBef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defTabSz="1216025">
              <a:spcBef>
                <a:spcPts val="400"/>
              </a:spcBef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Aspect extraction:</a:t>
            </a: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Aspect-level SA includes 3 steps: </a:t>
            </a:r>
          </a:p>
          <a:p>
            <a:pPr defTabSz="1216025">
              <a:spcBef>
                <a:spcPts val="300"/>
              </a:spcBef>
              <a:buSzPct val="100000"/>
              <a:buAutoNum type="arabicPeriod" startAt="1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aspect extraction, </a:t>
            </a:r>
          </a:p>
          <a:p>
            <a:pPr defTabSz="1216025">
              <a:spcBef>
                <a:spcPts val="300"/>
              </a:spcBef>
              <a:buSzPct val="100000"/>
              <a:buAutoNum type="arabicPeriod" startAt="1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polarity classification, </a:t>
            </a:r>
          </a:p>
          <a:p>
            <a:pPr defTabSz="1216025">
              <a:spcBef>
                <a:spcPts val="300"/>
              </a:spcBef>
              <a:buSzPct val="100000"/>
              <a:buAutoNum type="arabicPeriod" startAt="1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and aggregation</a:t>
            </a: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Methods: </a:t>
            </a:r>
          </a:p>
          <a:p>
            <a:pPr defTabSz="1216025">
              <a:spcBef>
                <a:spcPts val="300"/>
              </a:spcBef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      - Frequency-based</a:t>
            </a:r>
          </a:p>
          <a:p>
            <a:pPr defTabSz="1216025">
              <a:spcBef>
                <a:spcPts val="300"/>
              </a:spcBef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      - Rule-based</a:t>
            </a:r>
          </a:p>
        </p:txBody>
      </p:sp>
      <p:pic>
        <p:nvPicPr>
          <p:cNvPr id="148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1825" y="1349375"/>
            <a:ext cx="6454775" cy="44529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1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149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7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Document Sentiment Classification"/>
          <p:cNvSpPr txBox="1"/>
          <p:nvPr/>
        </p:nvSpPr>
        <p:spPr>
          <a:xfrm>
            <a:off x="190182" y="207962"/>
            <a:ext cx="5218917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Document Sentiment Classification</a:t>
            </a:r>
          </a:p>
        </p:txBody>
      </p:sp>
      <p:grpSp>
        <p:nvGrpSpPr>
          <p:cNvPr id="158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156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7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59" name="Classify a whole opinion document (e.g., a review) based on the overall sentiment of the opinion holder…"/>
          <p:cNvSpPr txBox="1"/>
          <p:nvPr/>
        </p:nvSpPr>
        <p:spPr>
          <a:xfrm>
            <a:off x="430212" y="1477962"/>
            <a:ext cx="10999788" cy="3602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85750" indent="-285750" defTabSz="1216025">
              <a:spcBef>
                <a:spcPts val="500"/>
              </a:spcBef>
              <a:buSzPct val="100000"/>
              <a:buFont typeface="Arial"/>
              <a:buChar char="•"/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Classify a whole opinion document (e.g., a review) based on the overall sentiment of the opinion holder</a:t>
            </a:r>
          </a:p>
          <a:p>
            <a:pPr marL="285750" indent="-285750" defTabSz="1216025">
              <a:spcBef>
                <a:spcPts val="500"/>
              </a:spcBef>
              <a:buSzPct val="100000"/>
              <a:buFont typeface="Arial"/>
              <a:buChar char="•"/>
              <a:defRPr b="1" sz="22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Classes</a:t>
            </a:r>
            <a:r>
              <a:rPr>
                <a:solidFill>
                  <a:srgbClr val="FFFFFF"/>
                </a:solidFill>
              </a:rPr>
              <a:t>: Positive, Negative, Neutral</a:t>
            </a:r>
            <a:endParaRPr>
              <a:solidFill>
                <a:srgbClr val="FFFFFF"/>
              </a:solidFill>
            </a:endParaRPr>
          </a:p>
          <a:p>
            <a:pPr lvl="1" marL="1371600" indent="-285750"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Neutral is often hard to detect and often ignored</a:t>
            </a:r>
          </a:p>
          <a:p>
            <a:pPr marL="285750" indent="-285750" defTabSz="1216025">
              <a:spcBef>
                <a:spcPts val="500"/>
              </a:spcBef>
              <a:buSzPct val="100000"/>
              <a:buFont typeface="Arial"/>
              <a:buChar char="•"/>
              <a:defRPr b="1" sz="22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Assumption</a:t>
            </a:r>
            <a:r>
              <a:rPr>
                <a:solidFill>
                  <a:srgbClr val="FFFFFF"/>
                </a:solidFill>
              </a:rPr>
              <a:t>: The doc is written by a </a:t>
            </a:r>
            <a:r>
              <a:rPr>
                <a:solidFill>
                  <a:srgbClr val="FFC000"/>
                </a:solidFill>
              </a:rPr>
              <a:t>single</a:t>
            </a:r>
            <a:r>
              <a:rPr>
                <a:solidFill>
                  <a:srgbClr val="FFFFFF"/>
                </a:solidFill>
              </a:rPr>
              <a:t> person and expresses opinion/sentiment on a </a:t>
            </a:r>
            <a:r>
              <a:rPr>
                <a:solidFill>
                  <a:srgbClr val="FFC000"/>
                </a:solidFill>
              </a:rPr>
              <a:t>single</a:t>
            </a:r>
            <a:r>
              <a:rPr>
                <a:solidFill>
                  <a:srgbClr val="FFFFFF"/>
                </a:solidFill>
              </a:rPr>
              <a:t> entity</a:t>
            </a:r>
            <a:endParaRPr>
              <a:solidFill>
                <a:srgbClr val="FFFFFF"/>
              </a:solidFill>
            </a:endParaRPr>
          </a:p>
          <a:p>
            <a:pPr lvl="1" marL="1371600" indent="-285750"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Product reviews usually satisfy the assumption</a:t>
            </a:r>
          </a:p>
          <a:p>
            <a:pPr lvl="2" marL="1771650" indent="-285750"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Positive: 4 or 5 stars, negative: 1 or 2 stars</a:t>
            </a:r>
          </a:p>
          <a:p>
            <a:pPr lvl="1" marL="1371600" indent="-285750" defTabSz="1216025">
              <a:spcBef>
                <a:spcPts val="5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marL="285750" indent="-285750" defTabSz="1216025">
              <a:spcBef>
                <a:spcPts val="500"/>
              </a:spcBef>
              <a:defRPr b="1" sz="24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=&gt;  Perhaps the most widely studied problem.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5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Sentence Subjectivity &amp; Sentiment Classification"/>
          <p:cNvSpPr txBox="1"/>
          <p:nvPr/>
        </p:nvSpPr>
        <p:spPr>
          <a:xfrm>
            <a:off x="190182" y="207962"/>
            <a:ext cx="7184193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Sentence Subjectivity &amp; Sentiment Classification</a:t>
            </a:r>
          </a:p>
        </p:txBody>
      </p:sp>
      <p:grpSp>
        <p:nvGrpSpPr>
          <p:cNvPr id="166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164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5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67" name="Document-level sentiment classification is too coarse for most applications…"/>
          <p:cNvSpPr txBox="1"/>
          <p:nvPr/>
        </p:nvSpPr>
        <p:spPr>
          <a:xfrm>
            <a:off x="430212" y="1381124"/>
            <a:ext cx="10999788" cy="4913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85750" indent="-285750" defTabSz="1216025">
              <a:spcBef>
                <a:spcPts val="500"/>
              </a:spcBef>
              <a:buSzPct val="100000"/>
              <a:buFont typeface="Arial"/>
              <a:buChar char="•"/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Document-level sentiment classification is too coarse for most applications</a:t>
            </a:r>
          </a:p>
          <a:p>
            <a:pPr marL="285750" indent="-285750" defTabSz="1216025">
              <a:spcBef>
                <a:spcPts val="500"/>
              </a:spcBef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0">
                <a:latin typeface="Wingdings"/>
                <a:ea typeface="Wingdings"/>
                <a:cs typeface="Wingdings"/>
                <a:sym typeface="Wingdings"/>
              </a:rPr>
              <a:t> </a:t>
            </a:r>
            <a:r>
              <a:t>So do sentence-level analysis</a:t>
            </a:r>
          </a:p>
          <a:p>
            <a:pPr marL="285750" indent="-285750" defTabSz="1216025">
              <a:spcBef>
                <a:spcPts val="500"/>
              </a:spcBef>
              <a:buSzPct val="100000"/>
              <a:buFont typeface="Arial"/>
              <a:buChar char="•"/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</a:t>
            </a:r>
            <a:r>
              <a:rPr>
                <a:solidFill>
                  <a:srgbClr val="00B050"/>
                </a:solidFill>
              </a:rPr>
              <a:t>Assumption</a:t>
            </a:r>
            <a:r>
              <a:t>: </a:t>
            </a:r>
            <a:r>
              <a:t>a single sentiment per sentence</a:t>
            </a:r>
          </a:p>
          <a:p>
            <a:pPr lvl="1" marL="1371600" indent="-285750" defTabSz="1216025">
              <a:spcBef>
                <a:spcPts val="400"/>
              </a:spcBef>
              <a:buSzPct val="100000"/>
              <a:buChar char="à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Not always true, so one can classify </a:t>
            </a:r>
            <a:r>
              <a:rPr>
                <a:solidFill>
                  <a:srgbClr val="FFC000"/>
                </a:solidFill>
              </a:rPr>
              <a:t>clauses</a:t>
            </a:r>
            <a:r>
              <a:t> instead</a:t>
            </a:r>
          </a:p>
          <a:p>
            <a:pPr marL="285750" indent="-285750" defTabSz="1216025">
              <a:spcBef>
                <a:spcPts val="500"/>
              </a:spcBef>
              <a:buSzPct val="100000"/>
              <a:buFont typeface="Arial"/>
              <a:buChar char="•"/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Usually consists of two steps:</a:t>
            </a:r>
          </a:p>
          <a:p>
            <a:pPr lvl="1" marL="1371600" indent="-285750" defTabSz="1216025"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Subjectivity classification</a:t>
            </a:r>
            <a:r>
              <a:rPr>
                <a:solidFill>
                  <a:srgbClr val="FFFFFF"/>
                </a:solidFill>
              </a:rPr>
              <a:t>: To identify subjective sentences</a:t>
            </a:r>
            <a:endParaRPr>
              <a:solidFill>
                <a:srgbClr val="FFFFFF"/>
              </a:solidFill>
            </a:endParaRPr>
          </a:p>
          <a:p>
            <a:pPr lvl="1" marL="1371600" indent="-285750" defTabSz="1216025"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Sentiment classification </a:t>
            </a:r>
            <a:r>
              <a:rPr>
                <a:solidFill>
                  <a:srgbClr val="FFFFFF"/>
                </a:solidFill>
              </a:rPr>
              <a:t>of subjective sentences</a:t>
            </a:r>
            <a:endParaRPr>
              <a:solidFill>
                <a:srgbClr val="FFFFFF"/>
              </a:solidFill>
            </a:endParaRPr>
          </a:p>
          <a:p>
            <a:pPr lvl="2" marL="1828800" indent="-342900" defTabSz="1216025"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positive or negative</a:t>
            </a:r>
            <a:endParaRPr sz="2200"/>
          </a:p>
          <a:p>
            <a:pPr marL="285750" indent="-285750" defTabSz="1216025">
              <a:spcBef>
                <a:spcPts val="500"/>
              </a:spcBef>
              <a:buSzPct val="100000"/>
              <a:buFont typeface="Arial"/>
              <a:buChar char="•"/>
              <a:defRPr b="1" sz="22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Challenges</a:t>
            </a:r>
            <a:r>
              <a:rPr>
                <a:solidFill>
                  <a:srgbClr val="FFFFFF"/>
                </a:solidFill>
              </a:rPr>
              <a:t>: </a:t>
            </a:r>
            <a:endParaRPr>
              <a:solidFill>
                <a:srgbClr val="FFFFFF"/>
              </a:solidFill>
            </a:endParaRPr>
          </a:p>
          <a:p>
            <a:pPr lvl="1" marL="1371600" indent="-285750"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Many objective sentences can imply sentiments</a:t>
            </a:r>
          </a:p>
          <a:p>
            <a:pPr lvl="1" marL="1371600" indent="-285750"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Many subjective sentences do not express positive or negative sentiments/opinions</a:t>
            </a:r>
          </a:p>
          <a:p>
            <a:pPr lvl="1" marL="285750" indent="800100" defTabSz="1216025">
              <a:spcBef>
                <a:spcPts val="400"/>
              </a:spcBef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	E.g., “I believe he went home yesterday.”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6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0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Aspect-based Sentiment Analysis"/>
          <p:cNvSpPr txBox="1"/>
          <p:nvPr/>
        </p:nvSpPr>
        <p:spPr>
          <a:xfrm>
            <a:off x="190182" y="207962"/>
            <a:ext cx="4988234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Aspect-based Sentiment Analysis</a:t>
            </a:r>
          </a:p>
        </p:txBody>
      </p:sp>
      <p:grpSp>
        <p:nvGrpSpPr>
          <p:cNvPr id="174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172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3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5" name="Sentiment classification at both the document and sentence (or clause) levels are useful, BUT…"/>
          <p:cNvSpPr txBox="1"/>
          <p:nvPr/>
        </p:nvSpPr>
        <p:spPr>
          <a:xfrm>
            <a:off x="706437" y="1443037"/>
            <a:ext cx="10436226" cy="3046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 defTabSz="1216025">
              <a:spcBef>
                <a:spcPts val="500"/>
              </a:spcBef>
              <a:buSzPct val="100000"/>
              <a:buFont typeface="Arial"/>
              <a:buChar char="•"/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Sentiment classification at both the document and sentence (or clause) levels are useful, BUT </a:t>
            </a:r>
          </a:p>
          <a:p>
            <a:pPr lvl="1" marL="1085850" indent="-342900" defTabSz="1216025">
              <a:spcBef>
                <a:spcPts val="500"/>
              </a:spcBef>
              <a:buSzPct val="100000"/>
              <a:buFont typeface="Arial"/>
              <a:buChar char="•"/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They do not find </a:t>
            </a:r>
            <a:r>
              <a:rPr>
                <a:solidFill>
                  <a:srgbClr val="FFC000"/>
                </a:solidFill>
              </a:rPr>
              <a:t>what</a:t>
            </a:r>
            <a:r>
              <a:t> people liked and disliked</a:t>
            </a:r>
          </a:p>
          <a:p>
            <a:pPr lvl="1" marL="1085850" indent="-342900" defTabSz="1216025">
              <a:spcBef>
                <a:spcPts val="500"/>
              </a:spcBef>
              <a:buSzPct val="100000"/>
              <a:buFont typeface="Arial"/>
              <a:buChar char="•"/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They do not identify the </a:t>
            </a:r>
            <a:r>
              <a:rPr>
                <a:solidFill>
                  <a:srgbClr val="FFC000"/>
                </a:solidFill>
              </a:rPr>
              <a:t>targets</a:t>
            </a:r>
            <a:r>
              <a:t> of opinions, i.e.,</a:t>
            </a:r>
          </a:p>
          <a:p>
            <a:pPr lvl="2" marL="1485900" indent="-342900"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Entities and their aspects</a:t>
            </a:r>
          </a:p>
          <a:p>
            <a:pPr lvl="2" marL="1485900" indent="-342900"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Without knowing targets, opinions are of limited use</a:t>
            </a:r>
          </a:p>
          <a:p>
            <a:pPr lvl="2" marL="342900" indent="800100" defTabSz="1216025">
              <a:spcBef>
                <a:spcPts val="400"/>
              </a:spcBef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defTabSz="1216025">
              <a:spcBef>
                <a:spcPts val="500"/>
              </a:spcBef>
              <a:defRPr b="1" sz="24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t> We need to go to the entity and aspect level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8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Aspect-based Sentiment Analysis (ABSA)"/>
          <p:cNvSpPr txBox="1"/>
          <p:nvPr/>
        </p:nvSpPr>
        <p:spPr>
          <a:xfrm>
            <a:off x="190182" y="207962"/>
            <a:ext cx="6139568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Aspect-based Sentiment Analysis (ABSA)</a:t>
            </a:r>
          </a:p>
        </p:txBody>
      </p:sp>
      <p:grpSp>
        <p:nvGrpSpPr>
          <p:cNvPr id="182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180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1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3" name="Most of the research is based on online reviews…"/>
          <p:cNvSpPr txBox="1"/>
          <p:nvPr/>
        </p:nvSpPr>
        <p:spPr>
          <a:xfrm>
            <a:off x="265112" y="1443037"/>
            <a:ext cx="5570539" cy="3440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 defTabSz="1216025">
              <a:lnSpc>
                <a:spcPct val="130000"/>
              </a:lnSpc>
              <a:spcBef>
                <a:spcPts val="500"/>
              </a:spcBef>
              <a:buSzPct val="100000"/>
              <a:buFont typeface="Arial"/>
              <a:buChar char="•"/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Most of the research is based on </a:t>
            </a:r>
            <a:r>
              <a:rPr>
                <a:solidFill>
                  <a:srgbClr val="FFC000"/>
                </a:solidFill>
              </a:rPr>
              <a:t>online reviews</a:t>
            </a:r>
            <a:endParaRPr>
              <a:solidFill>
                <a:srgbClr val="FFC000"/>
              </a:solidFill>
            </a:endParaRPr>
          </a:p>
          <a:p>
            <a:pPr marL="342900" indent="-342900" defTabSz="1216025">
              <a:lnSpc>
                <a:spcPct val="130000"/>
              </a:lnSpc>
              <a:spcBef>
                <a:spcPts val="500"/>
              </a:spcBef>
              <a:buSzPct val="100000"/>
              <a:buFont typeface="Arial"/>
              <a:buChar char="•"/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For reviews, ABSA is easier because the entity (i.e., product name) is usually known</a:t>
            </a:r>
          </a:p>
          <a:p>
            <a:pPr marL="342900" indent="-342900" defTabSz="1216025">
              <a:lnSpc>
                <a:spcPct val="130000"/>
              </a:lnSpc>
              <a:spcBef>
                <a:spcPts val="500"/>
              </a:spcBef>
              <a:buSzPct val="100000"/>
              <a:buFont typeface="Arial"/>
              <a:buChar char="•"/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Reviewers simply express positive and negative opinions on different </a:t>
            </a:r>
            <a:r>
              <a:rPr>
                <a:solidFill>
                  <a:srgbClr val="FFC000"/>
                </a:solidFill>
              </a:rPr>
              <a:t>aspects of the entity</a:t>
            </a:r>
            <a:r>
              <a:t>.</a:t>
            </a:r>
          </a:p>
        </p:txBody>
      </p:sp>
      <p:pic>
        <p:nvPicPr>
          <p:cNvPr id="184" name="image.png" descr="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86450" y="1355725"/>
            <a:ext cx="6254750" cy="47164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" name="Aspect-based Sentiment Analysis (ABSA)"/>
          <p:cNvSpPr txBox="1"/>
          <p:nvPr/>
        </p:nvSpPr>
        <p:spPr>
          <a:xfrm>
            <a:off x="190182" y="207962"/>
            <a:ext cx="6139568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Aspect-based Sentiment Analysis (ABSA)</a:t>
            </a:r>
          </a:p>
        </p:txBody>
      </p:sp>
      <p:grpSp>
        <p:nvGrpSpPr>
          <p:cNvPr id="191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189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0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92" name="Finding entities (entity set expansion)…"/>
          <p:cNvSpPr txBox="1"/>
          <p:nvPr/>
        </p:nvSpPr>
        <p:spPr>
          <a:xfrm>
            <a:off x="265112" y="1395412"/>
            <a:ext cx="11393488" cy="4809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lnSpc>
                <a:spcPct val="130000"/>
              </a:lnSpc>
              <a:spcBef>
                <a:spcPts val="500"/>
              </a:spcBef>
              <a:defRPr b="1" sz="2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Finding entities (entity set expansion)</a:t>
            </a:r>
          </a:p>
          <a:p>
            <a:pPr defTabSz="1216025">
              <a:lnSpc>
                <a:spcPct val="130000"/>
              </a:lnSpc>
              <a:spcBef>
                <a:spcPts val="500"/>
              </a:spcBef>
              <a:buSzPct val="100000"/>
              <a:buFont typeface="Arial"/>
              <a:buChar char="•"/>
              <a:defRPr b="1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E.g., one wants to study opinions on phones</a:t>
            </a:r>
          </a:p>
          <a:p>
            <a:pPr lvl="1" marL="1085850" indent="-342900" defTabSz="1216025">
              <a:lnSpc>
                <a:spcPct val="130000"/>
              </a:lnSpc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given Motorola and Nokia, find all phone brands and models in a corpus, e.g., Samsung, Moto</a:t>
            </a:r>
          </a:p>
          <a:p>
            <a:pPr defTabSz="1216025">
              <a:lnSpc>
                <a:spcPct val="130000"/>
              </a:lnSpc>
              <a:spcBef>
                <a:spcPts val="500"/>
              </a:spcBef>
              <a:defRPr b="1" sz="2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Feature/Aspect extraction</a:t>
            </a:r>
          </a:p>
          <a:p>
            <a:pPr defTabSz="1216025">
              <a:lnSpc>
                <a:spcPct val="130000"/>
              </a:lnSpc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Extraction may use:</a:t>
            </a:r>
          </a:p>
          <a:p>
            <a:pPr lvl="1" marL="1085850" indent="-342900" defTabSz="1216025">
              <a:lnSpc>
                <a:spcPct val="130000"/>
              </a:lnSpc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frequent nouns and noun phrases</a:t>
            </a:r>
          </a:p>
          <a:p>
            <a:pPr lvl="1" marL="1085850" indent="-342900" defTabSz="1216025">
              <a:lnSpc>
                <a:spcPct val="130000"/>
              </a:lnSpc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opinion and target relations: Proximity or syntactic dependency</a:t>
            </a:r>
          </a:p>
          <a:p>
            <a:pPr lvl="1" marL="1085850" indent="-342900" defTabSz="1216025">
              <a:lnSpc>
                <a:spcPct val="130000"/>
              </a:lnSpc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standard IE methods: keyword extraction, NER, …</a:t>
            </a:r>
          </a:p>
          <a:p>
            <a:pPr lvl="2" marL="1485900" indent="-342900" defTabSz="1216025">
              <a:lnSpc>
                <a:spcPct val="130000"/>
              </a:lnSpc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Rule-based or supervised learning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Aspect-based Sentiment Analysis (ABSA)"/>
          <p:cNvSpPr txBox="1"/>
          <p:nvPr/>
        </p:nvSpPr>
        <p:spPr>
          <a:xfrm>
            <a:off x="190182" y="207962"/>
            <a:ext cx="6139568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Aspect-based Sentiment Analysis (ABSA)</a:t>
            </a:r>
          </a:p>
        </p:txBody>
      </p:sp>
      <p:grpSp>
        <p:nvGrpSpPr>
          <p:cNvPr id="199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197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8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00" name="image.png" descr="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9375" y="1365250"/>
            <a:ext cx="11649075" cy="22193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32075" y="354012"/>
            <a:ext cx="7481888" cy="3743326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Rectangle"/>
          <p:cNvSpPr/>
          <p:nvPr/>
        </p:nvSpPr>
        <p:spPr>
          <a:xfrm>
            <a:off x="0" y="4902200"/>
            <a:ext cx="12192000" cy="1955800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3"/>
          <p:cNvSpPr txBox="1"/>
          <p:nvPr/>
        </p:nvSpPr>
        <p:spPr>
          <a:xfrm>
            <a:off x="45720" y="1571625"/>
            <a:ext cx="1403985" cy="533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400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05" name="SA Methods and…"/>
          <p:cNvSpPr txBox="1"/>
          <p:nvPr/>
        </p:nvSpPr>
        <p:spPr>
          <a:xfrm>
            <a:off x="2406332" y="3243262"/>
            <a:ext cx="9930449" cy="1742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5400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SA Methods and </a:t>
            </a:r>
          </a:p>
          <a:p>
            <a:pPr>
              <a:defRPr b="1" sz="5400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t>Techniques</a:t>
            </a:r>
          </a:p>
        </p:txBody>
      </p:sp>
      <p:grpSp>
        <p:nvGrpSpPr>
          <p:cNvPr id="208" name="Group"/>
          <p:cNvGrpSpPr/>
          <p:nvPr/>
        </p:nvGrpSpPr>
        <p:grpSpPr>
          <a:xfrm>
            <a:off x="6804024" y="3178174"/>
            <a:ext cx="5578477" cy="3481389"/>
            <a:chOff x="0" y="0"/>
            <a:chExt cx="5578475" cy="3481387"/>
          </a:xfrm>
        </p:grpSpPr>
        <p:pic>
          <p:nvPicPr>
            <p:cNvPr id="206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52040"/>
            <a:stretch>
              <a:fillRect/>
            </a:stretch>
          </p:blipFill>
          <p:spPr>
            <a:xfrm>
              <a:off x="6646" y="0"/>
              <a:ext cx="5571830" cy="17207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7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50633" r="2627" b="0"/>
            <a:stretch>
              <a:fillRect/>
            </a:stretch>
          </p:blipFill>
          <p:spPr>
            <a:xfrm>
              <a:off x="-1" y="1710252"/>
              <a:ext cx="5425464" cy="17711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9" name="Shape"/>
          <p:cNvSpPr/>
          <p:nvPr/>
        </p:nvSpPr>
        <p:spPr>
          <a:xfrm>
            <a:off x="428625" y="4899025"/>
            <a:ext cx="2082800" cy="9763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292" y="0"/>
                </a:moveTo>
                <a:lnTo>
                  <a:pt x="21600" y="0"/>
                </a:lnTo>
                <a:lnTo>
                  <a:pt x="21401" y="4389"/>
                </a:lnTo>
                <a:cubicBezTo>
                  <a:pt x="20954" y="9033"/>
                  <a:pt x="19837" y="12819"/>
                  <a:pt x="18050" y="15746"/>
                </a:cubicBezTo>
                <a:cubicBezTo>
                  <a:pt x="15667" y="19649"/>
                  <a:pt x="12491" y="21600"/>
                  <a:pt x="8521" y="21600"/>
                </a:cubicBezTo>
                <a:cubicBezTo>
                  <a:pt x="4995" y="21600"/>
                  <a:pt x="2154" y="20357"/>
                  <a:pt x="0" y="17870"/>
                </a:cubicBezTo>
                <a:lnTo>
                  <a:pt x="0" y="4415"/>
                </a:lnTo>
                <a:cubicBezTo>
                  <a:pt x="2287" y="8066"/>
                  <a:pt x="4958" y="9892"/>
                  <a:pt x="8012" y="9892"/>
                </a:cubicBezTo>
                <a:cubicBezTo>
                  <a:pt x="9945" y="9892"/>
                  <a:pt x="11480" y="8979"/>
                  <a:pt x="12616" y="7154"/>
                </a:cubicBezTo>
                <a:cubicBezTo>
                  <a:pt x="13468" y="5784"/>
                  <a:pt x="14001" y="3982"/>
                  <a:pt x="14214" y="1745"/>
                </a:cubicBezTo>
                <a:lnTo>
                  <a:pt x="14292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14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212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13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5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6" name="Feature selection"/>
          <p:cNvSpPr txBox="1"/>
          <p:nvPr/>
        </p:nvSpPr>
        <p:spPr>
          <a:xfrm>
            <a:off x="190182" y="207962"/>
            <a:ext cx="261115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Feature selection</a:t>
            </a:r>
          </a:p>
        </p:txBody>
      </p:sp>
      <p:sp>
        <p:nvSpPr>
          <p:cNvPr id="217" name="N-gram: Extracts unigram, bigram, and trigram based on their frequency…"/>
          <p:cNvSpPr txBox="1"/>
          <p:nvPr/>
        </p:nvSpPr>
        <p:spPr>
          <a:xfrm>
            <a:off x="622300" y="1423987"/>
            <a:ext cx="11188700" cy="46226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N-gram</a:t>
            </a:r>
            <a:r>
              <a:rPr>
                <a:solidFill>
                  <a:srgbClr val="FFFFFF"/>
                </a:solidFill>
              </a:rPr>
              <a:t>: Extracts unigram, bigram, and trigram based on their frequency</a:t>
            </a:r>
            <a:endParaRPr>
              <a:solidFill>
                <a:srgbClr val="FFFFFF"/>
              </a:solidFill>
            </a:endParaRPr>
          </a:p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Emoji</a:t>
            </a:r>
            <a:r>
              <a:rPr>
                <a:solidFill>
                  <a:srgbClr val="FFFFFF"/>
                </a:solidFill>
              </a:rPr>
              <a:t>: Facial expression used to convey emotion </a:t>
            </a:r>
            <a:endParaRPr>
              <a:solidFill>
                <a:srgbClr val="FFFFFF"/>
              </a:solidFill>
            </a:endParaRPr>
          </a:p>
          <a:p>
            <a:pPr defTabSz="1216025">
              <a:spcBef>
                <a:spcPts val="400"/>
              </a:spcBef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0">
                <a:latin typeface="Wingdings"/>
                <a:ea typeface="Wingdings"/>
                <a:cs typeface="Wingdings"/>
                <a:sym typeface="Wingdings"/>
              </a:rPr>
              <a:t>	</a:t>
            </a:r>
            <a:r>
              <a:t> A useful feature</a:t>
            </a:r>
          </a:p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Punctuation marks</a:t>
            </a:r>
            <a:r>
              <a:rPr>
                <a:solidFill>
                  <a:srgbClr val="FFFFFF"/>
                </a:solidFill>
              </a:rPr>
              <a:t>: Used to highlight the force of a positive or negative remark</a:t>
            </a:r>
            <a:endParaRPr>
              <a:solidFill>
                <a:srgbClr val="FFFFFF"/>
              </a:solidFill>
            </a:endParaRPr>
          </a:p>
          <a:p>
            <a:pPr defTabSz="1216025">
              <a:spcBef>
                <a:spcPts val="400"/>
              </a:spcBef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	E.g.: exclamation mark (!!!), question mark (???)</a:t>
            </a:r>
          </a:p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Words in slang</a:t>
            </a:r>
            <a:r>
              <a:rPr>
                <a:solidFill>
                  <a:srgbClr val="FFFFFF"/>
                </a:solidFill>
              </a:rPr>
              <a:t>: frequently used to introduce a sense of humor </a:t>
            </a:r>
            <a:endParaRPr>
              <a:solidFill>
                <a:srgbClr val="FFFFFF"/>
              </a:solidFill>
            </a:endParaRPr>
          </a:p>
          <a:p>
            <a:pPr defTabSz="1216025">
              <a:spcBef>
                <a:spcPts val="400"/>
              </a:spcBef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	E.g.: “lol”, “rofl”</a:t>
            </a:r>
          </a:p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Negations: </a:t>
            </a:r>
          </a:p>
          <a:p>
            <a:pPr defTabSz="1216025">
              <a:spcBef>
                <a:spcPts val="400"/>
              </a:spcBef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- Negation words can change or reverse the polarity of the opinion and shift the meaning of a sentence </a:t>
            </a:r>
            <a:r>
              <a:rPr b="0">
                <a:latin typeface="Wingdings"/>
                <a:ea typeface="Wingdings"/>
                <a:cs typeface="Wingdings"/>
                <a:sym typeface="Wingdings"/>
              </a:rPr>
              <a:t> </a:t>
            </a:r>
            <a:r>
              <a:t>very important features</a:t>
            </a:r>
          </a:p>
          <a:p>
            <a:pPr defTabSz="1216025">
              <a:spcBef>
                <a:spcPts val="400"/>
              </a:spcBef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	E.g.: not, cannot, neither, never, nowhere, none, etc. </a:t>
            </a:r>
          </a:p>
          <a:p>
            <a:pPr defTabSz="1216025">
              <a:spcBef>
                <a:spcPts val="400"/>
              </a:spcBef>
              <a:buSzPct val="100000"/>
              <a:buChar char="-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They may be eliminated by stopword databases.</a:t>
            </a:r>
          </a:p>
          <a:p>
            <a:pPr defTabSz="1216025">
              <a:spcBef>
                <a:spcPts val="400"/>
              </a:spcBef>
              <a:defRPr b="1" sz="20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t> So, be cautious when using external stopword libraries.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24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222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3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25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Feature Extraction"/>
          <p:cNvSpPr txBox="1"/>
          <p:nvPr/>
        </p:nvSpPr>
        <p:spPr>
          <a:xfrm>
            <a:off x="190182" y="207962"/>
            <a:ext cx="2780368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Feature Extraction</a:t>
            </a:r>
          </a:p>
        </p:txBody>
      </p:sp>
      <p:sp>
        <p:nvSpPr>
          <p:cNvPr id="227" name="BoW: Describes the occurrence of words in a document.…"/>
          <p:cNvSpPr txBox="1"/>
          <p:nvPr/>
        </p:nvSpPr>
        <p:spPr>
          <a:xfrm>
            <a:off x="769937" y="1416050"/>
            <a:ext cx="11009313" cy="3274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BoW</a:t>
            </a:r>
            <a:r>
              <a:rPr>
                <a:solidFill>
                  <a:srgbClr val="FFFFFF"/>
                </a:solidFill>
              </a:rPr>
              <a:t>: Describes the occurrence of words in a document. </a:t>
            </a:r>
            <a:endParaRPr>
              <a:solidFill>
                <a:srgbClr val="FFFFFF"/>
              </a:solidFill>
            </a:endParaRPr>
          </a:p>
          <a:p>
            <a:pPr defTabSz="1216025">
              <a:spcBef>
                <a:spcPts val="400"/>
              </a:spcBef>
              <a:buSzPct val="100000"/>
              <a:buChar char="-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E.g.: s1= “the food was good”, s2= “the service was bad”</a:t>
            </a:r>
          </a:p>
          <a:p>
            <a:pPr defTabSz="1216025">
              <a:spcBef>
                <a:spcPts val="400"/>
              </a:spcBef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	</a:t>
            </a:r>
            <a:r>
              <a:rPr b="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t> bag = {’the’, ‘food’, ‘was’, ‘service’, ‘bad’, ‘good’}</a:t>
            </a:r>
          </a:p>
          <a:p>
            <a:pPr defTabSz="1216025">
              <a:spcBef>
                <a:spcPts val="400"/>
              </a:spcBef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	</a:t>
            </a:r>
            <a:r>
              <a:rPr b="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t> v1= [ 1 1 1 0 0 1 ], v2= [ 1 0 1 1 1 0 ]</a:t>
            </a:r>
          </a:p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TF or TF-IDF</a:t>
            </a:r>
            <a:r>
              <a:rPr>
                <a:solidFill>
                  <a:srgbClr val="FFFFFF"/>
                </a:solidFill>
              </a:rPr>
              <a:t>: Based on the frequency of n-gram to extract feature</a:t>
            </a:r>
            <a:endParaRPr>
              <a:solidFill>
                <a:srgbClr val="FFFFFF"/>
              </a:solidFill>
            </a:endParaRPr>
          </a:p>
          <a:p>
            <a:pPr defTabSz="1216025">
              <a:spcBef>
                <a:spcPts val="400"/>
              </a:spcBef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	</a:t>
            </a:r>
            <a:r>
              <a:rPr b="0" sz="180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rPr sz="1800"/>
              <a:t> voc = { ‘food’, ‘service’, ‘bad’, ‘good’}</a:t>
            </a:r>
          </a:p>
          <a:p>
            <a:pPr defTabSz="1216025">
              <a:spcBef>
                <a:spcPts val="400"/>
              </a:spcBef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	</a:t>
            </a:r>
            <a:r>
              <a:rPr b="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t> v1= [ 1 0 0 1 ], v2= [ 0 1 1 0 ]</a:t>
            </a:r>
            <a:endParaRPr sz="2000"/>
          </a:p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POS tagging</a:t>
            </a:r>
            <a:r>
              <a:rPr>
                <a:solidFill>
                  <a:srgbClr val="FFFFFF"/>
                </a:solidFill>
              </a:rPr>
              <a:t>: Tagging words by either nouns, verbs, pronouns, adverbs, adjectives, or prepositions</a:t>
            </a:r>
            <a:endParaRPr>
              <a:solidFill>
                <a:srgbClr val="FFFFFF"/>
              </a:solidFill>
            </a:endParaRPr>
          </a:p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Word embedding</a:t>
            </a:r>
            <a:r>
              <a:rPr>
                <a:solidFill>
                  <a:srgbClr val="FFFFFF"/>
                </a:solidFill>
              </a:rPr>
              <a:t>:</a:t>
            </a:r>
          </a:p>
        </p:txBody>
      </p:sp>
      <p:pic>
        <p:nvPicPr>
          <p:cNvPr id="228" name="image.png" descr="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95412" y="4803775"/>
            <a:ext cx="6132513" cy="11588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"/>
          <p:cNvSpPr/>
          <p:nvPr/>
        </p:nvSpPr>
        <p:spPr>
          <a:xfrm>
            <a:off x="0" y="14208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2" name="SA Methods - Workflow"/>
          <p:cNvSpPr txBox="1"/>
          <p:nvPr/>
        </p:nvSpPr>
        <p:spPr>
          <a:xfrm>
            <a:off x="190182" y="207962"/>
            <a:ext cx="3491023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SA Methods - Workflow</a:t>
            </a:r>
          </a:p>
        </p:txBody>
      </p:sp>
      <p:pic>
        <p:nvPicPr>
          <p:cNvPr id="233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rcRect l="1373" t="3718" r="0" b="0"/>
          <a:stretch>
            <a:fillRect/>
          </a:stretch>
        </p:blipFill>
        <p:spPr>
          <a:xfrm>
            <a:off x="423862" y="1470024"/>
            <a:ext cx="11534776" cy="4514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6" name="Group"/>
          <p:cNvGrpSpPr/>
          <p:nvPr/>
        </p:nvGrpSpPr>
        <p:grpSpPr>
          <a:xfrm>
            <a:off x="10663237" y="5668962"/>
            <a:ext cx="1566864" cy="1281113"/>
            <a:chOff x="0" y="0"/>
            <a:chExt cx="1566862" cy="1281112"/>
          </a:xfrm>
        </p:grpSpPr>
        <p:pic>
          <p:nvPicPr>
            <p:cNvPr id="234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5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9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SA Methods"/>
          <p:cNvSpPr txBox="1"/>
          <p:nvPr/>
        </p:nvSpPr>
        <p:spPr>
          <a:xfrm>
            <a:off x="190182" y="207962"/>
            <a:ext cx="185406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SA Methods</a:t>
            </a:r>
          </a:p>
        </p:txBody>
      </p:sp>
      <p:pic>
        <p:nvPicPr>
          <p:cNvPr id="241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0825" y="1336675"/>
            <a:ext cx="9709150" cy="47831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44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242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43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49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247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48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50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1" name="SA Methods - Lexicon Based Approach"/>
          <p:cNvSpPr txBox="1"/>
          <p:nvPr/>
        </p:nvSpPr>
        <p:spPr>
          <a:xfrm>
            <a:off x="190182" y="207962"/>
            <a:ext cx="5772260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SA Methods - Lexicon Based Approach</a:t>
            </a:r>
          </a:p>
        </p:txBody>
      </p:sp>
      <p:sp>
        <p:nvSpPr>
          <p:cNvPr id="252" name="Each token is assigned a predefined score to indicate the polarity nature of the text…"/>
          <p:cNvSpPr txBox="1"/>
          <p:nvPr/>
        </p:nvSpPr>
        <p:spPr>
          <a:xfrm>
            <a:off x="769937" y="1368424"/>
            <a:ext cx="11009313" cy="4848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 defTabSz="1216025">
              <a:lnSpc>
                <a:spcPct val="130000"/>
              </a:lnSpc>
              <a:spcBef>
                <a:spcPts val="400"/>
              </a:spcBef>
              <a:buSzPct val="100000"/>
              <a:buChar char="-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Each token is assigned a predefined score to indicate the polarity nature of the text</a:t>
            </a:r>
          </a:p>
          <a:p>
            <a:pPr marL="342900" indent="-342900" defTabSz="1216025">
              <a:lnSpc>
                <a:spcPct val="130000"/>
              </a:lnSpc>
              <a:spcBef>
                <a:spcPts val="400"/>
              </a:spcBef>
              <a:buSzPct val="100000"/>
              <a:buChar char="-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For a given review, polarity scores are aggregated separately for positive, negative, and/or neutral.</a:t>
            </a:r>
          </a:p>
          <a:p>
            <a:pPr lvl="1" marL="1085850" indent="-342900" defTabSz="1216025">
              <a:lnSpc>
                <a:spcPct val="130000"/>
              </a:lnSpc>
              <a:spcBef>
                <a:spcPts val="400"/>
              </a:spcBef>
              <a:buSzPct val="100000"/>
              <a:buChar char="à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Overall polarity  = polarity with the highest score.</a:t>
            </a:r>
          </a:p>
          <a:p>
            <a:pPr marL="342900" indent="-342900" defTabSz="1216025">
              <a:lnSpc>
                <a:spcPct val="130000"/>
              </a:lnSpc>
              <a:spcBef>
                <a:spcPts val="400"/>
              </a:spcBef>
              <a:buSzPct val="100000"/>
              <a:buChar char="-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Polarity lexicon:</a:t>
            </a:r>
          </a:p>
          <a:p>
            <a:pPr lvl="1" marL="1085850" indent="-342900" defTabSz="1216025">
              <a:lnSpc>
                <a:spcPct val="130000"/>
              </a:lnSpc>
              <a:spcBef>
                <a:spcPts val="400"/>
              </a:spcBef>
              <a:buSzPct val="100000"/>
              <a:buChar char="-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Positive: beautiful, wonderful, good, amazing</a:t>
            </a:r>
          </a:p>
          <a:p>
            <a:pPr lvl="1" marL="1085850" indent="-342900" defTabSz="1216025">
              <a:lnSpc>
                <a:spcPct val="130000"/>
              </a:lnSpc>
              <a:spcBef>
                <a:spcPts val="400"/>
              </a:spcBef>
              <a:buSzPct val="100000"/>
              <a:buChar char="-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Negative: bad, poor, terrible, cost an arm and a leg</a:t>
            </a:r>
          </a:p>
          <a:p>
            <a:pPr marL="342900" indent="-342900" defTabSz="1216025">
              <a:lnSpc>
                <a:spcPct val="130000"/>
              </a:lnSpc>
              <a:spcBef>
                <a:spcPts val="400"/>
              </a:spcBef>
              <a:buSzPct val="100000"/>
              <a:buChar char="-"/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Pros</a:t>
            </a:r>
            <a:r>
              <a:rPr>
                <a:solidFill>
                  <a:srgbClr val="FFFFFF"/>
                </a:solidFill>
              </a:rPr>
              <a:t>: No training required</a:t>
            </a:r>
            <a:endParaRPr>
              <a:solidFill>
                <a:srgbClr val="FFFFFF"/>
              </a:solidFill>
            </a:endParaRPr>
          </a:p>
          <a:p>
            <a:pPr marL="342900" indent="-342900" defTabSz="1216025">
              <a:lnSpc>
                <a:spcPct val="130000"/>
              </a:lnSpc>
              <a:spcBef>
                <a:spcPts val="400"/>
              </a:spcBef>
              <a:buSzPct val="100000"/>
              <a:buChar char="-"/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Cons</a:t>
            </a:r>
            <a:r>
              <a:rPr>
                <a:solidFill>
                  <a:srgbClr val="FFFFFF"/>
                </a:solidFill>
              </a:rPr>
              <a:t>:  Domain and context dependence</a:t>
            </a:r>
            <a:endParaRPr>
              <a:solidFill>
                <a:srgbClr val="FFFFFF"/>
              </a:solidFill>
            </a:endParaRPr>
          </a:p>
          <a:p>
            <a:pPr lvl="1" marL="1085850" indent="-342900" defTabSz="1216025">
              <a:lnSpc>
                <a:spcPct val="130000"/>
              </a:lnSpc>
              <a:spcBef>
                <a:spcPts val="400"/>
              </a:spcBef>
              <a:buSzPct val="100000"/>
              <a:buChar char="-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positive word in one domain or context may be negative in another</a:t>
            </a:r>
          </a:p>
          <a:p>
            <a:pPr lvl="1" marL="1085850" indent="-342900" defTabSz="1216025">
              <a:lnSpc>
                <a:spcPct val="130000"/>
              </a:lnSpc>
              <a:spcBef>
                <a:spcPts val="400"/>
              </a:spcBef>
              <a:buSzPct val="100000"/>
              <a:buChar char="-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E.g., “The TV screen is too small” vs. “This camera is incredibly small”</a:t>
            </a:r>
          </a:p>
          <a:p>
            <a:pPr marL="342900" indent="-342900" defTabSz="1216025">
              <a:lnSpc>
                <a:spcPct val="130000"/>
              </a:lnSpc>
              <a:spcBef>
                <a:spcPts val="400"/>
              </a:spcBef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	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57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255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6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58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9" name="SA Methods - Lexicon Based Approach"/>
          <p:cNvSpPr txBox="1"/>
          <p:nvPr/>
        </p:nvSpPr>
        <p:spPr>
          <a:xfrm>
            <a:off x="190182" y="207962"/>
            <a:ext cx="5772260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SA Methods - Lexicon Based Approach</a:t>
            </a:r>
          </a:p>
        </p:txBody>
      </p:sp>
      <p:sp>
        <p:nvSpPr>
          <p:cNvPr id="260" name="Corpus-based methods vs. Dictionary-based methods"/>
          <p:cNvSpPr txBox="1"/>
          <p:nvPr/>
        </p:nvSpPr>
        <p:spPr>
          <a:xfrm>
            <a:off x="769937" y="1416050"/>
            <a:ext cx="11009313" cy="10386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spcBef>
                <a:spcPts val="400"/>
              </a:spcBef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Corpus-based methods vs. Dictionary-based methods</a:t>
            </a:r>
          </a:p>
          <a:p>
            <a:pPr defTabSz="1216025">
              <a:spcBef>
                <a:spcPts val="600"/>
              </a:spcBef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61" name="image.png" descr="image.png"/>
          <p:cNvPicPr>
            <a:picLocks noChangeAspect="1"/>
          </p:cNvPicPr>
          <p:nvPr/>
        </p:nvPicPr>
        <p:blipFill>
          <a:blip r:embed="rId4">
            <a:extLst/>
          </a:blip>
          <a:srcRect l="0" t="1960" r="0" b="3091"/>
          <a:stretch>
            <a:fillRect/>
          </a:stretch>
        </p:blipFill>
        <p:spPr>
          <a:xfrm>
            <a:off x="946150" y="1984375"/>
            <a:ext cx="9678988" cy="40735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66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264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65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67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SA Methods - Lexicon Based Approach - Tools"/>
          <p:cNvSpPr txBox="1"/>
          <p:nvPr/>
        </p:nvSpPr>
        <p:spPr>
          <a:xfrm>
            <a:off x="190182" y="207962"/>
            <a:ext cx="6833405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SA Methods - Lexicon Based Approach - Tools</a:t>
            </a:r>
          </a:p>
        </p:txBody>
      </p:sp>
      <p:sp>
        <p:nvSpPr>
          <p:cNvPr id="269" name="SentiWordNet1: assigns numerical sentiment scores to WordNet synsets that are either positive or negative…"/>
          <p:cNvSpPr txBox="1"/>
          <p:nvPr/>
        </p:nvSpPr>
        <p:spPr>
          <a:xfrm>
            <a:off x="769937" y="1416050"/>
            <a:ext cx="11009313" cy="3484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lnSpc>
                <a:spcPct val="130000"/>
              </a:lnSpc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SentiWordNet</a:t>
            </a:r>
            <a:r>
              <a:rPr baseline="30000"/>
              <a:t>1</a:t>
            </a:r>
            <a:r>
              <a:rPr>
                <a:solidFill>
                  <a:srgbClr val="FFFFFF"/>
                </a:solidFill>
              </a:rPr>
              <a:t>: assigns numerical sentiment scores to WordNet synsets that are either positive or negative</a:t>
            </a:r>
            <a:endParaRPr>
              <a:solidFill>
                <a:srgbClr val="FFFFFF"/>
              </a:solidFill>
            </a:endParaRPr>
          </a:p>
          <a:p>
            <a:pPr defTabSz="1216025">
              <a:lnSpc>
                <a:spcPct val="130000"/>
              </a:lnSpc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SentiStrength</a:t>
            </a:r>
            <a:r>
              <a:rPr baseline="30000"/>
              <a:t>2</a:t>
            </a:r>
            <a:r>
              <a:rPr>
                <a:solidFill>
                  <a:srgbClr val="FFFFFF"/>
                </a:solidFill>
              </a:rPr>
              <a:t>: texts are categorized according to the highest positive or negative score for any constituent word</a:t>
            </a:r>
            <a:endParaRPr>
              <a:solidFill>
                <a:srgbClr val="FFFFFF"/>
              </a:solidFill>
            </a:endParaRPr>
          </a:p>
          <a:p>
            <a:pPr defTabSz="1216025">
              <a:lnSpc>
                <a:spcPct val="130000"/>
              </a:lnSpc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OpinionFinder System</a:t>
            </a:r>
            <a:r>
              <a:rPr baseline="30000"/>
              <a:t>3</a:t>
            </a:r>
            <a:r>
              <a:t>: </a:t>
            </a:r>
            <a:r>
              <a:rPr>
                <a:solidFill>
                  <a:srgbClr val="FFFFFF"/>
                </a:solidFill>
              </a:rPr>
              <a:t>recognizes subjective statements automatically and highlights: holder, polarity terms…</a:t>
            </a:r>
            <a:endParaRPr>
              <a:solidFill>
                <a:srgbClr val="FFFFFF"/>
              </a:solidFill>
            </a:endParaRPr>
          </a:p>
          <a:p>
            <a:pPr defTabSz="1216025">
              <a:lnSpc>
                <a:spcPct val="130000"/>
              </a:lnSpc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Affective Norms for English Words (ANEW</a:t>
            </a:r>
            <a:r>
              <a:rPr baseline="30000"/>
              <a:t>)4:</a:t>
            </a:r>
            <a:r>
              <a:t> </a:t>
            </a:r>
            <a:r>
              <a:rPr>
                <a:solidFill>
                  <a:srgbClr val="FFFFFF"/>
                </a:solidFill>
              </a:rPr>
              <a:t>a collection of normative emotional ratings for English words. Rated in terms of </a:t>
            </a:r>
            <a:r>
              <a:rPr i="1">
                <a:solidFill>
                  <a:srgbClr val="FFFFFF"/>
                </a:solidFill>
              </a:rPr>
              <a:t>pleasure, arousal, and dominance </a:t>
            </a:r>
            <a:r>
              <a:rPr>
                <a:solidFill>
                  <a:srgbClr val="FFFFFF"/>
                </a:solidFill>
              </a:rPr>
              <a:t>in order to create a standard for use in studies of emotion and attention.</a:t>
            </a:r>
          </a:p>
        </p:txBody>
      </p:sp>
      <p:pic>
        <p:nvPicPr>
          <p:cNvPr id="270" name="image.png" descr="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035425" y="6072187"/>
            <a:ext cx="4121150" cy="8778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75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273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4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76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7" name="SA Methods – Machine Learning Based Approach"/>
          <p:cNvSpPr txBox="1"/>
          <p:nvPr/>
        </p:nvSpPr>
        <p:spPr>
          <a:xfrm>
            <a:off x="190182" y="207962"/>
            <a:ext cx="7279740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SA Methods – Machine Learning Based Approach</a:t>
            </a:r>
          </a:p>
        </p:txBody>
      </p:sp>
      <p:sp>
        <p:nvSpPr>
          <p:cNvPr id="278" name="Supervised learning…"/>
          <p:cNvSpPr txBox="1"/>
          <p:nvPr/>
        </p:nvSpPr>
        <p:spPr>
          <a:xfrm>
            <a:off x="384175" y="1452562"/>
            <a:ext cx="5559425" cy="4331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spcBef>
                <a:spcPts val="400"/>
              </a:spcBef>
              <a:defRPr b="1" sz="2000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Supervised learning</a:t>
            </a: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Requires training data to train a classifier for the SA task</a:t>
            </a: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considered as a </a:t>
            </a:r>
            <a:r>
              <a:rPr>
                <a:solidFill>
                  <a:srgbClr val="FFC000"/>
                </a:solidFill>
              </a:rPr>
              <a:t>classification problem</a:t>
            </a:r>
            <a:endParaRPr>
              <a:solidFill>
                <a:srgbClr val="FFC000"/>
              </a:solidFill>
            </a:endParaRP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Common ML models:</a:t>
            </a:r>
          </a:p>
          <a:p>
            <a:pPr lvl="1" marL="742950" indent="-285750" defTabSz="1216025"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Naive Bayes</a:t>
            </a:r>
          </a:p>
          <a:p>
            <a:pPr lvl="1" marL="742950" indent="-285750" defTabSz="1216025"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Support vector machine (SVM)</a:t>
            </a:r>
          </a:p>
          <a:p>
            <a:pPr lvl="1" marL="742950" indent="-285750" defTabSz="1216025"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Logistic regression</a:t>
            </a:r>
          </a:p>
          <a:p>
            <a:pPr lvl="1" marL="742950" indent="-285750" defTabSz="1216025"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Decision tree</a:t>
            </a:r>
          </a:p>
          <a:p>
            <a:pPr lvl="1" marL="742950" indent="-285750" defTabSz="1216025"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Radom forests</a:t>
            </a:r>
          </a:p>
          <a:p>
            <a:pPr lvl="1" marL="742950" indent="-285750" defTabSz="1216025"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K‑nearest neighbors (KNN)</a:t>
            </a:r>
          </a:p>
          <a:p>
            <a:pPr lvl="1" marL="742950" indent="-285750" defTabSz="1216025"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Neural Networks</a:t>
            </a:r>
          </a:p>
          <a:p>
            <a:pPr defTabSz="1216025">
              <a:spcBef>
                <a:spcPts val="6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79" name="Unsupervised learning…"/>
          <p:cNvSpPr txBox="1"/>
          <p:nvPr/>
        </p:nvSpPr>
        <p:spPr>
          <a:xfrm>
            <a:off x="6096000" y="1416050"/>
            <a:ext cx="5822950" cy="2304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spcBef>
                <a:spcPts val="400"/>
              </a:spcBef>
              <a:defRPr b="1" sz="2000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Unsupervised learning </a:t>
            </a: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NOT require training data</a:t>
            </a: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Is considered as a </a:t>
            </a:r>
            <a:r>
              <a:rPr>
                <a:solidFill>
                  <a:srgbClr val="FFC000"/>
                </a:solidFill>
              </a:rPr>
              <a:t>clustering problem</a:t>
            </a:r>
            <a:endParaRPr>
              <a:solidFill>
                <a:srgbClr val="FFC000"/>
              </a:solidFill>
            </a:endParaRP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Utilizes knowledge bases, ontologies, databases, and lexicons as features specified for SA</a:t>
            </a:r>
          </a:p>
        </p:txBody>
      </p:sp>
      <p:sp>
        <p:nvSpPr>
          <p:cNvPr id="280" name="Semi-supervised learning…"/>
          <p:cNvSpPr txBox="1"/>
          <p:nvPr/>
        </p:nvSpPr>
        <p:spPr>
          <a:xfrm>
            <a:off x="6022657" y="3827462"/>
            <a:ext cx="6002974" cy="1527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400"/>
              </a:spcBef>
              <a:defRPr b="1" u="sng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Semi-supervised learning </a:t>
            </a:r>
          </a:p>
          <a:p>
            <a:pPr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Needs a smaller number of labeled data for training the classifier</a:t>
            </a:r>
          </a:p>
          <a:p>
            <a:pPr>
              <a:spcBef>
                <a:spcPts val="400"/>
              </a:spcBef>
              <a:buSzPct val="100000"/>
              <a:buFont typeface="Arial"/>
              <a:buChar char="•"/>
              <a:defRPr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Leverages unlabeled data for improving the classifier.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85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283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4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86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SA Methods – Machine Learning Based Approach"/>
          <p:cNvSpPr txBox="1"/>
          <p:nvPr/>
        </p:nvSpPr>
        <p:spPr>
          <a:xfrm>
            <a:off x="190182" y="207962"/>
            <a:ext cx="7279740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SA Methods – Machine Learning Based Approach</a:t>
            </a:r>
          </a:p>
        </p:txBody>
      </p:sp>
      <p:sp>
        <p:nvSpPr>
          <p:cNvPr id="288" name="Supervised learning: requires training data to train a classifier for SA task"/>
          <p:cNvSpPr txBox="1"/>
          <p:nvPr/>
        </p:nvSpPr>
        <p:spPr>
          <a:xfrm>
            <a:off x="769937" y="1416050"/>
            <a:ext cx="11009313" cy="2548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Supervised learning: requires training data to train a classifier for SA task</a:t>
            </a:r>
          </a:p>
          <a:p>
            <a:pPr marL="342900" indent="-342900" defTabSz="1216025">
              <a:spcBef>
                <a:spcPts val="6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defTabSz="1216025">
              <a:spcBef>
                <a:spcPts val="6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defTabSz="1216025">
              <a:spcBef>
                <a:spcPts val="6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defTabSz="1216025">
              <a:spcBef>
                <a:spcPts val="6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defTabSz="1216025">
              <a:spcBef>
                <a:spcPts val="6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89" name="image.png" descr="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58800" y="2095500"/>
            <a:ext cx="11074400" cy="35464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94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292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93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95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SA Methods – Machine Learning Based Approach"/>
          <p:cNvSpPr txBox="1"/>
          <p:nvPr/>
        </p:nvSpPr>
        <p:spPr>
          <a:xfrm>
            <a:off x="190182" y="207962"/>
            <a:ext cx="7279740" cy="828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SA Methods – Machine Learning Based Approach</a:t>
            </a:r>
          </a:p>
        </p:txBody>
      </p:sp>
      <p:sp>
        <p:nvSpPr>
          <p:cNvPr id="297" name="Unsupervised learning: NOT require training data to train ML model"/>
          <p:cNvSpPr txBox="1"/>
          <p:nvPr/>
        </p:nvSpPr>
        <p:spPr>
          <a:xfrm>
            <a:off x="769937" y="1416050"/>
            <a:ext cx="11009313" cy="2548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Unsupervised learning: NOT require training data to train ML model</a:t>
            </a:r>
          </a:p>
          <a:p>
            <a:pPr marL="342900" indent="-342900" defTabSz="1216025">
              <a:spcBef>
                <a:spcPts val="6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defTabSz="1216025">
              <a:spcBef>
                <a:spcPts val="6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defTabSz="1216025">
              <a:spcBef>
                <a:spcPts val="6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defTabSz="1216025">
              <a:spcBef>
                <a:spcPts val="6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 marL="342900" indent="-342900" defTabSz="1216025">
              <a:spcBef>
                <a:spcPts val="6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  <p:pic>
        <p:nvPicPr>
          <p:cNvPr id="298" name="image.png" descr="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9462" y="2035175"/>
            <a:ext cx="7720013" cy="40036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"/>
          <p:cNvGrpSpPr/>
          <p:nvPr/>
        </p:nvGrpSpPr>
        <p:grpSpPr>
          <a:xfrm>
            <a:off x="6804024" y="3178174"/>
            <a:ext cx="5578477" cy="3481389"/>
            <a:chOff x="0" y="0"/>
            <a:chExt cx="5578475" cy="3481387"/>
          </a:xfrm>
        </p:grpSpPr>
        <p:pic>
          <p:nvPicPr>
            <p:cNvPr id="300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0" b="52040"/>
            <a:stretch>
              <a:fillRect/>
            </a:stretch>
          </p:blipFill>
          <p:spPr>
            <a:xfrm>
              <a:off x="6646" y="0"/>
              <a:ext cx="5571830" cy="17207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1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50633" r="2627" b="0"/>
            <a:stretch>
              <a:fillRect/>
            </a:stretch>
          </p:blipFill>
          <p:spPr>
            <a:xfrm>
              <a:off x="-1" y="1710252"/>
              <a:ext cx="5425464" cy="17711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03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32075" y="354012"/>
            <a:ext cx="7481888" cy="3743326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Rectangle"/>
          <p:cNvSpPr/>
          <p:nvPr/>
        </p:nvSpPr>
        <p:spPr>
          <a:xfrm>
            <a:off x="0" y="4902200"/>
            <a:ext cx="12192000" cy="1955800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5" name="4"/>
          <p:cNvSpPr txBox="1"/>
          <p:nvPr/>
        </p:nvSpPr>
        <p:spPr>
          <a:xfrm>
            <a:off x="45720" y="1571625"/>
            <a:ext cx="1403985" cy="533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400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06" name="Challenges in SA"/>
          <p:cNvSpPr txBox="1"/>
          <p:nvPr/>
        </p:nvSpPr>
        <p:spPr>
          <a:xfrm>
            <a:off x="2677794" y="3975100"/>
            <a:ext cx="9066849" cy="916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400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Challenges in SA</a:t>
            </a:r>
          </a:p>
        </p:txBody>
      </p:sp>
      <p:sp>
        <p:nvSpPr>
          <p:cNvPr id="307" name="Shape"/>
          <p:cNvSpPr/>
          <p:nvPr/>
        </p:nvSpPr>
        <p:spPr>
          <a:xfrm>
            <a:off x="168275" y="4889500"/>
            <a:ext cx="2484438" cy="9286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4833"/>
                </a:lnTo>
                <a:lnTo>
                  <a:pt x="18111" y="4833"/>
                </a:lnTo>
                <a:lnTo>
                  <a:pt x="18111" y="21600"/>
                </a:lnTo>
                <a:lnTo>
                  <a:pt x="12637" y="21600"/>
                </a:lnTo>
                <a:lnTo>
                  <a:pt x="12637" y="4833"/>
                </a:lnTo>
                <a:lnTo>
                  <a:pt x="0" y="48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12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310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1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13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Challenges in SA"/>
          <p:cNvSpPr txBox="1"/>
          <p:nvPr/>
        </p:nvSpPr>
        <p:spPr>
          <a:xfrm>
            <a:off x="190182" y="207962"/>
            <a:ext cx="2593887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Challenges in SA</a:t>
            </a:r>
          </a:p>
        </p:txBody>
      </p:sp>
      <p:sp>
        <p:nvSpPr>
          <p:cNvPr id="315" name="Sarcasm:…"/>
          <p:cNvSpPr txBox="1"/>
          <p:nvPr/>
        </p:nvSpPr>
        <p:spPr>
          <a:xfrm>
            <a:off x="706437" y="1443037"/>
            <a:ext cx="10436226" cy="41552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Sarcasm</a:t>
            </a:r>
            <a:r>
              <a:rPr>
                <a:solidFill>
                  <a:srgbClr val="FFFFFF"/>
                </a:solidFill>
              </a:rPr>
              <a:t>: </a:t>
            </a:r>
            <a:endParaRPr>
              <a:solidFill>
                <a:srgbClr val="FFFFFF"/>
              </a:solidFill>
            </a:endParaRPr>
          </a:p>
          <a:p>
            <a:pPr defTabSz="1216025">
              <a:spcBef>
                <a:spcPts val="400"/>
              </a:spcBef>
              <a:buSzPct val="100000"/>
              <a:buChar char="-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Affected by many factors such as tone, situation, background information, …</a:t>
            </a:r>
          </a:p>
          <a:p>
            <a:pPr defTabSz="1216025">
              <a:spcBef>
                <a:spcPts val="400"/>
              </a:spcBef>
              <a:buSzPct val="100000"/>
              <a:buChar char="-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E.g., “</a:t>
            </a:r>
            <a:r>
              <a:rPr i="1"/>
              <a:t>What a great car, it did not start the first day</a:t>
            </a:r>
            <a:r>
              <a:t>.”</a:t>
            </a:r>
          </a:p>
          <a:p>
            <a:pPr defTabSz="1216025">
              <a:spcBef>
                <a:spcPts val="400"/>
              </a:spcBef>
              <a:buSzPct val="100000"/>
              <a:buChar char="-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Hard to detect</a:t>
            </a:r>
          </a:p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Informal writing style</a:t>
            </a:r>
          </a:p>
          <a:p>
            <a:pPr defTabSz="1216025">
              <a:spcBef>
                <a:spcPts val="400"/>
              </a:spcBef>
              <a:buSzPct val="100000"/>
              <a:buChar char="-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Includes acronyms, emojis, slang, abbreviations, etc. that are various and evolve over time.</a:t>
            </a:r>
          </a:p>
          <a:p>
            <a:pPr defTabSz="1216025">
              <a:spcBef>
                <a:spcPts val="400"/>
              </a:spcBef>
              <a:buSzPct val="100000"/>
              <a:buChar char="-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Grammatical and spelling errors occur frequently</a:t>
            </a:r>
          </a:p>
          <a:p>
            <a:pPr defTabSz="1216025">
              <a:spcBef>
                <a:spcPts val="400"/>
              </a:spcBef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Availability of training data</a:t>
            </a:r>
          </a:p>
          <a:p>
            <a:pPr defTabSz="1216025">
              <a:spcBef>
                <a:spcPts val="400"/>
              </a:spcBef>
              <a:buSzPct val="100000"/>
              <a:buChar char="-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Some tasks such as aspect-based SA are very domain-dependent</a:t>
            </a:r>
          </a:p>
          <a:p>
            <a:pPr defTabSz="1216025">
              <a:spcBef>
                <a:spcPts val="600"/>
              </a:spcBef>
              <a:buSzPct val="100000"/>
              <a:buChar char="-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20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318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9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21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Challenges in SA"/>
          <p:cNvSpPr txBox="1"/>
          <p:nvPr/>
        </p:nvSpPr>
        <p:spPr>
          <a:xfrm>
            <a:off x="190182" y="207962"/>
            <a:ext cx="2593887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Challenges in SA</a:t>
            </a:r>
          </a:p>
        </p:txBody>
      </p:sp>
      <p:sp>
        <p:nvSpPr>
          <p:cNvPr id="323" name="Sentiment shifters…"/>
          <p:cNvSpPr txBox="1"/>
          <p:nvPr/>
        </p:nvSpPr>
        <p:spPr>
          <a:xfrm>
            <a:off x="706437" y="1443037"/>
            <a:ext cx="10436226" cy="407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spcBef>
                <a:spcPts val="500"/>
              </a:spcBef>
              <a:defRPr b="1" sz="2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Sentiment shifters</a:t>
            </a: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Sentiment/opinion shifters (also called valence shifters are words and phrases that can shift or change opinion orientations</a:t>
            </a: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Negation</a:t>
            </a:r>
            <a:r>
              <a:rPr>
                <a:solidFill>
                  <a:srgbClr val="FFFFFF"/>
                </a:solidFill>
              </a:rPr>
              <a:t> is the most common type.</a:t>
            </a:r>
            <a:endParaRPr>
              <a:solidFill>
                <a:srgbClr val="FFFFFF"/>
              </a:solidFill>
            </a:endParaRPr>
          </a:p>
          <a:p>
            <a:pPr lvl="1" marL="1085850" indent="-342900" defTabSz="1216025"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E.g., not, never, cannot, etc.</a:t>
            </a:r>
          </a:p>
          <a:p>
            <a:pPr lvl="1" marL="1085850" indent="-342900" defTabSz="1216025"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“It hardly works.”</a:t>
            </a: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Degree adverbs and intensifiers:</a:t>
            </a:r>
          </a:p>
          <a:p>
            <a:pPr lvl="1" marL="1085850" indent="-342900" defTabSz="1216025"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E.g., barely, hardly, too…</a:t>
            </a: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Words like </a:t>
            </a:r>
            <a:r>
              <a:rPr i="1"/>
              <a:t>fail, omit, neglect, etc. </a:t>
            </a:r>
            <a:r>
              <a:t>behave similarly</a:t>
            </a:r>
          </a:p>
          <a:p>
            <a:pPr lvl="1" marL="1085850" indent="-342900" defTabSz="1216025"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“This camera fails to impress me.”</a:t>
            </a:r>
          </a:p>
          <a:p>
            <a:pPr defTabSz="1216025"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Modal auxiliary verbs </a:t>
            </a:r>
            <a:r>
              <a:rPr>
                <a:solidFill>
                  <a:srgbClr val="FFFFFF"/>
                </a:solidFill>
              </a:rPr>
              <a:t>can alter opinion orientations</a:t>
            </a:r>
            <a:endParaRPr>
              <a:solidFill>
                <a:srgbClr val="FFFFFF"/>
              </a:solidFill>
            </a:endParaRPr>
          </a:p>
          <a:p>
            <a:pPr lvl="1" marL="1085850" indent="-342900" defTabSz="1216025"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E.g., would, should, could, etc.</a:t>
            </a:r>
          </a:p>
          <a:p>
            <a:pPr lvl="1" marL="1085850" indent="-342900" defTabSz="1216025"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“The brake could be improved.”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28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326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27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29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Challenges in SA – Aspect-based SA"/>
          <p:cNvSpPr txBox="1"/>
          <p:nvPr/>
        </p:nvSpPr>
        <p:spPr>
          <a:xfrm>
            <a:off x="190182" y="207962"/>
            <a:ext cx="5417305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Challenges in SA – Aspect-based SA</a:t>
            </a:r>
          </a:p>
        </p:txBody>
      </p:sp>
      <p:sp>
        <p:nvSpPr>
          <p:cNvPr id="331" name="Explicit and implicit aspects…"/>
          <p:cNvSpPr txBox="1"/>
          <p:nvPr/>
        </p:nvSpPr>
        <p:spPr>
          <a:xfrm>
            <a:off x="744537" y="1319212"/>
            <a:ext cx="10664826" cy="4514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lnSpc>
                <a:spcPct val="114000"/>
              </a:lnSpc>
              <a:spcBef>
                <a:spcPts val="500"/>
              </a:spcBef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Explicit and implicit aspects</a:t>
            </a:r>
          </a:p>
          <a:p>
            <a:pPr defTabSz="1216025">
              <a:lnSpc>
                <a:spcPct val="114000"/>
              </a:lnSpc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Explicit aspects</a:t>
            </a:r>
            <a:r>
              <a:rPr>
                <a:solidFill>
                  <a:srgbClr val="FFFFFF"/>
                </a:solidFill>
              </a:rPr>
              <a:t>: Aspects explicitly mentioned as nouns or noun phrases in a sentence</a:t>
            </a:r>
            <a:endParaRPr>
              <a:solidFill>
                <a:srgbClr val="FFFFFF"/>
              </a:solidFill>
            </a:endParaRPr>
          </a:p>
          <a:p>
            <a:pPr lvl="1" marL="1085850" indent="-342900" defTabSz="1216025">
              <a:lnSpc>
                <a:spcPct val="114000"/>
              </a:lnSpc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E.g., “The </a:t>
            </a:r>
            <a:r>
              <a:rPr>
                <a:solidFill>
                  <a:srgbClr val="FFC000"/>
                </a:solidFill>
              </a:rPr>
              <a:t>picture quality </a:t>
            </a:r>
            <a:r>
              <a:t>of this phone is great.”</a:t>
            </a:r>
          </a:p>
          <a:p>
            <a:pPr defTabSz="1216025">
              <a:lnSpc>
                <a:spcPct val="114000"/>
              </a:lnSpc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Implicit aspects</a:t>
            </a:r>
            <a:r>
              <a:rPr>
                <a:solidFill>
                  <a:srgbClr val="FFFFFF"/>
                </a:solidFill>
              </a:rPr>
              <a:t>: Aspects not explicitly mentioned in a sentence but are implied</a:t>
            </a:r>
            <a:endParaRPr>
              <a:solidFill>
                <a:srgbClr val="FFFFFF"/>
              </a:solidFill>
            </a:endParaRPr>
          </a:p>
          <a:p>
            <a:pPr lvl="1" marL="1085850" indent="-342900" defTabSz="1216025">
              <a:lnSpc>
                <a:spcPct val="114000"/>
              </a:lnSpc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E.g., “This car is so </a:t>
            </a:r>
            <a:r>
              <a:rPr>
                <a:solidFill>
                  <a:srgbClr val="FFC000"/>
                </a:solidFill>
              </a:rPr>
              <a:t>expensive</a:t>
            </a:r>
            <a:r>
              <a:t>.” =&gt; implies “price”</a:t>
            </a:r>
          </a:p>
          <a:p>
            <a:pPr lvl="1" marL="1085850" indent="-342900" defTabSz="1216025">
              <a:lnSpc>
                <a:spcPct val="114000"/>
              </a:lnSpc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E.g., This phone will not easily </a:t>
            </a:r>
            <a:r>
              <a:rPr>
                <a:solidFill>
                  <a:srgbClr val="FFC000"/>
                </a:solidFill>
              </a:rPr>
              <a:t>fit in a pocket</a:t>
            </a:r>
            <a:r>
              <a:t>.” =&gt; implies “size”</a:t>
            </a:r>
          </a:p>
          <a:p>
            <a:pPr lvl="1" marL="1085850" indent="-342900" defTabSz="1216025">
              <a:lnSpc>
                <a:spcPct val="114000"/>
              </a:lnSpc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E.g., Included </a:t>
            </a:r>
            <a:r>
              <a:rPr>
                <a:solidFill>
                  <a:srgbClr val="FFC000"/>
                </a:solidFill>
              </a:rPr>
              <a:t>16MB</a:t>
            </a:r>
            <a:r>
              <a:t> is stingy” =&gt; implies “memory volume”</a:t>
            </a:r>
          </a:p>
          <a:p>
            <a:pPr defTabSz="1216025">
              <a:lnSpc>
                <a:spcPct val="114000"/>
              </a:lnSpc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Adjectives and adverbs are perhaps the most common type of implicit aspects</a:t>
            </a:r>
          </a:p>
          <a:p>
            <a:pPr lvl="1" marL="1085850" indent="-342900" defTabSz="1216025">
              <a:lnSpc>
                <a:spcPct val="114000"/>
              </a:lnSpc>
              <a:spcBef>
                <a:spcPts val="300"/>
              </a:spcBef>
              <a:buSzPct val="100000"/>
              <a:buFont typeface="Arial"/>
              <a:buChar char="•"/>
              <a:def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“expensive” =&gt; aspect “price”, “beautiful” =&gt; aspect “appearance”, “heavy”=&gt; aspect “weight”</a:t>
            </a:r>
          </a:p>
          <a:p>
            <a:pPr defTabSz="1216025">
              <a:lnSpc>
                <a:spcPct val="114000"/>
              </a:lnSpc>
              <a:spcBef>
                <a:spcPts val="400"/>
              </a:spcBef>
              <a:buSzPct val="100000"/>
              <a:buFont typeface="Arial"/>
              <a:buChar char="•"/>
              <a:defRPr b="1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Although manual mapping is possible, in different contexts, the meaning can be different.</a:t>
            </a:r>
          </a:p>
          <a:p>
            <a:pPr defTabSz="1216025">
              <a:lnSpc>
                <a:spcPct val="114000"/>
              </a:lnSpc>
              <a:spcBef>
                <a:spcPts val="400"/>
              </a:spcBef>
              <a:defRPr b="1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b="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t> Not much work has been done on mining or mapping implicit aspects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Rectangle"/>
          <p:cNvSpPr/>
          <p:nvPr/>
        </p:nvSpPr>
        <p:spPr>
          <a:xfrm>
            <a:off x="0" y="1319212"/>
            <a:ext cx="12192000" cy="4800601"/>
          </a:xfrm>
          <a:prstGeom prst="rect">
            <a:avLst/>
          </a:prstGeom>
          <a:solidFill>
            <a:srgbClr val="00588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36" name="Group"/>
          <p:cNvGrpSpPr/>
          <p:nvPr/>
        </p:nvGrpSpPr>
        <p:grpSpPr>
          <a:xfrm>
            <a:off x="10625137" y="5580062"/>
            <a:ext cx="1566864" cy="1281113"/>
            <a:chOff x="0" y="0"/>
            <a:chExt cx="1566862" cy="1281112"/>
          </a:xfrm>
        </p:grpSpPr>
        <p:pic>
          <p:nvPicPr>
            <p:cNvPr id="334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1566864" cy="12811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35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6207"/>
            <a:stretch>
              <a:fillRect/>
            </a:stretch>
          </p:blipFill>
          <p:spPr>
            <a:xfrm>
              <a:off x="101332" y="44050"/>
              <a:ext cx="1365097" cy="865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37" name="Rectangle"/>
          <p:cNvSpPr/>
          <p:nvPr/>
        </p:nvSpPr>
        <p:spPr>
          <a:xfrm>
            <a:off x="0" y="188912"/>
            <a:ext cx="144463" cy="463551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Summary"/>
          <p:cNvSpPr txBox="1"/>
          <p:nvPr/>
        </p:nvSpPr>
        <p:spPr>
          <a:xfrm>
            <a:off x="190182" y="207962"/>
            <a:ext cx="1493303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339" name="Sentiment analysis has many sub-problems…"/>
          <p:cNvSpPr txBox="1"/>
          <p:nvPr/>
        </p:nvSpPr>
        <p:spPr>
          <a:xfrm>
            <a:off x="977900" y="1666875"/>
            <a:ext cx="10164763" cy="1548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6025">
              <a:lnSpc>
                <a:spcPct val="150000"/>
              </a:lnSpc>
              <a:spcBef>
                <a:spcPts val="500"/>
              </a:spcBef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Sentiment analysis has many sub-problems</a:t>
            </a:r>
          </a:p>
          <a:p>
            <a:pPr defTabSz="1216025">
              <a:lnSpc>
                <a:spcPct val="150000"/>
              </a:lnSpc>
              <a:spcBef>
                <a:spcPts val="500"/>
              </a:spcBef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Despite the challenges, applications are flourishing</a:t>
            </a:r>
          </a:p>
          <a:p>
            <a:pPr defTabSz="1216025">
              <a:lnSpc>
                <a:spcPct val="150000"/>
              </a:lnSpc>
              <a:spcBef>
                <a:spcPts val="500"/>
              </a:spcBef>
              <a:defRPr b="1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Building a reasonably accurate domain-specific system is possible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32075" y="354012"/>
            <a:ext cx="7481888" cy="3743326"/>
          </a:xfrm>
          <a:prstGeom prst="rect">
            <a:avLst/>
          </a:prstGeom>
          <a:ln w="12700">
            <a:miter lim="400000"/>
          </a:ln>
        </p:spPr>
      </p:pic>
      <p:sp>
        <p:nvSpPr>
          <p:cNvPr id="342" name="Rectangle"/>
          <p:cNvSpPr/>
          <p:nvPr/>
        </p:nvSpPr>
        <p:spPr>
          <a:xfrm>
            <a:off x="0" y="4902200"/>
            <a:ext cx="12192000" cy="1955800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3" name="5"/>
          <p:cNvSpPr txBox="1"/>
          <p:nvPr/>
        </p:nvSpPr>
        <p:spPr>
          <a:xfrm>
            <a:off x="45720" y="1571625"/>
            <a:ext cx="1403985" cy="533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400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44" name="SA with Python"/>
          <p:cNvSpPr txBox="1"/>
          <p:nvPr/>
        </p:nvSpPr>
        <p:spPr>
          <a:xfrm>
            <a:off x="2544444" y="3832225"/>
            <a:ext cx="9370062" cy="916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5400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SA with Python</a:t>
            </a:r>
          </a:p>
        </p:txBody>
      </p:sp>
      <p:grpSp>
        <p:nvGrpSpPr>
          <p:cNvPr id="347" name="Group"/>
          <p:cNvGrpSpPr/>
          <p:nvPr/>
        </p:nvGrpSpPr>
        <p:grpSpPr>
          <a:xfrm>
            <a:off x="6804024" y="3178174"/>
            <a:ext cx="5578477" cy="3481389"/>
            <a:chOff x="0" y="0"/>
            <a:chExt cx="5578475" cy="3481387"/>
          </a:xfrm>
        </p:grpSpPr>
        <p:pic>
          <p:nvPicPr>
            <p:cNvPr id="345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52040"/>
            <a:stretch>
              <a:fillRect/>
            </a:stretch>
          </p:blipFill>
          <p:spPr>
            <a:xfrm>
              <a:off x="6646" y="0"/>
              <a:ext cx="5571830" cy="17207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6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50633" r="2627" b="0"/>
            <a:stretch>
              <a:fillRect/>
            </a:stretch>
          </p:blipFill>
          <p:spPr>
            <a:xfrm>
              <a:off x="-1" y="1710252"/>
              <a:ext cx="5425464" cy="17711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48" name="Shape"/>
          <p:cNvSpPr/>
          <p:nvPr/>
        </p:nvSpPr>
        <p:spPr>
          <a:xfrm>
            <a:off x="428625" y="4899025"/>
            <a:ext cx="2082800" cy="9763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4292" y="0"/>
                </a:moveTo>
                <a:lnTo>
                  <a:pt x="21600" y="0"/>
                </a:lnTo>
                <a:lnTo>
                  <a:pt x="21401" y="4389"/>
                </a:lnTo>
                <a:cubicBezTo>
                  <a:pt x="20954" y="9033"/>
                  <a:pt x="19837" y="12819"/>
                  <a:pt x="18050" y="15746"/>
                </a:cubicBezTo>
                <a:cubicBezTo>
                  <a:pt x="15667" y="19649"/>
                  <a:pt x="12491" y="21600"/>
                  <a:pt x="8521" y="21600"/>
                </a:cubicBezTo>
                <a:cubicBezTo>
                  <a:pt x="4995" y="21600"/>
                  <a:pt x="2154" y="20357"/>
                  <a:pt x="0" y="17870"/>
                </a:cubicBezTo>
                <a:lnTo>
                  <a:pt x="0" y="4415"/>
                </a:lnTo>
                <a:cubicBezTo>
                  <a:pt x="2287" y="8066"/>
                  <a:pt x="4958" y="9892"/>
                  <a:pt x="8012" y="9892"/>
                </a:cubicBezTo>
                <a:cubicBezTo>
                  <a:pt x="9945" y="9892"/>
                  <a:pt x="11480" y="8979"/>
                  <a:pt x="12616" y="7154"/>
                </a:cubicBezTo>
                <a:cubicBezTo>
                  <a:pt x="13468" y="5784"/>
                  <a:pt x="14001" y="3982"/>
                  <a:pt x="14214" y="1745"/>
                </a:cubicBezTo>
                <a:lnTo>
                  <a:pt x="14292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32075" y="354012"/>
            <a:ext cx="7481888" cy="3743326"/>
          </a:xfrm>
          <a:prstGeom prst="rect">
            <a:avLst/>
          </a:prstGeom>
          <a:ln w="12700">
            <a:miter lim="400000"/>
          </a:ln>
        </p:spPr>
      </p:pic>
      <p:sp>
        <p:nvSpPr>
          <p:cNvPr id="351" name="Rectangle"/>
          <p:cNvSpPr/>
          <p:nvPr/>
        </p:nvSpPr>
        <p:spPr>
          <a:xfrm>
            <a:off x="0" y="4902200"/>
            <a:ext cx="12192000" cy="1955800"/>
          </a:xfrm>
          <a:prstGeom prst="rect">
            <a:avLst/>
          </a:prstGeom>
          <a:solidFill>
            <a:srgbClr val="1C488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54" name="Group"/>
          <p:cNvGrpSpPr/>
          <p:nvPr/>
        </p:nvGrpSpPr>
        <p:grpSpPr>
          <a:xfrm>
            <a:off x="6804024" y="3178174"/>
            <a:ext cx="5578477" cy="3481389"/>
            <a:chOff x="0" y="0"/>
            <a:chExt cx="5578475" cy="3481387"/>
          </a:xfrm>
        </p:grpSpPr>
        <p:pic>
          <p:nvPicPr>
            <p:cNvPr id="352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52040"/>
            <a:stretch>
              <a:fillRect/>
            </a:stretch>
          </p:blipFill>
          <p:spPr>
            <a:xfrm>
              <a:off x="6646" y="0"/>
              <a:ext cx="5571830" cy="17207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53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50633" r="2627" b="0"/>
            <a:stretch>
              <a:fillRect/>
            </a:stretch>
          </p:blipFill>
          <p:spPr>
            <a:xfrm>
              <a:off x="-1" y="1710252"/>
              <a:ext cx="5425464" cy="17711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55" name="Thank you"/>
          <p:cNvSpPr txBox="1"/>
          <p:nvPr/>
        </p:nvSpPr>
        <p:spPr>
          <a:xfrm>
            <a:off x="3395344" y="2900362"/>
            <a:ext cx="5609274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7200">
                <a:solidFill>
                  <a:srgbClr val="1C4885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356" name="Line"/>
          <p:cNvSpPr/>
          <p:nvPr/>
        </p:nvSpPr>
        <p:spPr>
          <a:xfrm>
            <a:off x="3230562" y="4137025"/>
            <a:ext cx="5251451" cy="0"/>
          </a:xfrm>
          <a:prstGeom prst="line">
            <a:avLst/>
          </a:prstGeom>
          <a:ln w="6350">
            <a:solidFill>
              <a:srgbClr val="7F7F7F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清风素材 https://12sc.taobao.com">
  <a:themeElements>
    <a:clrScheme name="清风素材 https://12sc.taobao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清风素材 https://12sc.taobao.com">
      <a:majorFont>
        <a:latin typeface="Helvetica"/>
        <a:ea typeface="Helvetica"/>
        <a:cs typeface="Helvetica"/>
      </a:majorFont>
      <a:minorFont>
        <a:latin typeface="DengXian"/>
        <a:ea typeface="DengXian"/>
        <a:cs typeface="DengXian"/>
      </a:minorFont>
    </a:fontScheme>
    <a:fmtScheme name="清风素材 https://12sc.taobao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清风素材 https://12sc.taobao.com">
  <a:themeElements>
    <a:clrScheme name="清风素材 https://12sc.taobao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清风素材 https://12sc.taobao.com">
      <a:majorFont>
        <a:latin typeface="Helvetica"/>
        <a:ea typeface="Helvetica"/>
        <a:cs typeface="Helvetica"/>
      </a:majorFont>
      <a:minorFont>
        <a:latin typeface="DengXian"/>
        <a:ea typeface="DengXian"/>
        <a:cs typeface="DengXian"/>
      </a:minorFont>
    </a:fontScheme>
    <a:fmtScheme name="清风素材 https://12sc.taobao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